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69" r:id="rId5"/>
    <p:sldId id="259" r:id="rId6"/>
    <p:sldId id="261" r:id="rId7"/>
    <p:sldId id="260" r:id="rId8"/>
    <p:sldId id="263" r:id="rId9"/>
    <p:sldId id="262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671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643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0255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1101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852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1015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56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992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3325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9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194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0939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11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16947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327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706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30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BFF02-3553-4540-906C-392AB4B0BFF0}" type="datetimeFigureOut">
              <a:rPr lang="ru-RU" smtClean="0"/>
              <a:t>02.09.2026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FE64F1-EC01-497D-AF66-EEAF74D883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63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межсетевого взаимодействия и коммутации пакетов</a:t>
            </a:r>
          </a:p>
        </p:txBody>
      </p:sp>
    </p:spTree>
    <p:extLst>
      <p:ext uri="{BB962C8B-B14F-4D97-AF65-F5344CB8AC3E}">
        <p14:creationId xmlns:p14="http://schemas.microsoft.com/office/powerpoint/2010/main" val="1819277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Проблема масштабирования </a:t>
            </a:r>
            <a:r>
              <a:rPr lang="ru-RU" b="1" dirty="0" smtClean="0"/>
              <a:t>сетей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b="1" dirty="0"/>
              <a:t>Ограничения канальных технологий:</a:t>
            </a:r>
            <a:endParaRPr lang="ru-RU" dirty="0"/>
          </a:p>
          <a:p>
            <a:pPr lvl="1"/>
            <a:r>
              <a:rPr lang="ru-RU" dirty="0"/>
              <a:t>Соединения «точка-точка»: связывают строго 2 узла.</a:t>
            </a:r>
          </a:p>
          <a:p>
            <a:pPr lvl="1"/>
            <a:r>
              <a:rPr lang="ru-RU" dirty="0"/>
              <a:t>Разделяемые сегменты (</a:t>
            </a:r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Media</a:t>
            </a:r>
            <a:r>
              <a:rPr lang="ru-RU" dirty="0"/>
              <a:t>): ограничения по коллизиям и длине кабеля.</a:t>
            </a:r>
          </a:p>
          <a:p>
            <a:pPr lvl="1"/>
            <a:r>
              <a:rPr lang="ru-RU" dirty="0"/>
              <a:t>Беспроводные каналы: затухание сигнала и радиус покрытия.</a:t>
            </a:r>
          </a:p>
          <a:p>
            <a:r>
              <a:rPr lang="ru-RU" b="1" dirty="0"/>
              <a:t>Решение:</a:t>
            </a:r>
            <a:r>
              <a:rPr lang="ru-RU" dirty="0"/>
              <a:t> </a:t>
            </a:r>
            <a:r>
              <a:rPr lang="ru-RU" i="1" dirty="0"/>
              <a:t>Межсетевое взаимодействие</a:t>
            </a:r>
            <a:r>
              <a:rPr lang="ru-RU" dirty="0"/>
              <a:t> — концепция объединения сетей на основе одинаковых или разнородных канальных технологий в единую масштабируемую сеть.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058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f-ZA" b="1" dirty="0"/>
              <a:t>L2-</a:t>
            </a:r>
            <a:r>
              <a:rPr lang="ru-RU" b="1" dirty="0" smtClean="0"/>
              <a:t>коммутатор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1074" y="1994510"/>
            <a:ext cx="10297380" cy="4344744"/>
          </a:xfrm>
        </p:spPr>
        <p:txBody>
          <a:bodyPr>
            <a:normAutofit/>
          </a:bodyPr>
          <a:lstStyle/>
          <a:p>
            <a:r>
              <a:rPr lang="ru-RU" b="1" dirty="0"/>
              <a:t>Коммутатор (</a:t>
            </a:r>
            <a:r>
              <a:rPr lang="ru-RU" b="1" dirty="0" err="1"/>
              <a:t>Switch</a:t>
            </a:r>
            <a:r>
              <a:rPr lang="ru-RU" b="1" dirty="0"/>
              <a:t>)</a:t>
            </a:r>
            <a:r>
              <a:rPr lang="ru-RU" dirty="0"/>
              <a:t> — устройство канального уровня (L2 OSI), предназначенное для соединения узлов в пределах одного или нескольких сегментов сети.</a:t>
            </a:r>
          </a:p>
          <a:p>
            <a:r>
              <a:rPr lang="ru-RU" b="1" dirty="0"/>
              <a:t>Основная функция:</a:t>
            </a:r>
            <a:r>
              <a:rPr lang="ru-RU" dirty="0"/>
              <a:t> прием кадра на входной порт и его перенаправление (коммутация) на соответствующий выходной порт на основе анализа заголовка.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41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топология «Звезда»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Преимущества топологии «Звезда» на базе коммутатора:</a:t>
            </a:r>
            <a:endParaRPr lang="ru-RU" dirty="0"/>
          </a:p>
          <a:p>
            <a:pPr lvl="1"/>
            <a:r>
              <a:rPr lang="ru-RU" dirty="0"/>
              <a:t>Изоляция коллизий: каждый порт — отдельный домен коллизий.</a:t>
            </a:r>
          </a:p>
          <a:p>
            <a:pPr lvl="1"/>
            <a:r>
              <a:rPr lang="ru-RU" dirty="0"/>
              <a:t>Выделенная скорость для каждого абонента.</a:t>
            </a:r>
          </a:p>
          <a:p>
            <a:pPr lvl="1"/>
            <a:r>
              <a:rPr lang="ru-RU" dirty="0"/>
              <a:t>Иерархическое объединение коммутаторов.</a:t>
            </a:r>
          </a:p>
          <a:p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2098" y="2249488"/>
            <a:ext cx="3915417" cy="3541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7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Два фундаментальных подхода к </a:t>
            </a:r>
            <a:r>
              <a:rPr lang="ru-RU" b="1" dirty="0" smtClean="0"/>
              <a:t>коммутации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1. </a:t>
            </a:r>
            <a:r>
              <a:rPr lang="ru-RU" b="1" dirty="0" err="1"/>
              <a:t>Датаграммная</a:t>
            </a:r>
            <a:r>
              <a:rPr lang="ru-RU" b="1" dirty="0"/>
              <a:t> коммутация (</a:t>
            </a:r>
            <a:r>
              <a:rPr lang="ru-RU" b="1" dirty="0" err="1"/>
              <a:t>Datagram</a:t>
            </a:r>
            <a:r>
              <a:rPr lang="ru-RU" b="1" dirty="0"/>
              <a:t> </a:t>
            </a:r>
            <a:r>
              <a:rPr lang="ru-RU" b="1" dirty="0" err="1"/>
              <a:t>Switching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Передача без установления соединения (</a:t>
            </a:r>
            <a:r>
              <a:rPr lang="ru-RU" i="1" dirty="0" err="1"/>
              <a:t>Connectionless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Каждый кадр содержит полный адрес получателя.</a:t>
            </a:r>
          </a:p>
          <a:p>
            <a:r>
              <a:rPr lang="ru-RU" b="1" dirty="0"/>
              <a:t>2. Коммутация виртуальных каналов (</a:t>
            </a:r>
            <a:r>
              <a:rPr lang="ru-RU" b="1" dirty="0" err="1"/>
              <a:t>Virtual</a:t>
            </a:r>
            <a:r>
              <a:rPr lang="ru-RU" b="1" dirty="0"/>
              <a:t> </a:t>
            </a:r>
            <a:r>
              <a:rPr lang="ru-RU" b="1" dirty="0" err="1"/>
              <a:t>Circuit</a:t>
            </a:r>
            <a:r>
              <a:rPr lang="ru-RU" b="1" dirty="0"/>
              <a:t> </a:t>
            </a:r>
            <a:r>
              <a:rPr lang="ru-RU" b="1" dirty="0" err="1"/>
              <a:t>Switching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Передача с предварительным установлением соединения (</a:t>
            </a:r>
            <a:r>
              <a:rPr lang="ru-RU" i="1" dirty="0" err="1"/>
              <a:t>Connection-oriented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Кадр содержит метку виртуального канала (VCI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5670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Датаграммные</a:t>
            </a:r>
            <a:r>
              <a:rPr lang="ru-RU" b="1" dirty="0"/>
              <a:t> сети (</a:t>
            </a:r>
            <a:r>
              <a:rPr lang="af-ZA" b="1" dirty="0"/>
              <a:t>Ethernet-</a:t>
            </a:r>
            <a:r>
              <a:rPr lang="ru-RU" b="1" dirty="0"/>
              <a:t>модель</a:t>
            </a:r>
            <a:r>
              <a:rPr lang="ru-RU" b="1" dirty="0" smtClean="0"/>
              <a:t>)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3732" y="1827456"/>
            <a:ext cx="5577891" cy="4709289"/>
          </a:xfrm>
          <a:prstGeom prst="rect">
            <a:avLst/>
          </a:prstGeom>
        </p:spPr>
      </p:pic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3179816"/>
              </p:ext>
            </p:extLst>
          </p:nvPr>
        </p:nvGraphicFramePr>
        <p:xfrm>
          <a:off x="8141677" y="2357279"/>
          <a:ext cx="2905736" cy="3600450"/>
        </p:xfrm>
        <a:graphic>
          <a:graphicData uri="http://schemas.openxmlformats.org/drawingml/2006/table">
            <a:tbl>
              <a:tblPr/>
              <a:tblGrid>
                <a:gridCol w="1452868">
                  <a:extLst>
                    <a:ext uri="{9D8B030D-6E8A-4147-A177-3AD203B41FA5}">
                      <a16:colId xmlns:a16="http://schemas.microsoft.com/office/drawing/2014/main" val="953080463"/>
                    </a:ext>
                  </a:extLst>
                </a:gridCol>
                <a:gridCol w="1452868">
                  <a:extLst>
                    <a:ext uri="{9D8B030D-6E8A-4147-A177-3AD203B41FA5}">
                      <a16:colId xmlns:a16="http://schemas.microsoft.com/office/drawing/2014/main" val="146078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Пункт назначения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Порт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650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dirty="0">
                          <a:effectLst/>
                        </a:rPr>
                        <a:t>A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03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 dirty="0">
                          <a:effectLst/>
                        </a:rPr>
                        <a:t>B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1712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C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387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D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422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E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5784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F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342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G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836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af-ZA">
                          <a:effectLst/>
                        </a:rPr>
                        <a:t>H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725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949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Датаграммные</a:t>
            </a:r>
            <a:r>
              <a:rPr lang="ru-RU" b="1" dirty="0"/>
              <a:t> сети (</a:t>
            </a:r>
            <a:r>
              <a:rPr lang="af-ZA" b="1" dirty="0"/>
              <a:t>Ethernet-</a:t>
            </a:r>
            <a:r>
              <a:rPr lang="ru-RU" b="1" dirty="0"/>
              <a:t>модель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782" y="2363787"/>
            <a:ext cx="7378334" cy="354171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Принцип:</a:t>
            </a:r>
            <a:r>
              <a:rPr lang="ru-RU" dirty="0"/>
              <a:t> коммутатор читает глобальный адрес получателя и сопоставляет его с портом в таблице коммутации (MAC-таблице).</a:t>
            </a:r>
          </a:p>
          <a:p>
            <a:r>
              <a:rPr lang="ru-RU" b="1" dirty="0"/>
              <a:t>Свойства:</a:t>
            </a:r>
            <a:endParaRPr lang="ru-RU" dirty="0"/>
          </a:p>
          <a:p>
            <a:pPr lvl="1"/>
            <a:r>
              <a:rPr lang="ru-RU" dirty="0"/>
              <a:t>Независимая пересылка каждого кадра.</a:t>
            </a:r>
          </a:p>
          <a:p>
            <a:pPr lvl="1"/>
            <a:r>
              <a:rPr lang="ru-RU" dirty="0"/>
              <a:t>Высокая отказоустойчивость (основа архитектуры ARPANET/</a:t>
            </a:r>
            <a:r>
              <a:rPr lang="ru-RU" dirty="0" err="1"/>
              <a:t>Internet</a:t>
            </a:r>
            <a:r>
              <a:rPr lang="ru-RU" dirty="0"/>
              <a:t>).</a:t>
            </a:r>
          </a:p>
          <a:p>
            <a:pPr lvl="1"/>
            <a:r>
              <a:rPr lang="ru-RU" dirty="0"/>
              <a:t>Отсутствие гарантий доставки на канальном уровне («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Effort</a:t>
            </a:r>
            <a:r>
              <a:rPr lang="ru-RU" dirty="0"/>
              <a:t>»).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374137"/>
              </p:ext>
            </p:extLst>
          </p:nvPr>
        </p:nvGraphicFramePr>
        <p:xfrm>
          <a:off x="8012477" y="3193282"/>
          <a:ext cx="3034934" cy="1752600"/>
        </p:xfrm>
        <a:graphic>
          <a:graphicData uri="http://schemas.openxmlformats.org/drawingml/2006/table">
            <a:tbl>
              <a:tblPr/>
              <a:tblGrid>
                <a:gridCol w="1517467">
                  <a:extLst>
                    <a:ext uri="{9D8B030D-6E8A-4147-A177-3AD203B41FA5}">
                      <a16:colId xmlns:a16="http://schemas.microsoft.com/office/drawing/2014/main" val="1344350392"/>
                    </a:ext>
                  </a:extLst>
                </a:gridCol>
                <a:gridCol w="1517467">
                  <a:extLst>
                    <a:ext uri="{9D8B030D-6E8A-4147-A177-3AD203B41FA5}">
                      <a16:colId xmlns:a16="http://schemas.microsoft.com/office/drawing/2014/main" val="32482901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effectLst/>
                        </a:rPr>
                        <a:t>Назначение (</a:t>
                      </a:r>
                      <a:r>
                        <a:rPr lang="af-ZA" dirty="0">
                          <a:effectLst/>
                        </a:rPr>
                        <a:t>Host/MAC)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>
                          <a:effectLst/>
                        </a:rPr>
                        <a:t>Порт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630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f-ZA">
                          <a:effectLst/>
                        </a:rPr>
                        <a:t>Host A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>
                          <a:effectLst/>
                        </a:rPr>
                        <a:t>Port 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713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f-ZA">
                          <a:effectLst/>
                        </a:rPr>
                        <a:t>Host B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>
                          <a:effectLst/>
                        </a:rPr>
                        <a:t>Port 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424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af-ZA">
                          <a:effectLst/>
                        </a:rPr>
                        <a:t>Host C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af-ZA" dirty="0">
                          <a:effectLst/>
                        </a:rPr>
                        <a:t>Port 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794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59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Таблица коммутации виртуальных </a:t>
            </a:r>
            <a:r>
              <a:rPr lang="ru-RU" b="1" dirty="0" smtClean="0"/>
              <a:t>каналов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0313" y="1568022"/>
            <a:ext cx="5943600" cy="2038350"/>
          </a:xfrm>
          <a:prstGeom prst="rect">
            <a:avLst/>
          </a:prstGeom>
        </p:spPr>
      </p:pic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318277"/>
              </p:ext>
            </p:extLst>
          </p:nvPr>
        </p:nvGraphicFramePr>
        <p:xfrm>
          <a:off x="1141413" y="3816736"/>
          <a:ext cx="9906000" cy="7391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336096733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044385712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57578300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881985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Входящий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Входящий </a:t>
                      </a:r>
                      <a:r>
                        <a:rPr lang="af-ZA">
                          <a:effectLst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Исходящий </a:t>
                      </a:r>
                      <a:r>
                        <a:rPr lang="af-ZA">
                          <a:effectLst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331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11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2614806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68851" y="416999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174113"/>
              </p:ext>
            </p:extLst>
          </p:nvPr>
        </p:nvGraphicFramePr>
        <p:xfrm>
          <a:off x="1141413" y="4741389"/>
          <a:ext cx="9906000" cy="7391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307510254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19365467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1384084079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3191212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Входящий </a:t>
                      </a:r>
                      <a:r>
                        <a:rPr lang="af-Z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Исходящий </a:t>
                      </a:r>
                      <a:r>
                        <a:rPr lang="af-ZA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70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6673908"/>
                  </a:ext>
                </a:extLst>
              </a:tr>
            </a:tbl>
          </a:graphicData>
        </a:graphic>
      </p:graphicFrame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141413" y="47418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909321"/>
              </p:ext>
            </p:extLst>
          </p:nvPr>
        </p:nvGraphicFramePr>
        <p:xfrm>
          <a:off x="1141413" y="5679280"/>
          <a:ext cx="9906000" cy="73914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90070851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405567839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4212254177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9917416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Входящий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Входящий </a:t>
                      </a:r>
                      <a:r>
                        <a:rPr lang="af-ZA" dirty="0">
                          <a:effectLst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Исходящий интерфейс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>
                          <a:effectLst/>
                        </a:rPr>
                        <a:t>Исходящий </a:t>
                      </a:r>
                      <a:r>
                        <a:rPr lang="af-ZA">
                          <a:effectLst/>
                        </a:rPr>
                        <a:t>VCI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2092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583299"/>
                  </a:ext>
                </a:extLst>
              </a:tr>
            </a:tbl>
          </a:graphicData>
        </a:graphic>
      </p:graphicFrame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1141413" y="56797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96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Сети виртуальных каналов (</a:t>
            </a:r>
            <a:r>
              <a:rPr lang="af-ZA" b="1" dirty="0"/>
              <a:t>VC</a:t>
            </a:r>
            <a:r>
              <a:rPr lang="af-ZA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2</a:t>
            </a:r>
            <a:r>
              <a:rPr lang="ru-RU" b="1" dirty="0" smtClean="0"/>
              <a:t> </a:t>
            </a:r>
            <a:r>
              <a:rPr lang="ru-RU" b="1" dirty="0"/>
              <a:t>фазы работы:</a:t>
            </a:r>
            <a:endParaRPr lang="ru-RU" dirty="0"/>
          </a:p>
          <a:p>
            <a:pPr lvl="1"/>
            <a:r>
              <a:rPr lang="ru-RU" i="1" dirty="0" err="1"/>
              <a:t>Setup</a:t>
            </a:r>
            <a:r>
              <a:rPr lang="ru-RU" i="1" dirty="0"/>
              <a:t>:</a:t>
            </a:r>
            <a:r>
              <a:rPr lang="ru-RU" dirty="0"/>
              <a:t> построение сквозного пути и заполнение таблиц VC.</a:t>
            </a:r>
          </a:p>
          <a:p>
            <a:pPr lvl="1"/>
            <a:r>
              <a:rPr lang="ru-RU" i="1" dirty="0" err="1"/>
              <a:t>Data</a:t>
            </a:r>
            <a:r>
              <a:rPr lang="ru-RU" i="1" dirty="0"/>
              <a:t>:</a:t>
            </a:r>
            <a:r>
              <a:rPr lang="ru-RU" dirty="0"/>
              <a:t> передача кадров по созданному каналу.</a:t>
            </a:r>
          </a:p>
          <a:p>
            <a:r>
              <a:rPr lang="ru-RU" b="1" dirty="0" smtClean="0"/>
              <a:t>Концепция </a:t>
            </a:r>
            <a:r>
              <a:rPr lang="ru-RU" b="1" dirty="0"/>
              <a:t>VCI (</a:t>
            </a:r>
            <a:r>
              <a:rPr lang="ru-RU" b="1" dirty="0" err="1"/>
              <a:t>Virtual</a:t>
            </a:r>
            <a:r>
              <a:rPr lang="ru-RU" b="1" dirty="0"/>
              <a:t> </a:t>
            </a:r>
            <a:r>
              <a:rPr lang="ru-RU" b="1" dirty="0" err="1"/>
              <a:t>Circuit</a:t>
            </a:r>
            <a:r>
              <a:rPr lang="ru-RU" b="1" dirty="0"/>
              <a:t> </a:t>
            </a:r>
            <a:r>
              <a:rPr lang="ru-RU" b="1" dirty="0" err="1"/>
              <a:t>Identifier</a:t>
            </a:r>
            <a:r>
              <a:rPr lang="ru-RU" b="1" dirty="0"/>
              <a:t>):</a:t>
            </a:r>
            <a:endParaRPr lang="ru-RU" dirty="0"/>
          </a:p>
          <a:p>
            <a:pPr lvl="1"/>
            <a:r>
              <a:rPr lang="ru-RU" dirty="0"/>
              <a:t>VCI имеет </a:t>
            </a:r>
            <a:r>
              <a:rPr lang="ru-RU" b="1" dirty="0"/>
              <a:t>локальное значение</a:t>
            </a:r>
            <a:r>
              <a:rPr lang="ru-RU" dirty="0"/>
              <a:t> (не глобальное!).</a:t>
            </a:r>
          </a:p>
          <a:p>
            <a:pPr lvl="1"/>
            <a:r>
              <a:rPr lang="ru-RU" dirty="0"/>
              <a:t>Коммутатор заменяет входящий VCI на исходящий при передаче (</a:t>
            </a:r>
            <a:r>
              <a:rPr lang="ru-RU" dirty="0" err="1"/>
              <a:t>Label</a:t>
            </a:r>
            <a:r>
              <a:rPr lang="ru-RU" dirty="0"/>
              <a:t> </a:t>
            </a:r>
            <a:r>
              <a:rPr lang="ru-RU" dirty="0" err="1"/>
              <a:t>Switching</a:t>
            </a:r>
            <a:r>
              <a:rPr lang="ru-RU" dirty="0" smtClean="0"/>
              <a:t>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033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240456"/>
              </p:ext>
            </p:extLst>
          </p:nvPr>
        </p:nvGraphicFramePr>
        <p:xfrm>
          <a:off x="1449759" y="781171"/>
          <a:ext cx="9514248" cy="5443782"/>
        </p:xfrm>
        <a:graphic>
          <a:graphicData uri="http://schemas.openxmlformats.org/drawingml/2006/table">
            <a:tbl>
              <a:tblPr/>
              <a:tblGrid>
                <a:gridCol w="3171416">
                  <a:extLst>
                    <a:ext uri="{9D8B030D-6E8A-4147-A177-3AD203B41FA5}">
                      <a16:colId xmlns:a16="http://schemas.microsoft.com/office/drawing/2014/main" val="3415095240"/>
                    </a:ext>
                  </a:extLst>
                </a:gridCol>
                <a:gridCol w="3171416">
                  <a:extLst>
                    <a:ext uri="{9D8B030D-6E8A-4147-A177-3AD203B41FA5}">
                      <a16:colId xmlns:a16="http://schemas.microsoft.com/office/drawing/2014/main" val="2469910561"/>
                    </a:ext>
                  </a:extLst>
                </a:gridCol>
                <a:gridCol w="3171416">
                  <a:extLst>
                    <a:ext uri="{9D8B030D-6E8A-4147-A177-3AD203B41FA5}">
                      <a16:colId xmlns:a16="http://schemas.microsoft.com/office/drawing/2014/main" val="463297356"/>
                    </a:ext>
                  </a:extLst>
                </a:gridCol>
              </a:tblGrid>
              <a:tr h="733067"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Параметр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Датаграммный подход (</a:t>
                      </a:r>
                      <a:r>
                        <a:rPr lang="af-ZA" sz="1300" b="1">
                          <a:effectLst/>
                        </a:rPr>
                        <a:t>Datagram Switching)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Виртуальные каналы (Virtual Circuits, VC)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9901875"/>
                  </a:ext>
                </a:extLst>
              </a:tr>
              <a:tr h="733067"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Установление соединения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Не требуется (</a:t>
                      </a:r>
                      <a:r>
                        <a:rPr lang="af-ZA" sz="1300" b="1" i="1">
                          <a:effectLst/>
                        </a:rPr>
                        <a:t>Connectionless</a:t>
                      </a:r>
                      <a:r>
                        <a:rPr lang="af-ZA" sz="1300" b="1">
                          <a:effectLst/>
                        </a:rPr>
                        <a:t>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Обязательно перед передачей (</a:t>
                      </a:r>
                      <a:r>
                        <a:rPr lang="af-ZA" sz="1300" b="1" i="1">
                          <a:effectLst/>
                        </a:rPr>
                        <a:t>Connection-oriented</a:t>
                      </a:r>
                      <a:r>
                        <a:rPr lang="af-ZA" sz="1300" b="1">
                          <a:effectLst/>
                        </a:rPr>
                        <a:t>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791482"/>
                  </a:ext>
                </a:extLst>
              </a:tr>
              <a:tr h="733067"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Адресация в заголовке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Полный глобальный адрес назначения (напр., MAC-адрес)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Короткий локальный идентификатор (</a:t>
                      </a:r>
                      <a:r>
                        <a:rPr lang="af-ZA" sz="1300" b="1">
                          <a:effectLst/>
                        </a:rPr>
                        <a:t>VCI)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177151"/>
                  </a:ext>
                </a:extLst>
              </a:tr>
              <a:tr h="733067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Таблица коммутатора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Таблица коммутации: [Адрес назначения → Порт]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Таблица VC: [Порт вх., VCI вх. → Порт вых., VCI вых.]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536145"/>
                  </a:ext>
                </a:extLst>
              </a:tr>
              <a:tr h="104538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Маршрут пакетов/кадров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Каждый кадр маршрутизируется независимо (пути могут различаться)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Все кадры одного соединения строго идут по заданному пути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7335990"/>
                  </a:ext>
                </a:extLst>
              </a:tr>
              <a:tr h="1045380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Устойчивость к сбоям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Высокая (динамическая перемаршрутизация при сбое узла/канала)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300" b="1" dirty="0">
                          <a:effectLst/>
                        </a:rPr>
                        <a:t>Требуется полное </a:t>
                      </a:r>
                      <a:r>
                        <a:rPr lang="ru-RU" sz="1300" b="1" dirty="0" err="1">
                          <a:effectLst/>
                        </a:rPr>
                        <a:t>переустановление</a:t>
                      </a:r>
                      <a:r>
                        <a:rPr lang="ru-RU" sz="1300" b="1" dirty="0">
                          <a:effectLst/>
                        </a:rPr>
                        <a:t> виртуального канала при сбое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016214"/>
                  </a:ext>
                </a:extLst>
              </a:tr>
              <a:tr h="420754">
                <a:tc>
                  <a:txBody>
                    <a:bodyPr/>
                    <a:lstStyle/>
                    <a:p>
                      <a:pPr algn="l"/>
                      <a:r>
                        <a:rPr lang="ru-RU" sz="1300" b="1">
                          <a:effectLst/>
                        </a:rPr>
                        <a:t>Примеры технологий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300" b="1">
                          <a:effectLst/>
                        </a:rPr>
                        <a:t>Ethernet, IP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af-ZA" sz="1300" b="1" dirty="0">
                          <a:effectLst/>
                        </a:rPr>
                        <a:t>ATM, Frame Relay, X.25, MPLS</a:t>
                      </a:r>
                    </a:p>
                  </a:txBody>
                  <a:tcPr marL="70552" marR="70552" marT="35276" marB="3527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1308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789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Распределите утверждения по двум колонкам — </a:t>
            </a:r>
            <a:r>
              <a:rPr lang="ru-RU" b="1" dirty="0"/>
              <a:t>[Д]</a:t>
            </a:r>
            <a:r>
              <a:rPr lang="ru-RU" dirty="0"/>
              <a:t> (</a:t>
            </a:r>
            <a:r>
              <a:rPr lang="ru-RU" dirty="0" err="1"/>
              <a:t>Датаграммный</a:t>
            </a:r>
            <a:r>
              <a:rPr lang="ru-RU" dirty="0"/>
              <a:t> подход) или </a:t>
            </a:r>
            <a:r>
              <a:rPr lang="ru-RU" b="1" dirty="0"/>
              <a:t>[ВК]</a:t>
            </a:r>
            <a:r>
              <a:rPr lang="ru-RU" dirty="0"/>
              <a:t> (Виртуальные каналы):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20406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Требуется предварительная фаза установления соединения перед отправкой данных.</a:t>
            </a:r>
          </a:p>
          <a:p>
            <a:r>
              <a:rPr lang="ru-RU" dirty="0"/>
              <a:t>Каждый кадр содержит полный адрес узла назначения.</a:t>
            </a:r>
          </a:p>
          <a:p>
            <a:r>
              <a:rPr lang="ru-RU" dirty="0"/>
              <a:t>Идентификатор в заголовке кадра (VCI) может меняться от коммутатора к коммутатору.</a:t>
            </a:r>
          </a:p>
          <a:p>
            <a:r>
              <a:rPr lang="ru-RU" dirty="0"/>
              <a:t>Последовательные кадры между одними и теми же узлами могут передаваться разными маршрутами.</a:t>
            </a:r>
          </a:p>
          <a:p>
            <a:r>
              <a:rPr lang="ru-RU" dirty="0"/>
              <a:t>При сбое промежуточного узла достаточно перестроить таблицу пересылки, связь не требует полного пересоздания логического канала.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8469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Взгляните на фрагмент таблицы коммутатора и ответьте на вопрос: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1018318" y="2249487"/>
            <a:ext cx="9822597" cy="21114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На </a:t>
            </a:r>
            <a:r>
              <a:rPr lang="ru-RU" b="1" dirty="0"/>
              <a:t>интерфейс 3</a:t>
            </a:r>
            <a:r>
              <a:rPr lang="ru-RU" dirty="0"/>
              <a:t> коммутатора пришёл кадр со значением </a:t>
            </a:r>
            <a:r>
              <a:rPr lang="ru-RU" b="1" dirty="0"/>
              <a:t>VCI = 11</a:t>
            </a:r>
            <a:r>
              <a:rPr lang="ru-RU" dirty="0"/>
              <a:t> в заголовке. </a:t>
            </a:r>
            <a:r>
              <a:rPr lang="ru-RU" b="1" dirty="0"/>
              <a:t>Вопрос:</a:t>
            </a:r>
            <a:r>
              <a:rPr lang="ru-RU" dirty="0"/>
              <a:t> Через какой интерфейс коммутатор отправит этот кадр и какое значение VCI будет записано в его заголовке на выходе?</a:t>
            </a:r>
          </a:p>
        </p:txBody>
      </p:sp>
      <p:graphicFrame>
        <p:nvGraphicFramePr>
          <p:cNvPr id="6" name="Объект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281866047"/>
              </p:ext>
            </p:extLst>
          </p:nvPr>
        </p:nvGraphicFramePr>
        <p:xfrm>
          <a:off x="1141411" y="4070515"/>
          <a:ext cx="9251096" cy="1055400"/>
        </p:xfrm>
        <a:graphic>
          <a:graphicData uri="http://schemas.openxmlformats.org/drawingml/2006/table">
            <a:tbl>
              <a:tblPr/>
              <a:tblGrid>
                <a:gridCol w="2312774">
                  <a:extLst>
                    <a:ext uri="{9D8B030D-6E8A-4147-A177-3AD203B41FA5}">
                      <a16:colId xmlns:a16="http://schemas.microsoft.com/office/drawing/2014/main" val="1189316071"/>
                    </a:ext>
                  </a:extLst>
                </a:gridCol>
                <a:gridCol w="2312774">
                  <a:extLst>
                    <a:ext uri="{9D8B030D-6E8A-4147-A177-3AD203B41FA5}">
                      <a16:colId xmlns:a16="http://schemas.microsoft.com/office/drawing/2014/main" val="63714675"/>
                    </a:ext>
                  </a:extLst>
                </a:gridCol>
                <a:gridCol w="2312774">
                  <a:extLst>
                    <a:ext uri="{9D8B030D-6E8A-4147-A177-3AD203B41FA5}">
                      <a16:colId xmlns:a16="http://schemas.microsoft.com/office/drawing/2014/main" val="2151466475"/>
                    </a:ext>
                  </a:extLst>
                </a:gridCol>
                <a:gridCol w="2312774">
                  <a:extLst>
                    <a:ext uri="{9D8B030D-6E8A-4147-A177-3AD203B41FA5}">
                      <a16:colId xmlns:a16="http://schemas.microsoft.com/office/drawing/2014/main" val="2162776188"/>
                    </a:ext>
                  </a:extLst>
                </a:gridCol>
              </a:tblGrid>
              <a:tr h="35180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Входящий интерфейс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Входящий </a:t>
                      </a:r>
                      <a:r>
                        <a:rPr lang="af-ZA" sz="1600" b="1" dirty="0">
                          <a:effectLst/>
                        </a:rPr>
                        <a:t>VCI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</a:rPr>
                        <a:t>Исходящий интерфейс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</a:rPr>
                        <a:t>Исходящий </a:t>
                      </a:r>
                      <a:r>
                        <a:rPr lang="af-ZA" sz="1600" b="1">
                          <a:effectLst/>
                        </a:rPr>
                        <a:t>VCI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6349717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3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11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2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7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077400"/>
                  </a:ext>
                </a:extLst>
              </a:tr>
              <a:tr h="351800"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</a:rPr>
                        <a:t>0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>
                          <a:effectLst/>
                        </a:rPr>
                        <a:t>5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1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effectLst/>
                        </a:rPr>
                        <a:t>12</a:t>
                      </a:r>
                    </a:p>
                  </a:txBody>
                  <a:tcPr marL="46877" marR="46877" marT="23439" marB="234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814772"/>
                  </a:ext>
                </a:extLst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ru-RU" altLang="ru-RU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141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Определите, верны ли следующие утверждения:</a:t>
            </a:r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[ Да / Нет ]</a:t>
            </a:r>
            <a:r>
              <a:rPr lang="ru-RU" dirty="0"/>
              <a:t> Сетевой коммутатор (L2-switch) принимает решения о пересылке кадров, работая на третьем (сетевом) уровне модели OSI.</a:t>
            </a:r>
          </a:p>
          <a:p>
            <a:r>
              <a:rPr lang="ru-RU" b="1" dirty="0"/>
              <a:t>[ Да / Нет ]</a:t>
            </a:r>
            <a:r>
              <a:rPr lang="ru-RU" dirty="0"/>
              <a:t> В коммутируемой сети с топологией «звезда» узлы могут передавать данные одновременно на полной скорости канала (при достаточной производительности коммутатора).</a:t>
            </a:r>
          </a:p>
          <a:p>
            <a:r>
              <a:rPr lang="ru-RU" b="1" dirty="0"/>
              <a:t>[ Да / Нет ]</a:t>
            </a:r>
            <a:r>
              <a:rPr lang="ru-RU" dirty="0"/>
              <a:t> Идентификатор виртуального канала (VCI) является глобально уникальным во всей мировой сети (как MAC-адрес).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6644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33</TotalTime>
  <Words>451</Words>
  <Application>Microsoft Office PowerPoint</Application>
  <PresentationFormat>Широкоэкранный</PresentationFormat>
  <Paragraphs>136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Tw Cen MT</vt:lpstr>
      <vt:lpstr>Контур</vt:lpstr>
      <vt:lpstr>Основы межсетевого взаимодействия и коммутации пакетов</vt:lpstr>
      <vt:lpstr>Проблема масштабирования сетей</vt:lpstr>
      <vt:lpstr>L2-коммутатор</vt:lpstr>
      <vt:lpstr>топология «Звезда»</vt:lpstr>
      <vt:lpstr>Два фундаментальных подхода к коммутации</vt:lpstr>
      <vt:lpstr>Датаграммные сети (Ethernet-модель)</vt:lpstr>
      <vt:lpstr>Датаграммные сети (Ethernet-модель)</vt:lpstr>
      <vt:lpstr>Таблица коммутации виртуальных каналов</vt:lpstr>
      <vt:lpstr>Сети виртуальных каналов (VC)</vt:lpstr>
      <vt:lpstr>Презентация PowerPoint</vt:lpstr>
      <vt:lpstr>Распределите утверждения по двум колонкам — [Д] (Датаграммный подход) или [ВК] (Виртуальные каналы):</vt:lpstr>
      <vt:lpstr>Взгляните на фрагмент таблицы коммутатора и ответьте на вопрос:</vt:lpstr>
      <vt:lpstr>Определите, верны ли следующие утверждения: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межсетевого взаимодействия и коммутации пакетов</dc:title>
  <dc:creator>Тимур А. Нахтигаль</dc:creator>
  <cp:lastModifiedBy>Тимур А. Нахтигаль</cp:lastModifiedBy>
  <cp:revision>8</cp:revision>
  <dcterms:created xsi:type="dcterms:W3CDTF">2026-08-27T12:05:21Z</dcterms:created>
  <dcterms:modified xsi:type="dcterms:W3CDTF">2026-09-02T12:56:29Z</dcterms:modified>
</cp:coreProperties>
</file>