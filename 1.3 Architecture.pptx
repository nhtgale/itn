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7" r:id="rId3"/>
    <p:sldId id="275" r:id="rId4"/>
    <p:sldId id="276" r:id="rId5"/>
    <p:sldId id="258" r:id="rId6"/>
    <p:sldId id="259" r:id="rId7"/>
    <p:sldId id="263" r:id="rId8"/>
    <p:sldId id="277" r:id="rId9"/>
    <p:sldId id="260" r:id="rId10"/>
    <p:sldId id="264" r:id="rId11"/>
    <p:sldId id="261" r:id="rId12"/>
    <p:sldId id="265" r:id="rId13"/>
    <p:sldId id="278" r:id="rId14"/>
    <p:sldId id="262" r:id="rId15"/>
    <p:sldId id="279" r:id="rId16"/>
    <p:sldId id="266" r:id="rId17"/>
    <p:sldId id="280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39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12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9774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59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58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6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44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6769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150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71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543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0356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920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571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7548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805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862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27FFC-58F7-4A0B-910F-2453E6738501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58D08-35AF-4C68-B883-E0FEA690CF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8790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Архитектура сетей и показатели производительности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1018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принципы проектирования сетей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Цель декомпозиции:</a:t>
            </a:r>
            <a:r>
              <a:rPr lang="ru-RU" dirty="0"/>
              <a:t> упрощение проектирования сложных распределённых систем.</a:t>
            </a:r>
          </a:p>
          <a:p>
            <a:r>
              <a:rPr lang="ru-RU" b="1" dirty="0"/>
              <a:t>Принцип «Разделяй и властвуй»:</a:t>
            </a:r>
            <a:endParaRPr lang="ru-RU" dirty="0"/>
          </a:p>
          <a:p>
            <a:pPr lvl="1"/>
            <a:r>
              <a:rPr lang="ru-RU" dirty="0"/>
              <a:t>Разбиение сетевого взаимодействия на автономные уровни (слои).</a:t>
            </a:r>
          </a:p>
          <a:p>
            <a:r>
              <a:rPr lang="ru-RU" b="1" dirty="0"/>
              <a:t>Принцип абстракции:</a:t>
            </a:r>
            <a:endParaRPr lang="ru-RU" dirty="0"/>
          </a:p>
          <a:p>
            <a:pPr lvl="1"/>
            <a:r>
              <a:rPr lang="ru-RU" dirty="0"/>
              <a:t>Каждый уровень решает конкретную задачу.</a:t>
            </a:r>
          </a:p>
          <a:p>
            <a:pPr lvl="1"/>
            <a:r>
              <a:rPr lang="ru-RU" dirty="0"/>
              <a:t>Внутреннее устройство скрыто за внешним интерфейсом.</a:t>
            </a:r>
          </a:p>
          <a:p>
            <a:r>
              <a:rPr lang="ru-RU" b="1" dirty="0"/>
              <a:t>Иерархическая организация:</a:t>
            </a:r>
            <a:endParaRPr lang="ru-RU" dirty="0"/>
          </a:p>
          <a:p>
            <a:pPr lvl="1"/>
            <a:r>
              <a:rPr lang="ru-RU" dirty="0"/>
              <a:t>Уровень </a:t>
            </a:r>
            <a:r>
              <a:rPr lang="ru-RU" i="1" dirty="0" smtClean="0"/>
              <a:t>N</a:t>
            </a:r>
            <a:r>
              <a:rPr lang="ru-RU" dirty="0"/>
              <a:t> предоставляет сервисы вышестоящему уровню </a:t>
            </a:r>
            <a:r>
              <a:rPr lang="ru-RU" i="1" dirty="0" smtClean="0"/>
              <a:t>N</a:t>
            </a:r>
            <a:r>
              <a:rPr lang="ru-RU" dirty="0" smtClean="0"/>
              <a:t>+1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Уровень </a:t>
            </a:r>
            <a:r>
              <a:rPr lang="ru-RU" i="1" dirty="0" smtClean="0"/>
              <a:t>N</a:t>
            </a:r>
            <a:r>
              <a:rPr lang="ru-RU" dirty="0"/>
              <a:t> использует сервисы нижестоящего уровня </a:t>
            </a:r>
            <a:r>
              <a:rPr lang="ru-RU" i="1" dirty="0" smtClean="0"/>
              <a:t>N</a:t>
            </a:r>
            <a:r>
              <a:rPr lang="ru-RU" dirty="0"/>
              <a:t>−1.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264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принципы проектирования сетей</a:t>
            </a:r>
          </a:p>
        </p:txBody>
      </p:sp>
      <p:pic>
        <p:nvPicPr>
          <p:cNvPr id="1026" name="Picture 2" descr="https://studfile.net/html/e3/e3f4/e3f49d9b0529bcde61a57ce5c3f8ec22d955f4950f4526f55e5f2a511743e31d/htmlconvd-2yyuv2e3_html_87b3de651a33ed06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421" y="1901894"/>
            <a:ext cx="3748881" cy="4553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tudfile.net/html/e3/e3f4/e3f49d9b0529bcde61a57ce5c3f8ec22d955f4950f4526f55e5f2a511743e31d/htmlconvd-2yyuv2e3_html_c0d7e6fc753d1e3d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346" y="1809555"/>
            <a:ext cx="4107779" cy="464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24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принципы проектирования сетей</a:t>
            </a:r>
          </a:p>
        </p:txBody>
      </p:sp>
      <p:pic>
        <p:nvPicPr>
          <p:cNvPr id="2050" name="Picture 2" descr="https://www.dealer.su/images/533611134044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927" y="1704365"/>
            <a:ext cx="3230970" cy="463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91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Протоколы, интерфейсы и стек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Сетевой протокол:</a:t>
            </a:r>
            <a:r>
              <a:rPr lang="ru-RU" dirty="0"/>
              <a:t> правила и форматы горизонтального взаимодействия (Уровень </a:t>
            </a:r>
            <a:r>
              <a:rPr lang="ru-RU" i="1" dirty="0" smtClean="0"/>
              <a:t>N</a:t>
            </a:r>
            <a:r>
              <a:rPr lang="ru-RU" dirty="0"/>
              <a:t> машины А </a:t>
            </a:r>
            <a:r>
              <a:rPr lang="ru-RU" dirty="0" smtClean="0"/>
              <a:t>↔</a:t>
            </a:r>
            <a:r>
              <a:rPr lang="ru-RU" dirty="0"/>
              <a:t> Уровень </a:t>
            </a:r>
            <a:r>
              <a:rPr lang="ru-RU" i="1" dirty="0" smtClean="0"/>
              <a:t>N</a:t>
            </a:r>
            <a:r>
              <a:rPr lang="ru-RU" dirty="0"/>
              <a:t> машины Б).</a:t>
            </a:r>
          </a:p>
          <a:p>
            <a:r>
              <a:rPr lang="ru-RU" b="1" dirty="0"/>
              <a:t>Межуровневый интерфейс:</a:t>
            </a:r>
            <a:r>
              <a:rPr lang="ru-RU" dirty="0"/>
              <a:t> набор операций для вертикального взаимодействия смежных слоёв внутри одной машины.</a:t>
            </a:r>
          </a:p>
          <a:p>
            <a:r>
              <a:rPr lang="ru-RU" b="1" dirty="0"/>
              <a:t>Стек протоколов:</a:t>
            </a:r>
            <a:r>
              <a:rPr lang="ru-RU" dirty="0"/>
              <a:t> совокупность протоколов всех уровней, используемая на хосте.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6263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Механизм передачи данных: Инкапсуляция и </a:t>
            </a:r>
            <a:r>
              <a:rPr lang="ru-RU" b="1" dirty="0" err="1" smtClean="0"/>
              <a:t>Декапсуляция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Инкапсуляция (движение вниз: L7 </a:t>
            </a:r>
            <a:r>
              <a:rPr lang="ru-RU" b="1" dirty="0" smtClean="0"/>
              <a:t>→</a:t>
            </a:r>
            <a:r>
              <a:rPr lang="ru-RU" b="1" dirty="0"/>
              <a:t> L1):</a:t>
            </a:r>
            <a:endParaRPr lang="ru-RU" dirty="0"/>
          </a:p>
          <a:p>
            <a:pPr lvl="1"/>
            <a:r>
              <a:rPr lang="ru-RU" dirty="0"/>
              <a:t>Приложение формирует данные.</a:t>
            </a:r>
          </a:p>
          <a:p>
            <a:pPr lvl="1"/>
            <a:r>
              <a:rPr lang="ru-RU" dirty="0"/>
              <a:t>Каждый уровень добавляет служебный заголовок (</a:t>
            </a:r>
            <a:r>
              <a:rPr lang="ru-RU" dirty="0" err="1"/>
              <a:t>Header</a:t>
            </a:r>
            <a:r>
              <a:rPr lang="ru-RU" dirty="0"/>
              <a:t>) и/или </a:t>
            </a:r>
            <a:r>
              <a:rPr lang="ru-RU" dirty="0" err="1"/>
              <a:t>концевик</a:t>
            </a:r>
            <a:r>
              <a:rPr lang="ru-RU" dirty="0"/>
              <a:t> (</a:t>
            </a:r>
            <a:r>
              <a:rPr lang="ru-RU" dirty="0" err="1"/>
              <a:t>Trailer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При необходимости выполняется фрагментация больших сообщений на </a:t>
            </a:r>
            <a:r>
              <a:rPr lang="ru-RU" dirty="0" smtClean="0"/>
              <a:t>части.</a:t>
            </a:r>
            <a:endParaRPr lang="ru-RU" dirty="0"/>
          </a:p>
          <a:p>
            <a:r>
              <a:rPr lang="ru-RU" b="1" dirty="0" err="1"/>
              <a:t>Декапсуляция</a:t>
            </a:r>
            <a:r>
              <a:rPr lang="ru-RU" b="1" dirty="0"/>
              <a:t> (движение вверх: L1 </a:t>
            </a:r>
            <a:r>
              <a:rPr lang="ru-RU" b="1" dirty="0" smtClean="0"/>
              <a:t>→</a:t>
            </a:r>
            <a:r>
              <a:rPr lang="ru-RU" b="1" dirty="0"/>
              <a:t> L7):</a:t>
            </a:r>
            <a:endParaRPr lang="ru-RU" dirty="0"/>
          </a:p>
          <a:p>
            <a:pPr lvl="1"/>
            <a:r>
              <a:rPr lang="ru-RU" dirty="0"/>
              <a:t>Приём битов физической средой.</a:t>
            </a:r>
          </a:p>
          <a:p>
            <a:pPr lvl="1"/>
            <a:r>
              <a:rPr lang="ru-RU" dirty="0"/>
              <a:t>Пошаговое снятие заголовков соответствующего уровня, проверка целостности и передача наверх</a:t>
            </a:r>
            <a:r>
              <a:rPr lang="ru-RU" dirty="0" smtClean="0"/>
              <a:t>.</a:t>
            </a:r>
            <a:endParaRPr lang="en-US" dirty="0" smtClean="0"/>
          </a:p>
          <a:p>
            <a:pPr lvl="1"/>
            <a:r>
              <a:rPr lang="ru-RU" dirty="0"/>
              <a:t>При необходимости выполняется </a:t>
            </a:r>
            <a:r>
              <a:rPr lang="ru-RU" dirty="0" smtClean="0"/>
              <a:t>сборка </a:t>
            </a:r>
            <a:r>
              <a:rPr lang="ru-RU" dirty="0"/>
              <a:t>больших </a:t>
            </a:r>
            <a:r>
              <a:rPr lang="ru-RU" dirty="0" smtClean="0"/>
              <a:t>сообщений из отдельных частей.</a:t>
            </a:r>
            <a:endParaRPr lang="ru-RU" dirty="0"/>
          </a:p>
          <a:p>
            <a:pPr lvl="1"/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496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81100" y="293686"/>
            <a:ext cx="10693400" cy="6297613"/>
          </a:xfrm>
        </p:spPr>
        <p:txBody>
          <a:bodyPr>
            <a:normAutofit fontScale="85000" lnSpcReduction="20000"/>
          </a:bodyPr>
          <a:lstStyle/>
          <a:p>
            <a:r>
              <a:rPr lang="ru-RU" sz="2800" b="1" dirty="0"/>
              <a:t>Сетевая </a:t>
            </a:r>
            <a:r>
              <a:rPr lang="ru-RU" sz="2800" b="1" dirty="0" smtClean="0"/>
              <a:t>модель</a:t>
            </a:r>
            <a:r>
              <a:rPr lang="en-US" sz="2800" b="1" dirty="0" smtClean="0"/>
              <a:t>:</a:t>
            </a:r>
            <a:r>
              <a:rPr lang="ru-RU" sz="2800" b="1" dirty="0" smtClean="0"/>
              <a:t> </a:t>
            </a:r>
            <a:r>
              <a:rPr lang="ru-RU" sz="2800" dirty="0"/>
              <a:t>теоретическое описание принципов работы набора сетевых протоколов, взаимодействующих друг с другом</a:t>
            </a:r>
            <a:r>
              <a:rPr lang="ru-RU" sz="2800" dirty="0" smtClean="0"/>
              <a:t>.</a:t>
            </a:r>
            <a:endParaRPr lang="ru-RU" sz="2900" dirty="0" smtClean="0"/>
          </a:p>
          <a:p>
            <a:r>
              <a:rPr lang="ru-RU" sz="2900" b="1" dirty="0" smtClean="0"/>
              <a:t>Сетевой </a:t>
            </a:r>
            <a:r>
              <a:rPr lang="ru-RU" sz="2900" b="1" dirty="0"/>
              <a:t>протокол:</a:t>
            </a:r>
            <a:r>
              <a:rPr lang="ru-RU" sz="2900" dirty="0"/>
              <a:t> набор формализованных правил, форматов и последовательностей сообщений для обмена данными между узлами на </a:t>
            </a:r>
            <a:r>
              <a:rPr lang="ru-RU" sz="2900" i="1" dirty="0"/>
              <a:t>одном логическом уровне</a:t>
            </a:r>
            <a:r>
              <a:rPr lang="ru-RU" sz="2900" dirty="0"/>
              <a:t>.</a:t>
            </a:r>
          </a:p>
          <a:p>
            <a:r>
              <a:rPr lang="ru-RU" sz="2900" b="1" dirty="0" smtClean="0"/>
              <a:t>Интерфейс:</a:t>
            </a:r>
            <a:r>
              <a:rPr lang="ru-RU" sz="2900" dirty="0"/>
              <a:t> набор примитивов и функций, предоставляемых нижним уровнем вышестоящему.</a:t>
            </a:r>
          </a:p>
          <a:p>
            <a:r>
              <a:rPr lang="ru-RU" sz="2900" b="1" dirty="0"/>
              <a:t>Стек протоколов:</a:t>
            </a:r>
            <a:r>
              <a:rPr lang="ru-RU" sz="2900" dirty="0"/>
              <a:t> иерархический набор сетевых протоколов разных уровней, работающих совместно на одном узле.</a:t>
            </a:r>
          </a:p>
          <a:p>
            <a:r>
              <a:rPr lang="ru-RU" sz="2900" b="1" dirty="0"/>
              <a:t>Инкапсуляция:</a:t>
            </a:r>
            <a:r>
              <a:rPr lang="ru-RU" sz="2900" dirty="0"/>
              <a:t> процесс добавления служебных заголовков (</a:t>
            </a:r>
            <a:r>
              <a:rPr lang="ru-RU" sz="2900" dirty="0" err="1"/>
              <a:t>headers</a:t>
            </a:r>
            <a:r>
              <a:rPr lang="ru-RU" sz="2900" dirty="0"/>
              <a:t>) и </a:t>
            </a:r>
            <a:r>
              <a:rPr lang="ru-RU" sz="2900" dirty="0" err="1"/>
              <a:t>концевиков</a:t>
            </a:r>
            <a:r>
              <a:rPr lang="ru-RU" sz="2900" dirty="0"/>
              <a:t> (</a:t>
            </a:r>
            <a:r>
              <a:rPr lang="ru-RU" sz="2900" dirty="0" err="1"/>
              <a:t>trailers</a:t>
            </a:r>
            <a:r>
              <a:rPr lang="ru-RU" sz="2900" dirty="0"/>
              <a:t>) при движении данных </a:t>
            </a:r>
            <a:r>
              <a:rPr lang="ru-RU" sz="2900" b="1" dirty="0"/>
              <a:t>вниз</a:t>
            </a:r>
            <a:r>
              <a:rPr lang="ru-RU" sz="2900" dirty="0"/>
              <a:t> по стеку (от приложения к физической среде).</a:t>
            </a:r>
          </a:p>
          <a:p>
            <a:r>
              <a:rPr lang="ru-RU" sz="2900" b="1" dirty="0" err="1"/>
              <a:t>Декапсуляция</a:t>
            </a:r>
            <a:r>
              <a:rPr lang="ru-RU" sz="2900" b="1" dirty="0"/>
              <a:t>:</a:t>
            </a:r>
            <a:r>
              <a:rPr lang="ru-RU" sz="2900" dirty="0"/>
              <a:t> процесс анализа и удаления служебной информации при движении данных </a:t>
            </a:r>
            <a:r>
              <a:rPr lang="ru-RU" sz="2900" b="1" dirty="0"/>
              <a:t>вверх</a:t>
            </a:r>
            <a:r>
              <a:rPr lang="ru-RU" sz="2900" dirty="0"/>
              <a:t> по стеку на стороне получателя.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095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Классы сервисов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3" y="3023210"/>
            <a:ext cx="10490811" cy="1777390"/>
          </a:xfrm>
        </p:spPr>
        <p:txBody>
          <a:bodyPr/>
          <a:lstStyle/>
          <a:p>
            <a:r>
              <a:rPr lang="ru-RU" b="1" dirty="0"/>
              <a:t>Два класса сервисов:</a:t>
            </a:r>
            <a:endParaRPr lang="ru-RU" dirty="0"/>
          </a:p>
          <a:p>
            <a:pPr lvl="1"/>
            <a:r>
              <a:rPr lang="ru-RU" i="1" dirty="0" err="1"/>
              <a:t>Connection-Oriented</a:t>
            </a:r>
            <a:r>
              <a:rPr lang="ru-RU" i="1" dirty="0"/>
              <a:t> (с установлением </a:t>
            </a:r>
            <a:r>
              <a:rPr lang="ru-RU" i="1" dirty="0" smtClean="0"/>
              <a:t>соединения</a:t>
            </a:r>
            <a:r>
              <a:rPr lang="ru-RU" i="1" dirty="0"/>
              <a:t>):</a:t>
            </a:r>
            <a:r>
              <a:rPr lang="ru-RU" dirty="0"/>
              <a:t> </a:t>
            </a:r>
            <a:r>
              <a:rPr lang="ru-RU" dirty="0" err="1"/>
              <a:t>handshake</a:t>
            </a:r>
            <a:r>
              <a:rPr lang="ru-RU" dirty="0"/>
              <a:t> → передача → разрыв.</a:t>
            </a:r>
          </a:p>
          <a:p>
            <a:pPr lvl="1"/>
            <a:r>
              <a:rPr lang="ru-RU" i="1" dirty="0" err="1"/>
              <a:t>Connectionless</a:t>
            </a:r>
            <a:r>
              <a:rPr lang="ru-RU" i="1" dirty="0"/>
              <a:t> (без соединения):</a:t>
            </a:r>
            <a:r>
              <a:rPr lang="ru-RU" dirty="0"/>
              <a:t> независимая доставка дейтаграмм.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8060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7-уровневая </a:t>
            </a:r>
            <a:r>
              <a:rPr lang="ru-RU" dirty="0"/>
              <a:t>эталонная модель </a:t>
            </a:r>
            <a:r>
              <a:rPr lang="af-ZA" dirty="0"/>
              <a:t>OSI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643788"/>
              </p:ext>
            </p:extLst>
          </p:nvPr>
        </p:nvGraphicFramePr>
        <p:xfrm>
          <a:off x="1038225" y="2097088"/>
          <a:ext cx="10306052" cy="4307730"/>
        </p:xfrm>
        <a:graphic>
          <a:graphicData uri="http://schemas.openxmlformats.org/drawingml/2006/table">
            <a:tbl>
              <a:tblPr/>
              <a:tblGrid>
                <a:gridCol w="885825">
                  <a:extLst>
                    <a:ext uri="{9D8B030D-6E8A-4147-A177-3AD203B41FA5}">
                      <a16:colId xmlns:a16="http://schemas.microsoft.com/office/drawing/2014/main" val="1051344247"/>
                    </a:ext>
                  </a:extLst>
                </a:gridCol>
                <a:gridCol w="3457575">
                  <a:extLst>
                    <a:ext uri="{9D8B030D-6E8A-4147-A177-3AD203B41FA5}">
                      <a16:colId xmlns:a16="http://schemas.microsoft.com/office/drawing/2014/main" val="211002636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97815336"/>
                    </a:ext>
                  </a:extLst>
                </a:gridCol>
                <a:gridCol w="3448052">
                  <a:extLst>
                    <a:ext uri="{9D8B030D-6E8A-4147-A177-3AD203B41FA5}">
                      <a16:colId xmlns:a16="http://schemas.microsoft.com/office/drawing/2014/main" val="4138322350"/>
                    </a:ext>
                  </a:extLst>
                </a:gridCol>
              </a:tblGrid>
              <a:tr h="303305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№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Уровень (</a:t>
                      </a:r>
                      <a:r>
                        <a:rPr lang="af-ZA" sz="1600" b="1" dirty="0">
                          <a:effectLst/>
                        </a:rPr>
                        <a:t>Layer)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Блок данных (</a:t>
                      </a:r>
                      <a:r>
                        <a:rPr lang="af-ZA" sz="1600" b="1" dirty="0">
                          <a:effectLst/>
                        </a:rPr>
                        <a:t>PDU)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Основная функция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175765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7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Прикладной (</a:t>
                      </a:r>
                      <a:r>
                        <a:rPr lang="af-ZA" sz="1600" b="1">
                          <a:effectLst/>
                        </a:rPr>
                        <a:t>Application)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Данные (</a:t>
                      </a:r>
                      <a:r>
                        <a:rPr lang="af-ZA" sz="1600" b="1">
                          <a:effectLst/>
                        </a:rPr>
                        <a:t>Data)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Доступ приложений к сети (HTTP, SMTP)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597728"/>
                  </a:ext>
                </a:extLst>
              </a:tr>
              <a:tr h="753573"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6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Представительский (</a:t>
                      </a:r>
                      <a:r>
                        <a:rPr lang="af-ZA" sz="1600" b="1" dirty="0">
                          <a:effectLst/>
                        </a:rPr>
                        <a:t>Presentation)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Данные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Кодирование, шифрование, сериализация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514010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5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Сеансовый (</a:t>
                      </a:r>
                      <a:r>
                        <a:rPr lang="af-ZA" sz="1600" b="1" dirty="0">
                          <a:effectLst/>
                        </a:rPr>
                        <a:t>Session)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Данные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Управление сессиями и синхронизация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483830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4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Транспортный (</a:t>
                      </a:r>
                      <a:r>
                        <a:rPr lang="af-ZA" sz="1600" b="1" dirty="0">
                          <a:effectLst/>
                        </a:rPr>
                        <a:t>Transport)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Сегмент / Дейтаграмма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Сквозная доставка хост-хост, порты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8929841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3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Сетевой (</a:t>
                      </a:r>
                      <a:r>
                        <a:rPr lang="af-ZA" sz="1600" b="1" dirty="0">
                          <a:effectLst/>
                        </a:rPr>
                        <a:t>Network)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Пакет (</a:t>
                      </a:r>
                      <a:r>
                        <a:rPr lang="af-ZA" sz="1600" b="1" dirty="0">
                          <a:effectLst/>
                        </a:rPr>
                        <a:t>Packet)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Маршрутизация, </a:t>
                      </a:r>
                      <a:r>
                        <a:rPr lang="af-ZA" sz="1600" b="1" dirty="0">
                          <a:effectLst/>
                        </a:rPr>
                        <a:t>IP-</a:t>
                      </a:r>
                      <a:r>
                        <a:rPr lang="ru-RU" sz="1600" b="1" dirty="0">
                          <a:effectLst/>
                        </a:rPr>
                        <a:t>адресация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902606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2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Канальный (</a:t>
                      </a:r>
                      <a:r>
                        <a:rPr lang="af-ZA" sz="1600" b="1">
                          <a:effectLst/>
                        </a:rPr>
                        <a:t>Data Link)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Кадр (</a:t>
                      </a:r>
                      <a:r>
                        <a:rPr lang="af-ZA" sz="1600" b="1" dirty="0">
                          <a:effectLst/>
                        </a:rPr>
                        <a:t>Frame)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Передача по каналу, </a:t>
                      </a:r>
                      <a:r>
                        <a:rPr lang="af-ZA" sz="1600" b="1" dirty="0">
                          <a:effectLst/>
                        </a:rPr>
                        <a:t>MAC-</a:t>
                      </a:r>
                      <a:r>
                        <a:rPr lang="ru-RU" sz="1600" b="1" dirty="0">
                          <a:effectLst/>
                        </a:rPr>
                        <a:t>адресация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320222"/>
                  </a:ext>
                </a:extLst>
              </a:tr>
              <a:tr h="528439"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1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Физический (</a:t>
                      </a:r>
                      <a:r>
                        <a:rPr lang="af-ZA" sz="1600" b="1">
                          <a:effectLst/>
                        </a:rPr>
                        <a:t>Physical)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>
                          <a:effectLst/>
                        </a:rPr>
                        <a:t>Бит (</a:t>
                      </a:r>
                      <a:r>
                        <a:rPr lang="af-ZA" sz="1600" b="1">
                          <a:effectLst/>
                        </a:rPr>
                        <a:t>Bit)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effectLst/>
                        </a:rPr>
                        <a:t>Электрические/оптические сигналы</a:t>
                      </a:r>
                    </a:p>
                  </a:txBody>
                  <a:tcPr marL="65490" marR="65490" marT="32745" marB="327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439074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805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76312" y="357186"/>
            <a:ext cx="10821988" cy="6157913"/>
          </a:xfrm>
        </p:spPr>
        <p:txBody>
          <a:bodyPr>
            <a:normAutofit fontScale="92500"/>
          </a:bodyPr>
          <a:lstStyle/>
          <a:p>
            <a:r>
              <a:rPr lang="ru-RU" b="1" dirty="0"/>
              <a:t>Физический (</a:t>
            </a:r>
            <a:r>
              <a:rPr lang="ru-RU" b="1" dirty="0" err="1"/>
              <a:t>Physical</a:t>
            </a:r>
            <a:r>
              <a:rPr lang="ru-RU" b="1" dirty="0"/>
              <a:t>):</a:t>
            </a:r>
            <a:r>
              <a:rPr lang="ru-RU" dirty="0"/>
              <a:t> передача неструктурированного потока сырых бит по среде.</a:t>
            </a:r>
          </a:p>
          <a:p>
            <a:r>
              <a:rPr lang="ru-RU" b="1" dirty="0"/>
              <a:t>Канальный (</a:t>
            </a:r>
            <a:r>
              <a:rPr lang="ru-RU" b="1" dirty="0" err="1"/>
              <a:t>Data</a:t>
            </a:r>
            <a:r>
              <a:rPr lang="ru-RU" b="1" dirty="0"/>
              <a:t> </a:t>
            </a:r>
            <a:r>
              <a:rPr lang="ru-RU" b="1" dirty="0" err="1"/>
              <a:t>Link</a:t>
            </a:r>
            <a:r>
              <a:rPr lang="ru-RU" b="1" dirty="0"/>
              <a:t>):</a:t>
            </a:r>
            <a:r>
              <a:rPr lang="ru-RU" dirty="0"/>
              <a:t> передача </a:t>
            </a:r>
            <a:r>
              <a:rPr lang="ru-RU" b="1" dirty="0"/>
              <a:t>кадров (</a:t>
            </a:r>
            <a:r>
              <a:rPr lang="ru-RU" b="1" dirty="0" err="1"/>
              <a:t>frames</a:t>
            </a:r>
            <a:r>
              <a:rPr lang="ru-RU" b="1" dirty="0"/>
              <a:t>)</a:t>
            </a:r>
            <a:r>
              <a:rPr lang="ru-RU" dirty="0"/>
              <a:t> в пределах одного сегмента сети, обнаружение ошибок, MAC-адресация.</a:t>
            </a:r>
          </a:p>
          <a:p>
            <a:r>
              <a:rPr lang="ru-RU" b="1" dirty="0"/>
              <a:t>Сетевой (</a:t>
            </a:r>
            <a:r>
              <a:rPr lang="ru-RU" b="1" dirty="0" err="1"/>
              <a:t>Network</a:t>
            </a:r>
            <a:r>
              <a:rPr lang="ru-RU" b="1" dirty="0"/>
              <a:t>):</a:t>
            </a:r>
            <a:r>
              <a:rPr lang="ru-RU" dirty="0"/>
              <a:t> сквозная маршрутизация </a:t>
            </a:r>
            <a:r>
              <a:rPr lang="ru-RU" b="1" dirty="0"/>
              <a:t>пакетов (</a:t>
            </a:r>
            <a:r>
              <a:rPr lang="ru-RU" b="1" dirty="0" err="1"/>
              <a:t>packets</a:t>
            </a:r>
            <a:r>
              <a:rPr lang="ru-RU" b="1" dirty="0"/>
              <a:t>)</a:t>
            </a:r>
            <a:r>
              <a:rPr lang="ru-RU" dirty="0"/>
              <a:t> между сетями, логическая адресация (IP).</a:t>
            </a:r>
          </a:p>
          <a:p>
            <a:r>
              <a:rPr lang="ru-RU" b="1" dirty="0"/>
              <a:t>Транспортный (</a:t>
            </a:r>
            <a:r>
              <a:rPr lang="ru-RU" b="1" dirty="0" err="1"/>
              <a:t>Transport</a:t>
            </a:r>
            <a:r>
              <a:rPr lang="ru-RU" b="1" dirty="0"/>
              <a:t>):</a:t>
            </a:r>
            <a:r>
              <a:rPr lang="ru-RU" dirty="0"/>
              <a:t> передача </a:t>
            </a:r>
            <a:r>
              <a:rPr lang="ru-RU" b="1" dirty="0"/>
              <a:t>сегментов (</a:t>
            </a:r>
            <a:r>
              <a:rPr lang="ru-RU" b="1" dirty="0" err="1"/>
              <a:t>segments</a:t>
            </a:r>
            <a:r>
              <a:rPr lang="ru-RU" b="1" dirty="0"/>
              <a:t>) / дейтаграмм</a:t>
            </a:r>
            <a:r>
              <a:rPr lang="ru-RU" dirty="0"/>
              <a:t> между процессами хостов (</a:t>
            </a:r>
            <a:r>
              <a:rPr lang="ru-RU" dirty="0" err="1"/>
              <a:t>end-to-end</a:t>
            </a:r>
            <a:r>
              <a:rPr lang="ru-RU" dirty="0"/>
              <a:t>).</a:t>
            </a:r>
          </a:p>
          <a:p>
            <a:r>
              <a:rPr lang="ru-RU" b="1" dirty="0"/>
              <a:t>Сеансовый (</a:t>
            </a:r>
            <a:r>
              <a:rPr lang="ru-RU" b="1" dirty="0" err="1"/>
              <a:t>Session</a:t>
            </a:r>
            <a:r>
              <a:rPr lang="ru-RU" b="1" dirty="0"/>
              <a:t>):</a:t>
            </a:r>
            <a:r>
              <a:rPr lang="ru-RU" dirty="0"/>
              <a:t> управление сессиями и диалогами между приложениями.</a:t>
            </a:r>
          </a:p>
          <a:p>
            <a:r>
              <a:rPr lang="ru-RU" b="1" dirty="0"/>
              <a:t>Уровень представления (</a:t>
            </a:r>
            <a:r>
              <a:rPr lang="ru-RU" b="1" dirty="0" err="1"/>
              <a:t>Presentation</a:t>
            </a:r>
            <a:r>
              <a:rPr lang="ru-RU" b="1" dirty="0"/>
              <a:t>):</a:t>
            </a:r>
            <a:r>
              <a:rPr lang="ru-RU" dirty="0"/>
              <a:t> кодирование, сжатие, шифрование и форматирование данных.</a:t>
            </a:r>
          </a:p>
          <a:p>
            <a:r>
              <a:rPr lang="ru-RU" b="1" dirty="0"/>
              <a:t>Прикладной (</a:t>
            </a:r>
            <a:r>
              <a:rPr lang="ru-RU" b="1" dirty="0" err="1"/>
              <a:t>Application</a:t>
            </a:r>
            <a:r>
              <a:rPr lang="ru-RU" b="1" dirty="0"/>
              <a:t>):</a:t>
            </a:r>
            <a:r>
              <a:rPr lang="ru-RU" dirty="0"/>
              <a:t> интерфейс взаимодействия пользовательских программ с сетью (HTTP, FTP, DNS).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1851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TCP/IP в сравнении с моделью OSI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9562" y="1828004"/>
            <a:ext cx="5342731" cy="4741863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Сравнение моделей:</a:t>
            </a:r>
            <a:endParaRPr lang="ru-RU" dirty="0"/>
          </a:p>
          <a:p>
            <a:pPr lvl="1"/>
            <a:r>
              <a:rPr lang="ru-RU" dirty="0"/>
              <a:t>Прикладной уровень </a:t>
            </a:r>
            <a:r>
              <a:rPr lang="af-ZA" dirty="0"/>
              <a:t>TCP/IP </a:t>
            </a:r>
            <a:r>
              <a:rPr lang="af-ZA" dirty="0" smtClean="0"/>
              <a:t>≈</a:t>
            </a:r>
            <a:r>
              <a:rPr lang="af-ZA" dirty="0"/>
              <a:t> </a:t>
            </a:r>
            <a:r>
              <a:rPr lang="ru-RU" dirty="0"/>
              <a:t>Уровни 5, 6, 7 модели </a:t>
            </a:r>
            <a:r>
              <a:rPr lang="af-ZA" dirty="0"/>
              <a:t>OSI.</a:t>
            </a:r>
          </a:p>
          <a:p>
            <a:pPr lvl="1"/>
            <a:r>
              <a:rPr lang="ru-RU" dirty="0"/>
              <a:t>Транспортный уровень </a:t>
            </a:r>
            <a:r>
              <a:rPr lang="af-ZA" dirty="0"/>
              <a:t>TCP/IP </a:t>
            </a:r>
            <a:r>
              <a:rPr lang="af-ZA" dirty="0" smtClean="0"/>
              <a:t>≈</a:t>
            </a:r>
            <a:r>
              <a:rPr lang="af-ZA" dirty="0"/>
              <a:t> </a:t>
            </a:r>
            <a:r>
              <a:rPr lang="ru-RU" dirty="0"/>
              <a:t>Уровень 4 </a:t>
            </a:r>
            <a:r>
              <a:rPr lang="af-ZA" dirty="0"/>
              <a:t>OSI (TCP, UDP).</a:t>
            </a:r>
          </a:p>
          <a:p>
            <a:pPr lvl="1"/>
            <a:r>
              <a:rPr lang="ru-RU" dirty="0"/>
              <a:t>Межсетевой уровень (</a:t>
            </a:r>
            <a:r>
              <a:rPr lang="af-ZA" dirty="0"/>
              <a:t>Internet) </a:t>
            </a:r>
            <a:r>
              <a:rPr lang="af-ZA" dirty="0" smtClean="0"/>
              <a:t>≈</a:t>
            </a:r>
            <a:r>
              <a:rPr lang="af-ZA" dirty="0"/>
              <a:t> </a:t>
            </a:r>
            <a:r>
              <a:rPr lang="ru-RU" dirty="0"/>
              <a:t>Уровень 3 </a:t>
            </a:r>
            <a:r>
              <a:rPr lang="af-ZA" dirty="0"/>
              <a:t>OSI (IP, ICMP).</a:t>
            </a:r>
          </a:p>
          <a:p>
            <a:pPr lvl="1"/>
            <a:r>
              <a:rPr lang="ru-RU" dirty="0"/>
              <a:t>Уровень сетевого доступа </a:t>
            </a:r>
            <a:r>
              <a:rPr lang="ru-RU" dirty="0" smtClean="0"/>
              <a:t>≈</a:t>
            </a:r>
            <a:r>
              <a:rPr lang="ru-RU" dirty="0"/>
              <a:t> Уровни 1, 2 </a:t>
            </a:r>
            <a:r>
              <a:rPr lang="af-ZA" dirty="0"/>
              <a:t>OSI (Ethernet, Wi-Fi, PPP).</a:t>
            </a:r>
          </a:p>
          <a:p>
            <a:r>
              <a:rPr lang="ru-RU" b="1" dirty="0"/>
              <a:t>Ключевой вывод:</a:t>
            </a:r>
            <a:r>
              <a:rPr lang="ru-RU" dirty="0"/>
              <a:t> </a:t>
            </a:r>
            <a:r>
              <a:rPr lang="af-ZA" dirty="0"/>
              <a:t>OSI — </a:t>
            </a:r>
            <a:r>
              <a:rPr lang="ru-RU" dirty="0"/>
              <a:t>концептуальный эталон; </a:t>
            </a:r>
            <a:r>
              <a:rPr lang="af-ZA" dirty="0"/>
              <a:t>TCP/IP — </a:t>
            </a:r>
            <a:r>
              <a:rPr lang="ru-RU" dirty="0"/>
              <a:t>практическая реализация современного Интернета.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0" name="Picture 2" descr="Open Systems Interconnection Model (OSI Model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393" y="2641599"/>
            <a:ext cx="622935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40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1690687"/>
            <a:ext cx="9905999" cy="3541714"/>
          </a:xfrm>
        </p:spPr>
        <p:txBody>
          <a:bodyPr>
            <a:normAutofit lnSpcReduction="10000"/>
          </a:bodyPr>
          <a:lstStyle/>
          <a:p>
            <a:r>
              <a:rPr lang="ru-RU" b="1" dirty="0"/>
              <a:t>Уровень сетевого доступа (</a:t>
            </a:r>
            <a:r>
              <a:rPr lang="af-ZA" b="1" dirty="0"/>
              <a:t>Network Access):</a:t>
            </a:r>
            <a:r>
              <a:rPr lang="af-ZA" dirty="0"/>
              <a:t> </a:t>
            </a:r>
            <a:r>
              <a:rPr lang="ru-RU" dirty="0"/>
              <a:t>объединяет физический и канальный уровни (</a:t>
            </a:r>
            <a:r>
              <a:rPr lang="af-ZA" dirty="0"/>
              <a:t>Ethernet, Wi-Fi).</a:t>
            </a:r>
          </a:p>
          <a:p>
            <a:r>
              <a:rPr lang="ru-RU" b="1" dirty="0"/>
              <a:t>Межсетевой уровень (</a:t>
            </a:r>
            <a:r>
              <a:rPr lang="af-ZA" b="1" dirty="0"/>
              <a:t>Internet):</a:t>
            </a:r>
            <a:r>
              <a:rPr lang="af-ZA" dirty="0"/>
              <a:t> </a:t>
            </a:r>
            <a:r>
              <a:rPr lang="ru-RU" dirty="0"/>
              <a:t>адресация и маршрутизация (</a:t>
            </a:r>
            <a:r>
              <a:rPr lang="af-ZA" dirty="0"/>
              <a:t>IP, ICMP).</a:t>
            </a:r>
          </a:p>
          <a:p>
            <a:r>
              <a:rPr lang="ru-RU" b="1" dirty="0"/>
              <a:t>Транспортный уровень (</a:t>
            </a:r>
            <a:r>
              <a:rPr lang="af-ZA" b="1" dirty="0"/>
              <a:t>Transport):</a:t>
            </a:r>
            <a:r>
              <a:rPr lang="af-ZA" dirty="0"/>
              <a:t> TCP (</a:t>
            </a:r>
            <a:r>
              <a:rPr lang="ru-RU" dirty="0"/>
              <a:t>надёжный, потоковый, с соединением), </a:t>
            </a:r>
            <a:r>
              <a:rPr lang="af-ZA" dirty="0"/>
              <a:t>UDP (</a:t>
            </a:r>
            <a:r>
              <a:rPr lang="ru-RU" dirty="0"/>
              <a:t>ненадёжный, </a:t>
            </a:r>
            <a:r>
              <a:rPr lang="ru-RU" dirty="0" err="1"/>
              <a:t>дейтаграммный</a:t>
            </a:r>
            <a:r>
              <a:rPr lang="ru-RU" dirty="0"/>
              <a:t>, без соединения).</a:t>
            </a:r>
          </a:p>
          <a:p>
            <a:r>
              <a:rPr lang="ru-RU" b="1" dirty="0"/>
              <a:t>Прикладной уровень (</a:t>
            </a:r>
            <a:r>
              <a:rPr lang="af-ZA" b="1" dirty="0"/>
              <a:t>Application):</a:t>
            </a:r>
            <a:r>
              <a:rPr lang="af-ZA" dirty="0"/>
              <a:t> </a:t>
            </a:r>
            <a:r>
              <a:rPr lang="ru-RU" dirty="0"/>
              <a:t>объединяет прикладной, представительский и сеансовый уровни </a:t>
            </a:r>
            <a:r>
              <a:rPr lang="af-ZA" dirty="0"/>
              <a:t>OSI (HTTP, SMTP, SSH, DNS).</a:t>
            </a:r>
          </a:p>
        </p:txBody>
      </p:sp>
    </p:spTree>
    <p:extLst>
      <p:ext uri="{BB962C8B-B14F-4D97-AF65-F5344CB8AC3E}">
        <p14:creationId xmlns:p14="http://schemas.microsoft.com/office/powerpoint/2010/main" val="3195823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Стек протоколов</a:t>
            </a:r>
            <a:endParaRPr lang="ru-RU" dirty="0"/>
          </a:p>
        </p:txBody>
      </p:sp>
      <p:pic>
        <p:nvPicPr>
          <p:cNvPr id="3074" name="Picture 2" descr="Стандартные стеки коммуникационных протоколов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204" y="1873575"/>
            <a:ext cx="7774415" cy="4627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02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Производительность сети: Скорость </a:t>
            </a:r>
            <a:r>
              <a:rPr lang="ru-RU" b="1" dirty="0" smtClean="0"/>
              <a:t>передачи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 err="1"/>
              <a:t>Bandwidth</a:t>
            </a:r>
            <a:r>
              <a:rPr lang="ru-RU" b="1" dirty="0"/>
              <a:t> (Ширина пропускания):</a:t>
            </a:r>
            <a:endParaRPr lang="ru-RU" dirty="0"/>
          </a:p>
          <a:p>
            <a:pPr lvl="1"/>
            <a:r>
              <a:rPr lang="ru-RU" dirty="0"/>
              <a:t>Теоретический предел среды передачи (бит/с).</a:t>
            </a:r>
          </a:p>
          <a:p>
            <a:pPr lvl="1"/>
            <a:r>
              <a:rPr lang="ru-RU" dirty="0"/>
              <a:t>Соотношение: 1 Гбит/с=1000 Мбит/с=106 Кбит/с=109 бит/с1 Гбит/с=1000 Мбит/с=106 Кбит/с=109 бит/с.</a:t>
            </a:r>
          </a:p>
          <a:p>
            <a:r>
              <a:rPr lang="ru-RU" b="1" dirty="0" err="1"/>
              <a:t>Throughput</a:t>
            </a:r>
            <a:r>
              <a:rPr lang="ru-RU" b="1" dirty="0"/>
              <a:t> (Полезная / реальная пропускная способность):</a:t>
            </a:r>
            <a:endParaRPr lang="ru-RU" dirty="0"/>
          </a:p>
          <a:p>
            <a:pPr lvl="1"/>
            <a:r>
              <a:rPr lang="ru-RU" dirty="0"/>
              <a:t>Объём полезных данных, доставленных в единицу времени.</a:t>
            </a:r>
          </a:p>
          <a:p>
            <a:pPr lvl="1"/>
            <a:r>
              <a:rPr lang="ru-RU" dirty="0"/>
              <a:t>Всегда меньше ширины канала из-за служебных заголовков, коллизий и задержек.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6593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Разница между </a:t>
            </a:r>
            <a:r>
              <a:rPr lang="ru-RU" b="1" dirty="0" err="1" smtClean="0"/>
              <a:t>Bandwidth</a:t>
            </a:r>
            <a:r>
              <a:rPr lang="ru-RU" b="1" dirty="0" smtClean="0"/>
              <a:t> </a:t>
            </a:r>
            <a:r>
              <a:rPr lang="ru-RU" dirty="0" smtClean="0"/>
              <a:t>и </a:t>
            </a:r>
            <a:r>
              <a:rPr lang="ru-RU" b="1" dirty="0" err="1"/>
              <a:t>Throughput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1026" name="Picture 2" descr="Bandwidth, Latency and Throughput | NetworkAcademy.IO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361" y="2097088"/>
            <a:ext cx="7208101" cy="4314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747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Производительность сети: </a:t>
            </a:r>
            <a:r>
              <a:rPr lang="ru-RU" b="1" dirty="0" err="1"/>
              <a:t>Временны́е</a:t>
            </a:r>
            <a:r>
              <a:rPr lang="ru-RU" b="1" dirty="0"/>
              <a:t> </a:t>
            </a:r>
            <a:r>
              <a:rPr lang="ru-RU" b="1" dirty="0" smtClean="0"/>
              <a:t>характеристики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 err="1"/>
              <a:t>Latency</a:t>
            </a:r>
            <a:r>
              <a:rPr lang="ru-RU" b="1" dirty="0"/>
              <a:t> / </a:t>
            </a:r>
            <a:r>
              <a:rPr lang="ru-RU" b="1" dirty="0" err="1"/>
              <a:t>Delay</a:t>
            </a:r>
            <a:r>
              <a:rPr lang="ru-RU" b="1" dirty="0"/>
              <a:t> (Задержка):</a:t>
            </a:r>
            <a:r>
              <a:rPr lang="ru-RU" dirty="0"/>
              <a:t> время перемещения пакета от источника к приёмнику (</a:t>
            </a:r>
            <a:r>
              <a:rPr lang="ru-RU" dirty="0" err="1"/>
              <a:t>мс</a:t>
            </a:r>
            <a:r>
              <a:rPr lang="ru-RU" dirty="0"/>
              <a:t>).</a:t>
            </a:r>
          </a:p>
          <a:p>
            <a:r>
              <a:rPr lang="ru-RU" b="1" dirty="0"/>
              <a:t>RTT (</a:t>
            </a:r>
            <a:r>
              <a:rPr lang="ru-RU" b="1" dirty="0" err="1"/>
              <a:t>Round-Trip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):</a:t>
            </a:r>
            <a:r>
              <a:rPr lang="ru-RU" dirty="0"/>
              <a:t> суммарное время доставки пакета до цели и возврата ответа обратно.</a:t>
            </a:r>
          </a:p>
          <a:p>
            <a:r>
              <a:rPr lang="ru-RU" b="1" dirty="0" err="1"/>
              <a:t>Jitter</a:t>
            </a:r>
            <a:r>
              <a:rPr lang="ru-RU" b="1" dirty="0"/>
              <a:t> (</a:t>
            </a:r>
            <a:r>
              <a:rPr lang="ru-RU" b="1" dirty="0" err="1"/>
              <a:t>Джиттер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Колебание задержки последовательно идущих пакетов.</a:t>
            </a:r>
          </a:p>
          <a:p>
            <a:pPr lvl="1"/>
            <a:r>
              <a:rPr lang="ru-RU" dirty="0"/>
              <a:t>Критически важен для потокового медиа (видеосвязь, </a:t>
            </a:r>
            <a:r>
              <a:rPr lang="ru-RU" dirty="0" err="1"/>
              <a:t>VoIP</a:t>
            </a:r>
            <a:r>
              <a:rPr lang="ru-RU" dirty="0"/>
              <a:t>, онлайн-игры).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8228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Jitter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619" y="3004443"/>
            <a:ext cx="11475586" cy="181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7893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14412" y="865186"/>
            <a:ext cx="10339388" cy="5357813"/>
          </a:xfrm>
        </p:spPr>
        <p:txBody>
          <a:bodyPr>
            <a:normAutofit lnSpcReduction="10000"/>
          </a:bodyPr>
          <a:lstStyle/>
          <a:p>
            <a:r>
              <a:rPr lang="ru-RU" b="1" dirty="0" err="1"/>
              <a:t>Bandwidth</a:t>
            </a:r>
            <a:r>
              <a:rPr lang="ru-RU" b="1" dirty="0"/>
              <a:t> (Ширина канала / теоретическая пропускная способность):</a:t>
            </a:r>
            <a:r>
              <a:rPr lang="ru-RU" dirty="0"/>
              <a:t> максимальный теоретический объём данных, который среда может пропустить за единицу времени (бит/с).</a:t>
            </a:r>
          </a:p>
          <a:p>
            <a:r>
              <a:rPr lang="ru-RU" b="1" dirty="0" err="1"/>
              <a:t>Throughput</a:t>
            </a:r>
            <a:r>
              <a:rPr lang="ru-RU" b="1" dirty="0"/>
              <a:t> (Реальная пропускная способность):</a:t>
            </a:r>
            <a:r>
              <a:rPr lang="ru-RU" dirty="0"/>
              <a:t> фактическая скорость успешной передачи данных с учётом накладных расходов, задержек и ошибок.</a:t>
            </a:r>
          </a:p>
          <a:p>
            <a:r>
              <a:rPr lang="ru-RU" b="1" dirty="0" err="1"/>
              <a:t>Latency</a:t>
            </a:r>
            <a:r>
              <a:rPr lang="ru-RU" b="1" dirty="0"/>
              <a:t> / </a:t>
            </a:r>
            <a:r>
              <a:rPr lang="ru-RU" b="1" dirty="0" err="1"/>
              <a:t>Delay</a:t>
            </a:r>
            <a:r>
              <a:rPr lang="ru-RU" b="1" dirty="0"/>
              <a:t> (Задержка):</a:t>
            </a:r>
            <a:r>
              <a:rPr lang="ru-RU" dirty="0"/>
              <a:t> время доставки данных от отправителя к получателю.</a:t>
            </a:r>
          </a:p>
          <a:p>
            <a:r>
              <a:rPr lang="ru-RU" b="1" dirty="0"/>
              <a:t>RTT (</a:t>
            </a:r>
            <a:r>
              <a:rPr lang="ru-RU" b="1" dirty="0" err="1"/>
              <a:t>Round</a:t>
            </a:r>
            <a:r>
              <a:rPr lang="ru-RU" b="1" dirty="0"/>
              <a:t> </a:t>
            </a:r>
            <a:r>
              <a:rPr lang="ru-RU" b="1" dirty="0" err="1"/>
              <a:t>Trip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):</a:t>
            </a:r>
            <a:r>
              <a:rPr lang="ru-RU" dirty="0"/>
              <a:t> время полного оборота пакета (туда и обратно).</a:t>
            </a:r>
          </a:p>
          <a:p>
            <a:r>
              <a:rPr lang="ru-RU" b="1" dirty="0" err="1"/>
              <a:t>Джиттер</a:t>
            </a:r>
            <a:r>
              <a:rPr lang="ru-RU" b="1" dirty="0"/>
              <a:t> (</a:t>
            </a:r>
            <a:r>
              <a:rPr lang="ru-RU" b="1" dirty="0" err="1"/>
              <a:t>Jitter</a:t>
            </a:r>
            <a:r>
              <a:rPr lang="ru-RU" b="1" dirty="0"/>
              <a:t>):</a:t>
            </a:r>
            <a:r>
              <a:rPr lang="ru-RU" dirty="0"/>
              <a:t> вариация (колебание) задержки пакетов в потоке относительно друг друга.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3577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«Путь конверта» (Инкапсуляция)</a:t>
            </a:r>
            <a:br>
              <a:rPr lang="ru-RU" b="1" dirty="0"/>
            </a:br>
            <a:r>
              <a:rPr lang="ru-RU" i="1" dirty="0"/>
              <a:t>Формат: расставьте шаги в правильном порядке от отправки до получения.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А)</a:t>
            </a:r>
            <a:r>
              <a:rPr lang="ru-RU" dirty="0"/>
              <a:t> Канальный уровень добавляет заголовок и </a:t>
            </a:r>
            <a:r>
              <a:rPr lang="ru-RU" dirty="0" err="1"/>
              <a:t>концевик</a:t>
            </a:r>
            <a:r>
              <a:rPr lang="ru-RU" dirty="0"/>
              <a:t> (трейлер), формируя </a:t>
            </a:r>
            <a:r>
              <a:rPr lang="ru-RU" i="1" dirty="0"/>
              <a:t>кадр</a:t>
            </a:r>
            <a:r>
              <a:rPr lang="ru-RU" dirty="0"/>
              <a:t>.</a:t>
            </a:r>
          </a:p>
          <a:p>
            <a:r>
              <a:rPr lang="ru-RU" b="1" dirty="0"/>
              <a:t>Б)</a:t>
            </a:r>
            <a:r>
              <a:rPr lang="ru-RU" dirty="0"/>
              <a:t> Физический уровень передаёт </a:t>
            </a:r>
            <a:r>
              <a:rPr lang="ru-RU" i="1" dirty="0"/>
              <a:t>сырые биты</a:t>
            </a:r>
            <a:r>
              <a:rPr lang="ru-RU" dirty="0"/>
              <a:t> по кабелю / радиоканалу.</a:t>
            </a:r>
          </a:p>
          <a:p>
            <a:r>
              <a:rPr lang="ru-RU" b="1" dirty="0"/>
              <a:t>В)</a:t>
            </a:r>
            <a:r>
              <a:rPr lang="ru-RU" dirty="0"/>
              <a:t> Сетевой уровень разбивает данные на </a:t>
            </a:r>
            <a:r>
              <a:rPr lang="ru-RU" i="1" dirty="0"/>
              <a:t>пакеты</a:t>
            </a:r>
            <a:r>
              <a:rPr lang="ru-RU" dirty="0"/>
              <a:t> и добавляет заголовок маршрутизации.</a:t>
            </a:r>
          </a:p>
          <a:p>
            <a:r>
              <a:rPr lang="ru-RU" b="1" dirty="0"/>
              <a:t>Г)</a:t>
            </a:r>
            <a:r>
              <a:rPr lang="ru-RU" dirty="0"/>
              <a:t> Прикладной уровень генерирует исходное сообщение M</a:t>
            </a:r>
            <a:r>
              <a:rPr lang="ru-RU" i="1" dirty="0"/>
              <a:t>M</a:t>
            </a:r>
            <a:r>
              <a:rPr lang="ru-RU" dirty="0"/>
              <a:t>.</a:t>
            </a:r>
          </a:p>
          <a:p>
            <a:r>
              <a:rPr lang="ru-RU" b="1" dirty="0"/>
              <a:t>Д)</a:t>
            </a:r>
            <a:r>
              <a:rPr lang="ru-RU" dirty="0"/>
              <a:t> Транспортный уровень добавляет свой заголовок (управляющую информацию и адреса портов).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210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Как официально называется «порция данных» на каждом из уровней? Соедините пары: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Транспортный уровень (</a:t>
            </a:r>
            <a:r>
              <a:rPr lang="ru-RU" b="1" dirty="0" err="1"/>
              <a:t>Layer</a:t>
            </a:r>
            <a:r>
              <a:rPr lang="ru-RU" b="1" dirty="0"/>
              <a:t> 4)</a:t>
            </a:r>
            <a:r>
              <a:rPr lang="ru-RU" dirty="0"/>
              <a:t> →→ ???</a:t>
            </a:r>
          </a:p>
          <a:p>
            <a:r>
              <a:rPr lang="ru-RU" b="1" dirty="0"/>
              <a:t>Сетевой уровень (</a:t>
            </a:r>
            <a:r>
              <a:rPr lang="ru-RU" b="1" dirty="0" err="1"/>
              <a:t>Layer</a:t>
            </a:r>
            <a:r>
              <a:rPr lang="ru-RU" b="1" dirty="0"/>
              <a:t> 3)</a:t>
            </a:r>
            <a:r>
              <a:rPr lang="ru-RU" dirty="0"/>
              <a:t> →→ ???</a:t>
            </a:r>
          </a:p>
          <a:p>
            <a:r>
              <a:rPr lang="ru-RU" b="1" dirty="0"/>
              <a:t>Канальный уровень (</a:t>
            </a:r>
            <a:r>
              <a:rPr lang="ru-RU" b="1" dirty="0" err="1"/>
              <a:t>Layer</a:t>
            </a:r>
            <a:r>
              <a:rPr lang="ru-RU" b="1" dirty="0"/>
              <a:t> 2)</a:t>
            </a:r>
            <a:r>
              <a:rPr lang="ru-RU" dirty="0"/>
              <a:t> →→ ???</a:t>
            </a:r>
          </a:p>
          <a:p>
            <a:r>
              <a:rPr lang="ru-RU" b="1" dirty="0"/>
              <a:t>Физический уровень (</a:t>
            </a:r>
            <a:r>
              <a:rPr lang="ru-RU" b="1" dirty="0" err="1"/>
              <a:t>Layer</a:t>
            </a:r>
            <a:r>
              <a:rPr lang="ru-RU" b="1" dirty="0"/>
              <a:t> 1)</a:t>
            </a:r>
            <a:r>
              <a:rPr lang="ru-RU" dirty="0"/>
              <a:t> →→ ???</a:t>
            </a:r>
          </a:p>
          <a:p>
            <a:pPr marL="0" indent="0">
              <a:buNone/>
            </a:pPr>
            <a:r>
              <a:rPr lang="ru-RU" i="1" dirty="0"/>
              <a:t>(Варианты: Бит, Сегмент, Кадр/Фрейм, Пакет)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9630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Разделите сущности на </a:t>
            </a:r>
            <a:r>
              <a:rPr lang="ru-RU" b="1" dirty="0"/>
              <a:t>«С установлением соединения»</a:t>
            </a:r>
            <a:r>
              <a:rPr lang="ru-RU" dirty="0"/>
              <a:t> и </a:t>
            </a:r>
            <a:r>
              <a:rPr lang="ru-RU" b="1" dirty="0"/>
              <a:t>«Без установления соединения»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Телефонный звонок другу.</a:t>
            </a:r>
          </a:p>
          <a:p>
            <a:r>
              <a:rPr lang="ru-RU" dirty="0"/>
              <a:t>Бумажное письмо в почтовом конверте.</a:t>
            </a:r>
          </a:p>
          <a:p>
            <a:r>
              <a:rPr lang="ru-RU" dirty="0"/>
              <a:t>Протокол TCP.</a:t>
            </a:r>
          </a:p>
          <a:p>
            <a:r>
              <a:rPr lang="ru-RU" dirty="0"/>
              <a:t>Протокол UDP.</a:t>
            </a:r>
          </a:p>
        </p:txBody>
      </p:sp>
    </p:spTree>
    <p:extLst>
      <p:ext uri="{BB962C8B-B14F-4D97-AF65-F5344CB8AC3E}">
        <p14:creationId xmlns:p14="http://schemas.microsoft.com/office/powerpoint/2010/main" val="3797661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Bandwidth vs </a:t>
            </a:r>
            <a:r>
              <a:rPr lang="af-ZA" b="1" dirty="0" smtClean="0"/>
              <a:t>Throughput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i="1" dirty="0"/>
              <a:t>«Тариф вашего домашнего интернета — </a:t>
            </a:r>
            <a:r>
              <a:rPr lang="ru-RU" b="1" i="1" dirty="0"/>
              <a:t>500 Мбит/с</a:t>
            </a:r>
            <a:r>
              <a:rPr lang="ru-RU" i="1" dirty="0"/>
              <a:t>. Однако при скачивании игры реальная средняя скорость загрузки составила </a:t>
            </a:r>
            <a:r>
              <a:rPr lang="ru-RU" b="1" i="1" dirty="0"/>
              <a:t>320 Мбит/с</a:t>
            </a:r>
            <a:r>
              <a:rPr lang="ru-RU" i="1" dirty="0" smtClean="0"/>
              <a:t>».</a:t>
            </a:r>
            <a:endParaRPr lang="en-US" i="1" dirty="0" smtClean="0"/>
          </a:p>
          <a:p>
            <a:pPr marL="0" indent="0">
              <a:buNone/>
            </a:pPr>
            <a:r>
              <a:rPr lang="ru-RU" b="1" dirty="0"/>
              <a:t>Вопрос:</a:t>
            </a:r>
            <a:r>
              <a:rPr lang="ru-RU" dirty="0"/>
              <a:t> Какое из этих двух чисел является </a:t>
            </a:r>
            <a:r>
              <a:rPr lang="ru-RU" b="1" dirty="0" err="1"/>
              <a:t>Bandwidth</a:t>
            </a:r>
            <a:r>
              <a:rPr lang="ru-RU" dirty="0"/>
              <a:t> (пропускной способностью канала), а какое — </a:t>
            </a:r>
            <a:r>
              <a:rPr lang="ru-RU" b="1" dirty="0" err="1"/>
              <a:t>Throughput</a:t>
            </a:r>
            <a:r>
              <a:rPr lang="ru-RU" dirty="0"/>
              <a:t> (реальной пропускной способностью)?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784396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Какая сетевая характеристика вызывает эту проблему?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754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Во время </a:t>
            </a:r>
            <a:r>
              <a:rPr lang="ru-RU" dirty="0" err="1"/>
              <a:t>видеозвонка</a:t>
            </a:r>
            <a:r>
              <a:rPr lang="ru-RU" dirty="0"/>
              <a:t> собеседник слышит ваш голос то с ускорением, то с паузами («заикание»), хотя средняя задержка не превышает 40 </a:t>
            </a:r>
            <a:r>
              <a:rPr lang="ru-RU" dirty="0" err="1"/>
              <a:t>мс</a:t>
            </a:r>
            <a:r>
              <a:rPr lang="ru-RU" dirty="0"/>
              <a:t>. Пакеты отправлялись стабильно каждые 30 </a:t>
            </a:r>
            <a:r>
              <a:rPr lang="ru-RU" dirty="0" err="1"/>
              <a:t>мс</a:t>
            </a:r>
            <a:r>
              <a:rPr lang="ru-RU" dirty="0"/>
              <a:t>, но доходили с интервалами: </a:t>
            </a:r>
            <a:r>
              <a:rPr lang="ru-RU" b="1" dirty="0"/>
              <a:t>30 </a:t>
            </a:r>
            <a:r>
              <a:rPr lang="ru-RU" b="1" dirty="0" err="1"/>
              <a:t>мс</a:t>
            </a:r>
            <a:r>
              <a:rPr lang="ru-RU" b="1" dirty="0"/>
              <a:t> →→ 95 </a:t>
            </a:r>
            <a:r>
              <a:rPr lang="ru-RU" b="1" dirty="0" err="1"/>
              <a:t>мс</a:t>
            </a:r>
            <a:r>
              <a:rPr lang="ru-RU" b="1" dirty="0"/>
              <a:t> →→ 15 </a:t>
            </a:r>
            <a:r>
              <a:rPr lang="ru-RU" b="1" dirty="0" err="1"/>
              <a:t>мс</a:t>
            </a:r>
            <a:r>
              <a:rPr lang="ru-RU" b="1" dirty="0"/>
              <a:t> →→ 120 </a:t>
            </a:r>
            <a:r>
              <a:rPr lang="ru-RU" b="1" dirty="0" err="1"/>
              <a:t>мс</a:t>
            </a:r>
            <a:r>
              <a:rPr lang="ru-RU" dirty="0" smtClean="0"/>
              <a:t>.</a:t>
            </a:r>
            <a:endParaRPr lang="en-US" dirty="0" smtClean="0"/>
          </a:p>
          <a:p>
            <a:r>
              <a:rPr lang="ru-RU" b="1" dirty="0"/>
              <a:t>А)</a:t>
            </a:r>
            <a:r>
              <a:rPr lang="ru-RU" dirty="0"/>
              <a:t> Слишком низкий RTT</a:t>
            </a:r>
          </a:p>
          <a:p>
            <a:r>
              <a:rPr lang="ru-RU" b="1" dirty="0"/>
              <a:t>Б)</a:t>
            </a:r>
            <a:r>
              <a:rPr lang="ru-RU" dirty="0"/>
              <a:t> Высокий </a:t>
            </a:r>
            <a:r>
              <a:rPr lang="ru-RU" dirty="0" err="1"/>
              <a:t>джиттер</a:t>
            </a:r>
            <a:r>
              <a:rPr lang="ru-RU" dirty="0"/>
              <a:t> (</a:t>
            </a:r>
            <a:r>
              <a:rPr lang="ru-RU" dirty="0" err="1"/>
              <a:t>Jitter</a:t>
            </a:r>
            <a:r>
              <a:rPr lang="ru-RU" dirty="0"/>
              <a:t>)</a:t>
            </a:r>
          </a:p>
          <a:p>
            <a:r>
              <a:rPr lang="ru-RU" b="1" dirty="0"/>
              <a:t>В)</a:t>
            </a:r>
            <a:r>
              <a:rPr lang="ru-RU" dirty="0"/>
              <a:t> Неправильная </a:t>
            </a:r>
            <a:r>
              <a:rPr lang="ru-RU" dirty="0" err="1"/>
              <a:t>декапсуляция</a:t>
            </a:r>
            <a:endParaRPr lang="ru-RU" dirty="0"/>
          </a:p>
          <a:p>
            <a:r>
              <a:rPr lang="ru-RU" b="1" dirty="0"/>
              <a:t>Г)</a:t>
            </a:r>
            <a:r>
              <a:rPr lang="ru-RU" dirty="0"/>
              <a:t> Переход с модели OSI на TCP/IP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589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Из чего складывается сетевая задержка</a:t>
            </a:r>
            <a:r>
              <a:rPr lang="ru-RU" b="1" dirty="0" smtClean="0"/>
              <a:t>?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5818131"/>
              </p:ext>
            </p:extLst>
          </p:nvPr>
        </p:nvGraphicFramePr>
        <p:xfrm>
          <a:off x="896814" y="2226754"/>
          <a:ext cx="10410094" cy="3576687"/>
        </p:xfrm>
        <a:graphic>
          <a:graphicData uri="http://schemas.openxmlformats.org/drawingml/2006/table">
            <a:tbl>
              <a:tblPr/>
              <a:tblGrid>
                <a:gridCol w="5205047">
                  <a:extLst>
                    <a:ext uri="{9D8B030D-6E8A-4147-A177-3AD203B41FA5}">
                      <a16:colId xmlns:a16="http://schemas.microsoft.com/office/drawing/2014/main" val="3888890095"/>
                    </a:ext>
                  </a:extLst>
                </a:gridCol>
                <a:gridCol w="5205047">
                  <a:extLst>
                    <a:ext uri="{9D8B030D-6E8A-4147-A177-3AD203B41FA5}">
                      <a16:colId xmlns:a16="http://schemas.microsoft.com/office/drawing/2014/main" val="108323516"/>
                    </a:ext>
                  </a:extLst>
                </a:gridCol>
              </a:tblGrid>
              <a:tr h="323795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Название компонента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Описание процесса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6066429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1. Задержка распространения</a:t>
                      </a:r>
                      <a:r>
                        <a:rPr lang="ru-RU" sz="1600" dirty="0">
                          <a:effectLst/>
                        </a:rPr>
                        <a:t> </a:t>
                      </a:r>
                      <a:r>
                        <a:rPr lang="ru-RU" sz="1600" i="1" dirty="0">
                          <a:effectLst/>
                        </a:rPr>
                        <a:t>(</a:t>
                      </a:r>
                      <a:r>
                        <a:rPr lang="ru-RU" sz="1600" i="1" dirty="0" err="1">
                          <a:effectLst/>
                        </a:rPr>
                        <a:t>Propagation</a:t>
                      </a:r>
                      <a:r>
                        <a:rPr lang="ru-RU" sz="1600" i="1" dirty="0">
                          <a:effectLst/>
                        </a:rPr>
                        <a:t> </a:t>
                      </a:r>
                      <a:r>
                        <a:rPr lang="ru-RU" sz="1600" i="1" dirty="0" err="1">
                          <a:effectLst/>
                        </a:rPr>
                        <a:t>Delay</a:t>
                      </a:r>
                      <a:r>
                        <a:rPr lang="ru-RU" sz="1600" i="1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А)</a:t>
                      </a:r>
                      <a:r>
                        <a:rPr lang="ru-RU" sz="1600">
                          <a:effectLst/>
                        </a:rPr>
                        <a:t> Время ожидания пакета в буфере памяти маршрутизатора из-за занятости исходящей линии.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8902853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2. Задержка передачи</a:t>
                      </a:r>
                      <a:r>
                        <a:rPr lang="ru-RU" sz="1600" dirty="0">
                          <a:effectLst/>
                        </a:rPr>
                        <a:t> </a:t>
                      </a:r>
                      <a:r>
                        <a:rPr lang="ru-RU" sz="1600" i="1" dirty="0">
                          <a:effectLst/>
                        </a:rPr>
                        <a:t>(</a:t>
                      </a:r>
                      <a:r>
                        <a:rPr lang="ru-RU" sz="1600" i="1" dirty="0" err="1">
                          <a:effectLst/>
                        </a:rPr>
                        <a:t>Transmission</a:t>
                      </a:r>
                      <a:r>
                        <a:rPr lang="ru-RU" sz="1600" i="1" dirty="0">
                          <a:effectLst/>
                        </a:rPr>
                        <a:t> </a:t>
                      </a:r>
                      <a:r>
                        <a:rPr lang="ru-RU" sz="1600" i="1" dirty="0" err="1">
                          <a:effectLst/>
                        </a:rPr>
                        <a:t>Delay</a:t>
                      </a:r>
                      <a:r>
                        <a:rPr lang="ru-RU" sz="1600" i="1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Б)</a:t>
                      </a:r>
                      <a:r>
                        <a:rPr lang="ru-RU" sz="1600">
                          <a:effectLst/>
                        </a:rPr>
                        <a:t> Время, которое процессор маршрутизатора тратит на проверку заголовков, контрольной суммы и поиск маршрута.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937417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3. Задержка в очереди</a:t>
                      </a:r>
                      <a:r>
                        <a:rPr lang="ru-RU" sz="1600">
                          <a:effectLst/>
                        </a:rPr>
                        <a:t> </a:t>
                      </a:r>
                      <a:r>
                        <a:rPr lang="ru-RU" sz="1600" i="1">
                          <a:effectLst/>
                        </a:rPr>
                        <a:t>(Queuing Delay)</a:t>
                      </a:r>
                      <a:endParaRPr lang="ru-RU" sz="160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В)</a:t>
                      </a:r>
                      <a:r>
                        <a:rPr lang="ru-RU" sz="1600">
                          <a:effectLst/>
                        </a:rPr>
                        <a:t> Время физического движения сигнала (электромагнитной волны) по кабелю от точки А до точки Б со скоростью света.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039251"/>
                  </a:ext>
                </a:extLst>
              </a:tr>
              <a:tr h="804479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effectLst/>
                        </a:rPr>
                        <a:t>4. Задержка обработки</a:t>
                      </a:r>
                      <a:r>
                        <a:rPr lang="ru-RU" sz="1600">
                          <a:effectLst/>
                        </a:rPr>
                        <a:t> </a:t>
                      </a:r>
                      <a:r>
                        <a:rPr lang="ru-RU" sz="1600" i="1">
                          <a:effectLst/>
                        </a:rPr>
                        <a:t>(Processing Delay)</a:t>
                      </a:r>
                      <a:endParaRPr lang="ru-RU" sz="1600">
                        <a:effectLst/>
                      </a:endParaRP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Г)</a:t>
                      </a:r>
                      <a:r>
                        <a:rPr lang="ru-RU" sz="1600" dirty="0">
                          <a:effectLst/>
                        </a:rPr>
                        <a:t> Время, необходимое передатчику, чтобы «вытолкнуть» все биты пакета в кабель (зависит от размера пакета и ширины канала).</a:t>
                      </a:r>
                    </a:p>
                  </a:txBody>
                  <a:tcPr marL="83452" marR="83452" marT="41726" marB="417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125794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-1205405" y="-323165"/>
            <a:ext cx="1462373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48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Уровни стека TCP/IP и единицы данных (PDU</a:t>
            </a:r>
            <a:r>
              <a:rPr lang="ru-RU" b="1" dirty="0" smtClean="0"/>
              <a:t>)</a:t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86122"/>
              </p:ext>
            </p:extLst>
          </p:nvPr>
        </p:nvGraphicFramePr>
        <p:xfrm>
          <a:off x="1141413" y="2822099"/>
          <a:ext cx="9906000" cy="239649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072767915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1406647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Уровень модели </a:t>
                      </a:r>
                      <a:r>
                        <a:rPr lang="af-ZA" dirty="0">
                          <a:effectLst/>
                        </a:rPr>
                        <a:t>TCP/IP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Единица данных (</a:t>
                      </a:r>
                      <a:r>
                        <a:rPr lang="af-ZA">
                          <a:effectLst/>
                        </a:rPr>
                        <a:t>PDU)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6809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1. Прикладной уровень</a:t>
                      </a:r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af-ZA" i="1" dirty="0">
                          <a:effectLst/>
                        </a:rPr>
                        <a:t>Application)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А)</a:t>
                      </a:r>
                      <a:r>
                        <a:rPr lang="ru-RU">
                          <a:effectLst/>
                        </a:rPr>
                        <a:t> Пакет </a:t>
                      </a:r>
                      <a:r>
                        <a:rPr lang="ru-RU" i="1">
                          <a:effectLst/>
                        </a:rPr>
                        <a:t>(</a:t>
                      </a:r>
                      <a:r>
                        <a:rPr lang="af-ZA" i="1">
                          <a:effectLst/>
                        </a:rPr>
                        <a:t>Packet)</a:t>
                      </a:r>
                      <a:r>
                        <a:rPr lang="af-ZA">
                          <a:effectLst/>
                        </a:rPr>
                        <a:t> / IP-</a:t>
                      </a:r>
                      <a:r>
                        <a:rPr lang="ru-RU">
                          <a:effectLst/>
                        </a:rPr>
                        <a:t>дейтаграмма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1183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2. Транспортный уровень</a:t>
                      </a:r>
                      <a:r>
                        <a:rPr lang="ru-RU" dirty="0">
                          <a:effectLst/>
                        </a:rPr>
                        <a:t>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af-ZA" i="1" dirty="0">
                          <a:effectLst/>
                        </a:rPr>
                        <a:t>Transport)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Б)</a:t>
                      </a:r>
                      <a:r>
                        <a:rPr lang="ru-RU" dirty="0">
                          <a:effectLst/>
                        </a:rPr>
                        <a:t> Кадр / Фрейм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af-ZA" i="1" dirty="0">
                          <a:effectLst/>
                        </a:rPr>
                        <a:t>Frame)</a:t>
                      </a:r>
                      <a:endParaRPr lang="af-ZA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8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3. Межсетевой / Сетевой уровень</a:t>
                      </a:r>
                      <a:r>
                        <a:rPr lang="ru-RU">
                          <a:effectLst/>
                        </a:rPr>
                        <a:t> </a:t>
                      </a:r>
                      <a:r>
                        <a:rPr lang="ru-RU" i="1">
                          <a:effectLst/>
                        </a:rPr>
                        <a:t>(Internet / Network)</a:t>
                      </a:r>
                      <a:endParaRPr lang="ru-RU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В)</a:t>
                      </a:r>
                      <a:r>
                        <a:rPr lang="ru-RU" dirty="0">
                          <a:effectLst/>
                        </a:rPr>
                        <a:t> Сообщение / Данные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ru-RU" i="1" dirty="0" err="1">
                          <a:effectLst/>
                        </a:rPr>
                        <a:t>Data</a:t>
                      </a:r>
                      <a:r>
                        <a:rPr lang="ru-RU" i="1" dirty="0">
                          <a:effectLst/>
                        </a:rPr>
                        <a:t> / </a:t>
                      </a:r>
                      <a:r>
                        <a:rPr lang="ru-RU" i="1" dirty="0" err="1">
                          <a:effectLst/>
                        </a:rPr>
                        <a:t>Message</a:t>
                      </a:r>
                      <a:r>
                        <a:rPr lang="ru-RU" i="1" dirty="0">
                          <a:effectLst/>
                        </a:rPr>
                        <a:t>)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8905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1">
                          <a:effectLst/>
                        </a:rPr>
                        <a:t>4. Канальный уровень / Доступа к сети</a:t>
                      </a:r>
                      <a:r>
                        <a:rPr lang="ru-RU">
                          <a:effectLst/>
                        </a:rPr>
                        <a:t> </a:t>
                      </a:r>
                      <a:r>
                        <a:rPr lang="ru-RU" i="1">
                          <a:effectLst/>
                        </a:rPr>
                        <a:t>(Data Link)</a:t>
                      </a:r>
                      <a:endParaRPr lang="ru-RU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1" dirty="0">
                          <a:effectLst/>
                        </a:rPr>
                        <a:t>Г)</a:t>
                      </a:r>
                      <a:r>
                        <a:rPr lang="ru-RU" dirty="0">
                          <a:effectLst/>
                        </a:rPr>
                        <a:t> Сегмент </a:t>
                      </a:r>
                      <a:r>
                        <a:rPr lang="ru-RU" i="1" dirty="0">
                          <a:effectLst/>
                        </a:rPr>
                        <a:t>(</a:t>
                      </a:r>
                      <a:r>
                        <a:rPr lang="ru-RU" i="1" dirty="0" err="1">
                          <a:effectLst/>
                        </a:rPr>
                        <a:t>Segment</a:t>
                      </a:r>
                      <a:r>
                        <a:rPr lang="ru-RU" i="1" dirty="0">
                          <a:effectLst/>
                        </a:rPr>
                        <a:t>)</a:t>
                      </a:r>
                      <a:r>
                        <a:rPr lang="ru-RU" dirty="0">
                          <a:effectLst/>
                        </a:rPr>
                        <a:t> / Дейтаграмма </a:t>
                      </a:r>
                      <a:r>
                        <a:rPr lang="ru-RU" i="1" dirty="0">
                          <a:effectLst/>
                        </a:rPr>
                        <a:t>(UDP)</a:t>
                      </a:r>
                      <a:endParaRPr lang="ru-RU" dirty="0">
                        <a:effectLst/>
                      </a:endParaRP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3200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20771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135</TotalTime>
  <Words>435</Words>
  <Application>Microsoft Office PowerPoint</Application>
  <PresentationFormat>Широкоэкранный</PresentationFormat>
  <Paragraphs>158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Trebuchet MS</vt:lpstr>
      <vt:lpstr>Tw Cen MT</vt:lpstr>
      <vt:lpstr>Контур</vt:lpstr>
      <vt:lpstr>Архитектура сетей и показатели производительности  </vt:lpstr>
      <vt:lpstr>Архитектурные принципы проектирования сетей</vt:lpstr>
      <vt:lpstr>Архитектурные принципы проектирования сетей</vt:lpstr>
      <vt:lpstr>Архитектурные принципы проектирования сетей</vt:lpstr>
      <vt:lpstr>Протоколы, интерфейсы и стек</vt:lpstr>
      <vt:lpstr>Механизм передачи данных: Инкапсуляция и Декапсуляция</vt:lpstr>
      <vt:lpstr>Презентация PowerPoint</vt:lpstr>
      <vt:lpstr>Классы сервисов</vt:lpstr>
      <vt:lpstr>7-уровневая эталонная модель OSI</vt:lpstr>
      <vt:lpstr>Презентация PowerPoint</vt:lpstr>
      <vt:lpstr>Модель TCP/IP в сравнении с моделью OSI</vt:lpstr>
      <vt:lpstr>Презентация PowerPoint</vt:lpstr>
      <vt:lpstr>Стек протоколов</vt:lpstr>
      <vt:lpstr>Производительность сети: Скорость передачи</vt:lpstr>
      <vt:lpstr>Разница между Bandwidth и Throughput </vt:lpstr>
      <vt:lpstr>Производительность сети: Временны́е характеристики</vt:lpstr>
      <vt:lpstr>Jitter</vt:lpstr>
      <vt:lpstr>Презентация PowerPoint</vt:lpstr>
      <vt:lpstr>«Путь конверта» (Инкапсуляция) Формат: расставьте шаги в правильном порядке от отправки до получения. </vt:lpstr>
      <vt:lpstr>Как официально называется «порция данных» на каждом из уровней? Соедините пары:</vt:lpstr>
      <vt:lpstr>Разделите сущности на «С установлением соединения» и «Без установления соединения»:</vt:lpstr>
      <vt:lpstr>Bandwidth vs Throughput</vt:lpstr>
      <vt:lpstr>Какая сетевая характеристика вызывает эту проблему?</vt:lpstr>
      <vt:lpstr>Из чего складывается сетевая задержка?</vt:lpstr>
      <vt:lpstr>Уровни стека TCP/IP и единицы данных (PDU)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сетей и показатели производительности  </dc:title>
  <dc:creator>Тимур А. Нахтигаль</dc:creator>
  <cp:lastModifiedBy>Тимур А. Нахтигаль</cp:lastModifiedBy>
  <cp:revision>19</cp:revision>
  <dcterms:created xsi:type="dcterms:W3CDTF">2026-08-27T11:10:36Z</dcterms:created>
  <dcterms:modified xsi:type="dcterms:W3CDTF">2026-09-02T11:33:36Z</dcterms:modified>
</cp:coreProperties>
</file>