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95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202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24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819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754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624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732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430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3687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594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58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75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195826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923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53224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138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7510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763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5207A7-6A00-4516-866C-43D057526ED9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5883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Канальный уровень. Кодирование, кадрирование и классический </a:t>
            </a:r>
            <a:r>
              <a:rPr lang="ru-RU" b="1" dirty="0" err="1" smtClean="0"/>
              <a:t>Ethernet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8495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Основные задачи канального 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Кодирование (</a:t>
            </a:r>
            <a:r>
              <a:rPr lang="ru-RU" b="1" dirty="0" err="1"/>
              <a:t>Encoding</a:t>
            </a:r>
            <a:r>
              <a:rPr lang="ru-RU" b="1" dirty="0"/>
              <a:t>):</a:t>
            </a:r>
            <a:r>
              <a:rPr lang="ru-RU" dirty="0"/>
              <a:t> преобразование бит в физические сигналы (напряжение, свет, радиоволна).</a:t>
            </a:r>
          </a:p>
          <a:p>
            <a:r>
              <a:rPr lang="ru-RU" b="1" dirty="0"/>
              <a:t>Кадрирование (</a:t>
            </a:r>
            <a:r>
              <a:rPr lang="ru-RU" b="1" dirty="0" err="1"/>
              <a:t>Framing</a:t>
            </a:r>
            <a:r>
              <a:rPr lang="ru-RU" b="1" dirty="0"/>
              <a:t>):</a:t>
            </a:r>
            <a:r>
              <a:rPr lang="ru-RU" dirty="0"/>
              <a:t> выделение границ сообщений (кадров/фреймов) из непрерывного потока сигналов.</a:t>
            </a:r>
          </a:p>
          <a:p>
            <a:r>
              <a:rPr lang="ru-RU" b="1" dirty="0"/>
              <a:t>Обнаружение ошибок (</a:t>
            </a:r>
            <a:r>
              <a:rPr lang="ru-RU" b="1" dirty="0" err="1"/>
              <a:t>Error</a:t>
            </a:r>
            <a:r>
              <a:rPr lang="ru-RU" b="1" dirty="0"/>
              <a:t> </a:t>
            </a:r>
            <a:r>
              <a:rPr lang="ru-RU" b="1" dirty="0" err="1"/>
              <a:t>Detection</a:t>
            </a:r>
            <a:r>
              <a:rPr lang="ru-RU" b="1" dirty="0"/>
              <a:t>):</a:t>
            </a:r>
            <a:r>
              <a:rPr lang="ru-RU" dirty="0"/>
              <a:t> выявление повреждений битов из-за шумов в среде (контрольные суммы, CRC).</a:t>
            </a:r>
          </a:p>
          <a:p>
            <a:r>
              <a:rPr lang="ru-RU" b="1" dirty="0"/>
              <a:t>Обеспечение надежности (</a:t>
            </a:r>
            <a:r>
              <a:rPr lang="ru-RU" b="1" dirty="0" err="1"/>
              <a:t>Reliability</a:t>
            </a:r>
            <a:r>
              <a:rPr lang="ru-RU" b="1" dirty="0"/>
              <a:t>):</a:t>
            </a:r>
            <a:r>
              <a:rPr lang="ru-RU" dirty="0"/>
              <a:t> повторная передача утерянных данных (в TCP/IP вынесено на транспортный уровень TCP).</a:t>
            </a:r>
          </a:p>
          <a:p>
            <a:r>
              <a:rPr lang="ru-RU" b="1" dirty="0"/>
              <a:t>Управление доступом к среде (MAC):</a:t>
            </a:r>
            <a:r>
              <a:rPr lang="ru-RU" dirty="0"/>
              <a:t> координация узлов при разделении общего физического канала.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147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Физическое </a:t>
            </a:r>
            <a:r>
              <a:rPr lang="ru-RU" b="1" dirty="0" smtClean="0"/>
              <a:t>кодирование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1911655"/>
            <a:ext cx="9970721" cy="445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 smtClean="0"/>
              <a:t>4B/5B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3350" y="967154"/>
            <a:ext cx="4463327" cy="5404338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653796" y="2842736"/>
            <a:ext cx="5291147" cy="16825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 defTabSz="914400"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ru-RU" sz="1900" b="1" dirty="0" err="1"/>
              <a:t>Baud</a:t>
            </a:r>
            <a:r>
              <a:rPr lang="ru-RU" sz="1900" b="1" dirty="0"/>
              <a:t> </a:t>
            </a:r>
            <a:r>
              <a:rPr lang="ru-RU" sz="1900" b="1" dirty="0" err="1"/>
              <a:t>rate</a:t>
            </a:r>
            <a:r>
              <a:rPr lang="ru-RU" sz="1900" b="1" dirty="0"/>
              <a:t> (</a:t>
            </a:r>
            <a:r>
              <a:rPr lang="ru-RU" sz="1900" b="1" dirty="0" err="1"/>
              <a:t>Бодовая</a:t>
            </a:r>
            <a:r>
              <a:rPr lang="ru-RU" sz="1900" b="1" dirty="0"/>
              <a:t> скорость) — число изменений состояния сигнала в секунду.</a:t>
            </a:r>
          </a:p>
          <a:p>
            <a:pPr marL="228600" indent="-228600" defTabSz="914400"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ru-RU" sz="1900" b="1" dirty="0" err="1"/>
              <a:t>Bit</a:t>
            </a:r>
            <a:r>
              <a:rPr lang="ru-RU" sz="1900" b="1" dirty="0"/>
              <a:t> </a:t>
            </a:r>
            <a:r>
              <a:rPr lang="ru-RU" sz="1900" b="1" dirty="0" err="1"/>
              <a:t>rate</a:t>
            </a:r>
            <a:r>
              <a:rPr lang="ru-RU" sz="1900" b="1" dirty="0"/>
              <a:t> (Битовая скорость, пропускная способность) — число переданных бит данных в секунду.</a:t>
            </a:r>
          </a:p>
        </p:txBody>
      </p:sp>
    </p:spTree>
    <p:extLst>
      <p:ext uri="{BB962C8B-B14F-4D97-AF65-F5344CB8AC3E}">
        <p14:creationId xmlns:p14="http://schemas.microsoft.com/office/powerpoint/2010/main" val="949396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Кадрирование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097088"/>
            <a:ext cx="9905999" cy="3541714"/>
          </a:xfrm>
        </p:spPr>
        <p:txBody>
          <a:bodyPr/>
          <a:lstStyle/>
          <a:p>
            <a:r>
              <a:rPr lang="ru-RU" dirty="0" smtClean="0"/>
              <a:t>Байт-ориентированные (</a:t>
            </a:r>
            <a:r>
              <a:rPr lang="en-US" dirty="0" smtClean="0"/>
              <a:t>PPP):</a:t>
            </a:r>
          </a:p>
          <a:p>
            <a:pPr lvl="1"/>
            <a:r>
              <a:rPr lang="ru-RU" dirty="0"/>
              <a:t>Данные рассматриваются как цепочка байтов (октетов).</a:t>
            </a:r>
          </a:p>
          <a:p>
            <a:pPr lvl="1"/>
            <a:r>
              <a:rPr lang="ru-RU" dirty="0"/>
              <a:t>Границы выделяются служебными символами (флагами начала и конца).</a:t>
            </a:r>
          </a:p>
          <a:p>
            <a:pPr lvl="1"/>
            <a:r>
              <a:rPr lang="ru-RU" dirty="0"/>
              <a:t>Для предотвращения ложного распознавания флагов используется </a:t>
            </a:r>
            <a:r>
              <a:rPr lang="en-US" b="1" dirty="0"/>
              <a:t>Byte-Staffing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4553747"/>
            <a:ext cx="8134350" cy="1143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125" y="4706147"/>
            <a:ext cx="81343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52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Кадрирование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097088"/>
            <a:ext cx="9905999" cy="3541714"/>
          </a:xfrm>
        </p:spPr>
        <p:txBody>
          <a:bodyPr/>
          <a:lstStyle/>
          <a:p>
            <a:r>
              <a:rPr lang="ru-RU" dirty="0" smtClean="0"/>
              <a:t>Бит-ориентированные (</a:t>
            </a:r>
            <a:r>
              <a:rPr lang="en-US" dirty="0" smtClean="0"/>
              <a:t>HDLC):</a:t>
            </a:r>
          </a:p>
          <a:p>
            <a:pPr lvl="1"/>
            <a:r>
              <a:rPr lang="ru-RU" dirty="0"/>
              <a:t>Данные рассматриваются как непрерывный поток бит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 smtClean="0"/>
              <a:t>Флаг границы: последовательность 01111110.</a:t>
            </a:r>
          </a:p>
          <a:p>
            <a:pPr lvl="1"/>
            <a:r>
              <a:rPr lang="en-US" b="1" dirty="0" smtClean="0"/>
              <a:t>Bit-staffing (</a:t>
            </a:r>
            <a:r>
              <a:rPr lang="ru-RU" b="1" dirty="0"/>
              <a:t>вставка битов): </a:t>
            </a:r>
            <a:r>
              <a:rPr lang="ru-RU" dirty="0"/>
              <a:t>передатчик после любых 5 единиц подряд всегда вставляет 0. Приемник видит 5 </a:t>
            </a:r>
            <a:r>
              <a:rPr lang="ru-RU" dirty="0" smtClean="0"/>
              <a:t>единиц:</a:t>
            </a:r>
            <a:endParaRPr lang="en-US" dirty="0"/>
          </a:p>
          <a:p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162" y="4567237"/>
            <a:ext cx="9531635" cy="153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41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Обнаружение ошибок: Контрольные суммы и CRC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CRC-32 (</a:t>
            </a:r>
            <a:r>
              <a:rPr lang="ru-RU" b="1" dirty="0" err="1"/>
              <a:t>Cyclic</a:t>
            </a:r>
            <a:r>
              <a:rPr lang="ru-RU" b="1" dirty="0"/>
              <a:t> </a:t>
            </a:r>
            <a:r>
              <a:rPr lang="ru-RU" b="1" dirty="0" err="1"/>
              <a:t>Redundancy</a:t>
            </a:r>
            <a:r>
              <a:rPr lang="ru-RU" b="1" dirty="0"/>
              <a:t> </a:t>
            </a:r>
            <a:r>
              <a:rPr lang="ru-RU" b="1" dirty="0" err="1"/>
              <a:t>Check</a:t>
            </a:r>
            <a:r>
              <a:rPr lang="ru-RU" b="1" dirty="0"/>
              <a:t>):</a:t>
            </a:r>
            <a:r>
              <a:rPr lang="ru-RU" dirty="0"/>
              <a:t> циклический избыточный код, полиномиальный алгоритм. Добавляет 32 бита (4 байта) к кадру, гарантирует обнаружение практически любых случайных пакетов ошибок.</a:t>
            </a:r>
          </a:p>
          <a:p>
            <a:r>
              <a:rPr lang="ru-RU" b="1" dirty="0"/>
              <a:t>Механизм надежной доставки (ARQ):</a:t>
            </a:r>
            <a:endParaRPr lang="ru-RU" dirty="0"/>
          </a:p>
          <a:p>
            <a:pPr lvl="1"/>
            <a:r>
              <a:rPr lang="ru-RU" b="1" dirty="0"/>
              <a:t>ACK (Подтверждение)</a:t>
            </a:r>
            <a:r>
              <a:rPr lang="ru-RU" dirty="0"/>
              <a:t> — уведомление о корректном приеме.</a:t>
            </a:r>
          </a:p>
          <a:p>
            <a:pPr lvl="1"/>
            <a:r>
              <a:rPr lang="ru-RU" b="1" dirty="0" err="1"/>
              <a:t>Timeout</a:t>
            </a:r>
            <a:r>
              <a:rPr lang="ru-RU" b="1" dirty="0"/>
              <a:t> (Тайм-аут)</a:t>
            </a:r>
            <a:r>
              <a:rPr lang="ru-RU" dirty="0"/>
              <a:t> — время ожидания ACK, по истечении которого узел выполняет повторную отправку (</a:t>
            </a:r>
            <a:r>
              <a:rPr lang="ru-RU" dirty="0" err="1"/>
              <a:t>Retransmission</a:t>
            </a:r>
            <a:r>
              <a:rPr lang="ru-RU" dirty="0"/>
              <a:t>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0335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Сети с множественным доступом, </a:t>
            </a:r>
            <a:r>
              <a:rPr lang="ru-RU" b="1" dirty="0" err="1"/>
              <a:t>Ethernet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Эволюция физического уровня </a:t>
            </a:r>
            <a:r>
              <a:rPr lang="af-ZA" b="1" dirty="0" smtClean="0"/>
              <a:t>Ethernet</a:t>
            </a:r>
            <a:r>
              <a:rPr lang="ru-RU" b="1" dirty="0" smtClean="0"/>
              <a:t>:</a:t>
            </a:r>
            <a:endParaRPr lang="af-ZA" b="1" dirty="0"/>
          </a:p>
          <a:p>
            <a:r>
              <a:rPr lang="af-ZA" b="1" dirty="0"/>
              <a:t>10BASE5 (Thicknet):</a:t>
            </a:r>
            <a:r>
              <a:rPr lang="af-ZA" dirty="0"/>
              <a:t> </a:t>
            </a:r>
            <a:r>
              <a:rPr lang="ru-RU" dirty="0"/>
              <a:t>толстый коаксиал 500 м, шина, «</a:t>
            </a:r>
            <a:r>
              <a:rPr lang="ru-RU" dirty="0" err="1"/>
              <a:t>вампирчики</a:t>
            </a:r>
            <a:r>
              <a:rPr lang="ru-RU" dirty="0"/>
              <a:t>», 10 Мбит/с.</a:t>
            </a:r>
          </a:p>
          <a:p>
            <a:r>
              <a:rPr lang="ru-RU" b="1" dirty="0"/>
              <a:t>10</a:t>
            </a:r>
            <a:r>
              <a:rPr lang="af-ZA" b="1" dirty="0"/>
              <a:t>BASE2 (Thinnet):</a:t>
            </a:r>
            <a:r>
              <a:rPr lang="af-ZA" dirty="0"/>
              <a:t> </a:t>
            </a:r>
            <a:r>
              <a:rPr lang="ru-RU" dirty="0"/>
              <a:t>тонкий коаксиал 185 м, </a:t>
            </a:r>
            <a:r>
              <a:rPr lang="af-ZA" dirty="0"/>
              <a:t>BNC-</a:t>
            </a:r>
            <a:r>
              <a:rPr lang="ru-RU" dirty="0"/>
              <a:t>тройники, 10 Мбит/с.</a:t>
            </a:r>
          </a:p>
          <a:p>
            <a:r>
              <a:rPr lang="ru-RU" b="1" dirty="0"/>
              <a:t>10</a:t>
            </a:r>
            <a:r>
              <a:rPr lang="af-ZA" b="1" dirty="0"/>
              <a:t>BASE-T:</a:t>
            </a:r>
            <a:r>
              <a:rPr lang="af-ZA" dirty="0"/>
              <a:t> </a:t>
            </a:r>
            <a:r>
              <a:rPr lang="ru-RU" dirty="0"/>
              <a:t>витая пара </a:t>
            </a:r>
            <a:r>
              <a:rPr lang="af-ZA" dirty="0"/>
              <a:t>Cat.3, </a:t>
            </a:r>
            <a:r>
              <a:rPr lang="ru-RU" dirty="0"/>
              <a:t>топология «звезда» через </a:t>
            </a:r>
            <a:r>
              <a:rPr lang="ru-RU" dirty="0" err="1"/>
              <a:t>хабы</a:t>
            </a:r>
            <a:r>
              <a:rPr lang="ru-RU" dirty="0"/>
              <a:t> (логически — общая шина), сегмент до 100 м.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678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Формат кадра </a:t>
            </a:r>
            <a:r>
              <a:rPr lang="af-ZA" b="1" dirty="0"/>
              <a:t>Ethernet </a:t>
            </a:r>
            <a:r>
              <a:rPr lang="af-ZA" b="1" dirty="0" smtClean="0"/>
              <a:t>II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3" y="1878012"/>
            <a:ext cx="9926638" cy="3541714"/>
          </a:xfrm>
        </p:spPr>
        <p:txBody>
          <a:bodyPr/>
          <a:lstStyle/>
          <a:p>
            <a:r>
              <a:rPr lang="ru-RU" dirty="0" smtClean="0"/>
              <a:t>Преамбула + </a:t>
            </a:r>
            <a:r>
              <a:rPr lang="en-US" dirty="0" smtClean="0"/>
              <a:t>SFD: 7 + 1 </a:t>
            </a:r>
            <a:r>
              <a:rPr lang="ru-RU" dirty="0" smtClean="0"/>
              <a:t>байт.</a:t>
            </a:r>
          </a:p>
          <a:p>
            <a:r>
              <a:rPr lang="en-US" dirty="0" smtClean="0"/>
              <a:t>MAC </a:t>
            </a:r>
            <a:r>
              <a:rPr lang="en-US" dirty="0" err="1" smtClean="0"/>
              <a:t>Dest</a:t>
            </a:r>
            <a:r>
              <a:rPr lang="en-US" dirty="0" smtClean="0"/>
              <a:t> / MAC </a:t>
            </a:r>
            <a:r>
              <a:rPr lang="en-US" dirty="0" err="1" smtClean="0"/>
              <a:t>Src</a:t>
            </a:r>
            <a:r>
              <a:rPr lang="en-US" dirty="0" smtClean="0"/>
              <a:t>: </a:t>
            </a:r>
            <a:r>
              <a:rPr lang="ru-RU" dirty="0" smtClean="0"/>
              <a:t>по 6 байт.</a:t>
            </a:r>
          </a:p>
          <a:p>
            <a:r>
              <a:rPr lang="en-US" dirty="0" smtClean="0"/>
              <a:t>Type (</a:t>
            </a:r>
            <a:r>
              <a:rPr lang="en-US" dirty="0" err="1" smtClean="0"/>
              <a:t>EtherType</a:t>
            </a:r>
            <a:r>
              <a:rPr lang="en-US" dirty="0" smtClean="0"/>
              <a:t>): 2 </a:t>
            </a:r>
            <a:r>
              <a:rPr lang="ru-RU" dirty="0" smtClean="0"/>
              <a:t>байта (</a:t>
            </a:r>
            <a:r>
              <a:rPr lang="ru-RU" dirty="0"/>
              <a:t>демультиплексирование</a:t>
            </a:r>
            <a:r>
              <a:rPr lang="ru-RU" dirty="0" smtClean="0"/>
              <a:t>, 0</a:t>
            </a:r>
            <a:r>
              <a:rPr lang="en-US" dirty="0" smtClean="0"/>
              <a:t>x0800 </a:t>
            </a:r>
            <a:r>
              <a:rPr lang="ru-RU" dirty="0" smtClean="0"/>
              <a:t>для </a:t>
            </a:r>
            <a:r>
              <a:rPr lang="en-US" dirty="0" smtClean="0"/>
              <a:t>IPv4)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en-US" dirty="0" smtClean="0"/>
              <a:t>Payload: 45-1500 </a:t>
            </a:r>
            <a:r>
              <a:rPr lang="ru-RU" dirty="0" smtClean="0"/>
              <a:t>байт.</a:t>
            </a:r>
          </a:p>
          <a:p>
            <a:r>
              <a:rPr lang="en-US" dirty="0" smtClean="0"/>
              <a:t>FCS (CRC-32): 4 </a:t>
            </a:r>
            <a:r>
              <a:rPr lang="ru-RU" dirty="0" smtClean="0"/>
              <a:t>байта.</a:t>
            </a:r>
          </a:p>
          <a:p>
            <a:r>
              <a:rPr lang="ru-RU" dirty="0" smtClean="0"/>
              <a:t>Минимальная длина кадра: 64 байта.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593" y="5419726"/>
            <a:ext cx="8021637" cy="127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660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 на канальном уровне (MAC-адрес)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5466" y="2097088"/>
            <a:ext cx="5377892" cy="437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844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1008062" y="1401762"/>
            <a:ext cx="10345738" cy="4022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Первые 24 бита (3 октета): OUI (</a:t>
            </a:r>
            <a:r>
              <a:rPr lang="ru-RU" sz="2400" dirty="0" err="1"/>
              <a:t>Organizationally</a:t>
            </a:r>
            <a:r>
              <a:rPr lang="ru-RU" sz="2400" dirty="0"/>
              <a:t> </a:t>
            </a:r>
            <a:r>
              <a:rPr lang="ru-RU" sz="2400" dirty="0" err="1"/>
              <a:t>Unique</a:t>
            </a:r>
            <a:r>
              <a:rPr lang="ru-RU" sz="2400" dirty="0"/>
              <a:t> </a:t>
            </a:r>
            <a:r>
              <a:rPr lang="ru-RU" sz="2400" dirty="0" err="1"/>
              <a:t>Identifier</a:t>
            </a:r>
            <a:r>
              <a:rPr lang="ru-RU" sz="2400" dirty="0"/>
              <a:t>) — код производителя от IEEE.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Последние 24 бита (3 октета): назначаются производителем.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Младшие биты первого байта</a:t>
            </a:r>
            <a:r>
              <a:rPr lang="ru-RU" sz="2400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Бит 0 (</a:t>
            </a:r>
            <a:r>
              <a:rPr lang="af-ZA" sz="2400" dirty="0"/>
              <a:t>I/G — Individual/Group): 0 = Unicast, 1 = Multicast (Broadcast: FF:FF:FF:FF:FF:FF).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Бит 1 (</a:t>
            </a:r>
            <a:r>
              <a:rPr lang="af-ZA" sz="2400" dirty="0"/>
              <a:t>U/L — Universal/Local): 0 = </a:t>
            </a:r>
            <a:r>
              <a:rPr lang="ru-RU" sz="2400" dirty="0"/>
              <a:t>Глобально уникальный (</a:t>
            </a:r>
            <a:r>
              <a:rPr lang="af-ZA" sz="2400" dirty="0"/>
              <a:t>OUI), 1 = </a:t>
            </a:r>
            <a:r>
              <a:rPr lang="ru-RU" sz="2400" dirty="0"/>
              <a:t>Локально администрируемый (</a:t>
            </a:r>
            <a:r>
              <a:rPr lang="af-ZA" sz="2400" dirty="0"/>
              <a:t>LLA).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17849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Алгоритм </a:t>
            </a:r>
            <a:r>
              <a:rPr lang="en-US" b="1" dirty="0" smtClean="0"/>
              <a:t>CSMA/CD 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af-ZA" b="1" dirty="0" smtClean="0"/>
              <a:t>Carrier </a:t>
            </a:r>
            <a:r>
              <a:rPr lang="af-ZA" b="1" dirty="0"/>
              <a:t>Sense:</a:t>
            </a:r>
            <a:r>
              <a:rPr lang="af-ZA" dirty="0"/>
              <a:t> </a:t>
            </a:r>
            <a:r>
              <a:rPr lang="ru-RU" dirty="0"/>
              <a:t>слушай линию перед передачей (если занято — жди).</a:t>
            </a:r>
          </a:p>
          <a:p>
            <a:r>
              <a:rPr lang="af-ZA" b="1" dirty="0"/>
              <a:t>Multiple Access:</a:t>
            </a:r>
            <a:r>
              <a:rPr lang="af-ZA" dirty="0"/>
              <a:t> </a:t>
            </a:r>
            <a:r>
              <a:rPr lang="ru-RU" dirty="0"/>
              <a:t>среда общая, передавать могут все.</a:t>
            </a:r>
          </a:p>
          <a:p>
            <a:r>
              <a:rPr lang="af-ZA" b="1" dirty="0"/>
              <a:t>Collision Detect:</a:t>
            </a:r>
            <a:r>
              <a:rPr lang="af-ZA" dirty="0"/>
              <a:t> </a:t>
            </a:r>
            <a:r>
              <a:rPr lang="ru-RU" dirty="0"/>
              <a:t>слушай линию </a:t>
            </a:r>
            <a:r>
              <a:rPr lang="ru-RU" b="1" dirty="0"/>
              <a:t>во время</a:t>
            </a:r>
            <a:r>
              <a:rPr lang="ru-RU" dirty="0"/>
              <a:t> передачи:</a:t>
            </a:r>
          </a:p>
          <a:p>
            <a:pPr lvl="1"/>
            <a:r>
              <a:rPr lang="ru-RU" dirty="0"/>
              <a:t>Если обнаружена коллизия </a:t>
            </a:r>
            <a:r>
              <a:rPr lang="ru-RU" dirty="0" smtClean="0"/>
              <a:t>→</a:t>
            </a:r>
            <a:r>
              <a:rPr lang="ru-RU" dirty="0"/>
              <a:t> отправь </a:t>
            </a:r>
            <a:r>
              <a:rPr lang="af-ZA" b="1" dirty="0"/>
              <a:t>Jam-</a:t>
            </a:r>
            <a:r>
              <a:rPr lang="ru-RU" b="1" dirty="0"/>
              <a:t>сигнал</a:t>
            </a:r>
            <a:r>
              <a:rPr lang="ru-RU" dirty="0"/>
              <a:t> (32 бита для оповещения всех).</a:t>
            </a:r>
          </a:p>
          <a:p>
            <a:pPr lvl="1"/>
            <a:r>
              <a:rPr lang="ru-RU" dirty="0"/>
              <a:t>Запусти алгоритм </a:t>
            </a:r>
            <a:r>
              <a:rPr lang="af-ZA" b="1" dirty="0"/>
              <a:t>Binary Exponential </a:t>
            </a:r>
            <a:r>
              <a:rPr lang="af-ZA" b="1" dirty="0" smtClean="0"/>
              <a:t>Backoff</a:t>
            </a:r>
            <a:r>
              <a:rPr lang="af-ZA" dirty="0" smtClean="0"/>
              <a:t>:</a:t>
            </a:r>
          </a:p>
          <a:p>
            <a:pPr lvl="1"/>
            <a:r>
              <a:rPr lang="ru-RU" dirty="0" smtClean="0"/>
              <a:t>До </a:t>
            </a:r>
            <a:r>
              <a:rPr lang="ru-RU" dirty="0"/>
              <a:t>16 попыток </a:t>
            </a:r>
            <a:r>
              <a:rPr lang="ru-RU" dirty="0" smtClean="0"/>
              <a:t>→</a:t>
            </a:r>
            <a:r>
              <a:rPr lang="ru-RU" dirty="0"/>
              <a:t> при неудаче отброс кадра (</a:t>
            </a:r>
            <a:r>
              <a:rPr lang="af-ZA" dirty="0"/>
              <a:t>Drop).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731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40</TotalTime>
  <Words>199</Words>
  <Application>Microsoft Office PowerPoint</Application>
  <PresentationFormat>Широкоэкранный</PresentationFormat>
  <Paragraphs>53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Tw Cen MT</vt:lpstr>
      <vt:lpstr>Контур</vt:lpstr>
      <vt:lpstr>Канальный уровень. Кодирование, кадрирование и классический Ethernet</vt:lpstr>
      <vt:lpstr>Основные задачи канального уровня</vt:lpstr>
      <vt:lpstr>Физическое кодирование</vt:lpstr>
      <vt:lpstr>4B/5B</vt:lpstr>
      <vt:lpstr>Кадрирование</vt:lpstr>
      <vt:lpstr>Кадрирование</vt:lpstr>
      <vt:lpstr>Обнаружение ошибок: Контрольные суммы и CRC</vt:lpstr>
      <vt:lpstr>Сети с множественным доступом, Ethernet</vt:lpstr>
      <vt:lpstr>Формат кадра Ethernet II</vt:lpstr>
      <vt:lpstr>Адресация на канальном уровне (MAC-адрес)</vt:lpstr>
      <vt:lpstr>Презентация PowerPoint</vt:lpstr>
      <vt:lpstr>Алгоритм CSMA/CD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Канальный уровень. Кодирование, кадрирование и классический Ethernet</dc:title>
  <dc:creator>Тимур А. Нахтигаль</dc:creator>
  <cp:lastModifiedBy>Тимур А. Нахтигаль</cp:lastModifiedBy>
  <cp:revision>5</cp:revision>
  <dcterms:created xsi:type="dcterms:W3CDTF">2026-08-27T11:23:28Z</dcterms:created>
  <dcterms:modified xsi:type="dcterms:W3CDTF">2026-08-27T12:03:57Z</dcterms:modified>
</cp:coreProperties>
</file>