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8" r:id="rId12"/>
    <p:sldId id="269" r:id="rId13"/>
    <p:sldId id="266" r:id="rId14"/>
    <p:sldId id="267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313" r:id="rId28"/>
    <p:sldId id="282" r:id="rId29"/>
    <p:sldId id="284" r:id="rId30"/>
    <p:sldId id="283" r:id="rId31"/>
    <p:sldId id="314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15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6" r:id="rId59"/>
    <p:sldId id="311" r:id="rId60"/>
    <p:sldId id="312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2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7.15719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6-08T20:13:44.457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0 52 0,'25'0'47,"-25"25"-32,24-25-15,-24 24 0,26-24 16,-26 26-16,25-26 0,-25 25 0,24-25 16,-24 24-16,25-24 0,-25 25 0,26-25 0,-26 26 15,24-26-15,-24 24 0,25-24 0,-25 25 16,25-25-16,-25 25 0,24-25 0,-24 24 0,26-24 0,-26 26 15,25-26-15,-25 25 0,24-25 0,-24 24 0,25-24 0,-25 25 0,26 1 0,-2-26 0,-24 24 16,25-24-16,-25 25 0,25-25 0,-25 26 0,24-2 0,2-24 16,-26 25-16,25 0 0,-25-1 0,24-24 0,1 0 0,-25 26 15,26-1-15,-26-1 0,24-24 0,1 0 16,-25 25-16,25 1 0,1-26 16,-26 24-16,24-24 15,-24 25-15,25-25 0,-25 25 0,25-25 16,-25 26-1,24-26-15,2 0 32,-52 0 93</inkml:trace>
  <inkml:trace contextRef="#ctx0" brushRef="#br0" timeOffset="1850">25 824 0,'24'0'110,"-24"-25"-95,26 25-15,-26-25 16,25 1-16,-25-2 15,24 26-15,-24-25 0,0 1 16,25 24-16,-25-25 0,26 25 0,-26-26 0,0 2 16,24 24-16,-24-25 0,25 25 0,-25-25 15,25 1-15,-25-2 0,24 26 16,-24-25-16,0 1 0,26 24 0,-26-26 16,25 26-16,-25-25 0,0 1 0,24 24 0,-24-25 15,25 25-15,-25-26 0,26 2 16,-26-1-16,24 25 0,-24-25 15,25 25-15,-25-24 16,25 24-16,-25-26 16,24 26-16,-24-25 15,26 25-15,-26-24 0,25 24 16,-25-25-16,24 25 0,-24-26 16,25 26-16,-25-24 15,26 24-15,-26-25 16,24 25-16,-24-25 15,25 25-15,-25-24 32,25 24-17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2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7.15719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6-08T20:13:48.284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0 25 0,'25'0'94,"-1"0"-94,2 0 15,-26 26-15,25-26 0,-25 24 0,24-24 16,-24 25-16,25-25 0,-25 25 0,26-25 16,-26 24-16,24-24 0,-24 26 0,25-26 0,-25 25 15,25-25-15,-25 25 0,24-25 0,-24 24 0,26-24 0,-26 26 16,25-26-16,-25 25 0,24-25 0,-24 24 0,26-24 16,-26 26-16,25-26 0,-25 25 0,24-25 0,-24 24 0,25 1 15,-25 1-15,26-26 0,-26 24 16,24-24-16,-24 25 0,25-25 0,-25 25 15,25-25-15,-25 24 0,24-24 0,-24 26 0,26-26 16,-26 25-16,25-25 0,-25 24 0,24-24 0,-24 25 16,25-25-16,1 0 15,-26 26-15</inkml:trace>
  <inkml:trace contextRef="#ctx0" brushRef="#br0" timeOffset="1089">75 674 0,'25'0'62,"-1"0"-46,1 0-16,-25-26 16,26 26-16,-26-25 0,24 25 0,-24-24 15,25 24-15,-25-25 0,25 25 16,-25-26-16,24 26 0,-24-24 0,0-1 16,26 25-16,-26-25 0,25 25 0,-25-24 0,0-2 15,0 1-15,24 25 0,-24-24 0,26 24 16,-26-25-16,25-1 0,-25 2 15,24 24-15,-24-25 0,0-1 16,25 26-16,-25-24 0,26 24 16,-26-25-16,0 0 0,24 25 0,-24-26 15,0 2-15,25 24 0,-25-25 16,0 0 0,25 25-16,-25-24 0,24 24 15,-24-26 1,26 26-1,-1 0 32,-25-25-47,24 25 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2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7.15719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6-08T20:13:53.896"/>
    </inkml:context>
    <inkml:brush xml:id="br0">
      <inkml:brushProperty name="width" value="0.05" units="cm"/>
      <inkml:brushProperty name="height" value="0.05" units="cm"/>
      <inkml:brushProperty name="color" value="#177D36"/>
      <inkml:brushProperty name="fitToCurve" value="1"/>
    </inkml:brush>
  </inkml:definitions>
  <inkml:trace contextRef="#ctx0" brushRef="#br0">0 352 0,'25'0'78,"-25"24"-62,26-24-1,-26 25 1,24-25-16,1 26 15,-25-2 1,25-24-16,-25 25 16,24 0-16,-24-1 15,26-24-15,-26 26 0,0-1 16,25-25 0,-25 24-16,0 1 15,0 1 1,24-26-16,-24 24 15,25-24-15,-25 25 0,0 0 0,26-25 16,-26 24-16,0 2 0,24-26 16,-24 25-16,25-25 0,-25 24 15,0 1-15,25-25 16,-25 26-16,24-2 16,-24-48 265,0-2-266,0 1 1,0 1 0,26 24-16,-26-25 15,0-1-15,25 26 16,-25-24-16,0-1 0,24 25 16,-24-25-16,0 1 15,25 24-15,-25-26 0,26 26 0,-26-25 16,24 25-16,-24-24 0,25-1 15,0 25-15,-25-26 0,24 2 16,2 24-16,-26-25 0,25 25 16,-25-25-16,0 1 0,24 24 0,1 0 15,-25-26-15,0 1 0,26 25 0,-1-24 16,-1 24-16,-24-25 0,25-1 16,1 26-16,-26-24 0,0-1 15,24 25-15,-24-25 0,25 25 0,-25-24 16,25 24-16,-25-26 0,24 26 15,-24-25-15,26 25 0,-26-24 0,25 24 16,-25-25-16,24 25 16,-24-26-16,25 26 0,-25-25 15,26 25-15,-26-24 16,24 24 0,-24-25-16,-24 25 140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64A1B-B33A-494C-96A5-F502129919B1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99A02-4480-463B-92FE-BF9C862E4D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60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81052cbe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81052cbe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6847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81052cbe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81052cbe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081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955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90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140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35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970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69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60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70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51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939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385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3517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823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159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39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026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858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4063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4CA9E-41A0-4A25-A87E-B4F1E3C13C9C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8650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netacad.sadlab.su/games/binary/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ubnetipv4.com/" TargetMode="External"/><Relationship Id="rId2" Type="http://schemas.openxmlformats.org/officeDocument/2006/relationships/hyperlink" Target="https://www.meridianoutpost.com/resources/etools/network/VLSM-practice-generator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isualsubnetcalc.com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7" Type="http://schemas.openxmlformats.org/officeDocument/2006/relationships/image" Target="../media/image34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8.xml"/><Relationship Id="rId6" Type="http://schemas.openxmlformats.org/officeDocument/2006/relationships/customXml" Target="../ink/ink3.xml"/><Relationship Id="rId5" Type="http://schemas.openxmlformats.org/officeDocument/2006/relationships/image" Target="../media/image33.emf"/><Relationship Id="rId4" Type="http://schemas.openxmlformats.org/officeDocument/2006/relationships/customXml" Target="../ink/ink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Сетевой уровень (L3): Протокол IP, Маршрутизация и адресация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034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Проблемы канального уровня (Зачем нужен L3</a:t>
            </a:r>
            <a:r>
              <a:rPr lang="ru-RU" b="1" dirty="0" smtClean="0"/>
              <a:t>?)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Несовместимость L2-технологий (</a:t>
            </a:r>
            <a:r>
              <a:rPr lang="ru-RU" dirty="0" err="1"/>
              <a:t>Ethernet</a:t>
            </a:r>
            <a:r>
              <a:rPr lang="ru-RU" dirty="0"/>
              <a:t>, </a:t>
            </a:r>
            <a:r>
              <a:rPr lang="ru-RU" dirty="0" err="1"/>
              <a:t>Wi-Fi</a:t>
            </a:r>
            <a:r>
              <a:rPr lang="ru-RU" dirty="0"/>
              <a:t>, PPP).</a:t>
            </a:r>
          </a:p>
          <a:p>
            <a:r>
              <a:rPr lang="ru-RU" dirty="0"/>
              <a:t>Плоская адресация: MAC-адрес привязан к «железу» и не масштабируется.</a:t>
            </a:r>
          </a:p>
          <a:p>
            <a:r>
              <a:rPr lang="ru-RU" dirty="0"/>
              <a:t>Ограничения таблиц коммутации и проблема широковещательного шторма.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299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Функции сетевого уровня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L3 обеспечивает межсетевое взаимодействие, глобальную логическую адресацию и изоляцию широковещательных доменов.</a:t>
            </a:r>
            <a:endParaRPr lang="en-US" b="1" dirty="0" smtClean="0"/>
          </a:p>
          <a:p>
            <a:r>
              <a:rPr lang="ru-RU" b="1" dirty="0" smtClean="0"/>
              <a:t>Услуга </a:t>
            </a:r>
            <a:r>
              <a:rPr lang="ru-RU" b="1" dirty="0"/>
              <a:t>связи «узел-узел». </a:t>
            </a:r>
            <a:r>
              <a:rPr lang="ru-RU" dirty="0" smtClean="0"/>
              <a:t>Сетевой </a:t>
            </a:r>
            <a:r>
              <a:rPr lang="ru-RU" dirty="0"/>
              <a:t>уровень должен обеспечивать связь между узлами, не имеющими возможности связаться напрямую</a:t>
            </a:r>
            <a:r>
              <a:rPr lang="ru-RU" dirty="0" smtClean="0"/>
              <a:t>.</a:t>
            </a:r>
          </a:p>
          <a:p>
            <a:r>
              <a:rPr lang="ru-RU" b="1" dirty="0"/>
              <a:t>Адресация оконечных устройств</a:t>
            </a:r>
            <a:r>
              <a:rPr lang="ru-RU" dirty="0"/>
              <a:t> - Оконечным устройствам необходимо назначить уникальный </a:t>
            </a:r>
            <a:r>
              <a:rPr lang="ru-RU" dirty="0" smtClean="0"/>
              <a:t>адрес </a:t>
            </a:r>
            <a:r>
              <a:rPr lang="ru-RU" dirty="0"/>
              <a:t>для возможности их идентификации в сети.</a:t>
            </a:r>
          </a:p>
          <a:p>
            <a:r>
              <a:rPr lang="ru-RU" b="1" dirty="0"/>
              <a:t>Маршрутизация</a:t>
            </a:r>
            <a:r>
              <a:rPr lang="ru-RU" dirty="0"/>
              <a:t> - Сетевой уровень предоставляет сервисы, с помощью которых пакеты направляются к узлу назначения в другой </a:t>
            </a:r>
            <a:r>
              <a:rPr lang="ru-RU" dirty="0" smtClean="0"/>
              <a:t>сети.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737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/>
              <a:t>IP — Internet </a:t>
            </a:r>
            <a:r>
              <a:rPr lang="af-ZA" b="1" dirty="0" smtClean="0"/>
              <a:t>Protocol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4258" y="2398957"/>
            <a:ext cx="5451924" cy="3541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6332" y="2954215"/>
            <a:ext cx="48066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Протокол IP (</a:t>
            </a:r>
            <a:r>
              <a:rPr lang="ru-RU" dirty="0" err="1"/>
              <a:t>Internet</a:t>
            </a:r>
            <a:r>
              <a:rPr lang="ru-RU" dirty="0"/>
              <a:t> </a:t>
            </a:r>
            <a:r>
              <a:rPr lang="ru-RU" dirty="0" err="1"/>
              <a:t>Protocol</a:t>
            </a:r>
            <a:r>
              <a:rPr lang="ru-RU" dirty="0"/>
              <a:t>) — это "почтальон" интернета, отвечающий за маршрутизацию пакетов данных. Он был создан в 70-х, а в 1983 году стал общеобязательным стандартом, запустив глобальный рост сети. Сегодня мир переходит с версии IPv4 на версию IPv6 из-за нехватки адресов.</a:t>
            </a:r>
          </a:p>
        </p:txBody>
      </p:sp>
    </p:spTree>
    <p:extLst>
      <p:ext uri="{BB962C8B-B14F-4D97-AF65-F5344CB8AC3E}">
        <p14:creationId xmlns:p14="http://schemas.microsoft.com/office/powerpoint/2010/main" val="133278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Инкапсуляция </a:t>
            </a:r>
            <a:r>
              <a:rPr lang="af-ZA" b="1" dirty="0" smtClean="0"/>
              <a:t>IP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7055" y="1899291"/>
            <a:ext cx="7834714" cy="446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9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Инкапсуляция </a:t>
            </a:r>
            <a:r>
              <a:rPr lang="af-ZA" b="1" dirty="0" smtClean="0"/>
              <a:t>IP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4770" y="2249487"/>
            <a:ext cx="9474068" cy="361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9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Инкапсуляция </a:t>
            </a:r>
            <a:r>
              <a:rPr lang="af-ZA" b="1" dirty="0" smtClean="0"/>
              <a:t>IP</a:t>
            </a:r>
            <a:endParaRPr lang="ru-RU" dirty="0"/>
          </a:p>
        </p:txBody>
      </p:sp>
      <p:pic>
        <p:nvPicPr>
          <p:cNvPr id="1028" name="Picture 4" descr="Работа сетевых устройств на уровнях модели OSI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224" y="2097088"/>
            <a:ext cx="9191100" cy="4405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12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Модель </a:t>
            </a:r>
            <a:r>
              <a:rPr lang="ru-RU" b="1" dirty="0" smtClean="0"/>
              <a:t>обслуживания </a:t>
            </a:r>
            <a:r>
              <a:rPr lang="en-US" b="1" dirty="0" smtClean="0"/>
              <a:t>IP – best effort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Без установления соединения </a:t>
            </a:r>
            <a:r>
              <a:rPr lang="ru-RU" dirty="0"/>
              <a:t>- </a:t>
            </a:r>
            <a:r>
              <a:rPr lang="ru-RU" dirty="0" smtClean="0"/>
              <a:t>перед </a:t>
            </a:r>
            <a:r>
              <a:rPr lang="ru-RU" dirty="0"/>
              <a:t>отправкой пакетов данных соединение с хостом назначения не устанавливается.</a:t>
            </a:r>
          </a:p>
          <a:p>
            <a:r>
              <a:rPr lang="ru-RU" b="1" dirty="0"/>
              <a:t>Негарантированная доставка</a:t>
            </a:r>
            <a:r>
              <a:rPr lang="ru-RU" dirty="0"/>
              <a:t> - </a:t>
            </a:r>
            <a:r>
              <a:rPr lang="ru-RU" dirty="0" smtClean="0"/>
              <a:t>IP-протокол </a:t>
            </a:r>
            <a:r>
              <a:rPr lang="ru-RU" dirty="0"/>
              <a:t>по своей сути неустойчив, так как доставка пакетов не гарантируется.</a:t>
            </a:r>
          </a:p>
          <a:p>
            <a:r>
              <a:rPr lang="ru-RU" b="1" dirty="0"/>
              <a:t>Независимость от среды</a:t>
            </a:r>
            <a:r>
              <a:rPr lang="ru-RU" dirty="0"/>
              <a:t> - работа не зависит от средства подключения (медный, оптоволоконный кабель или беспроводная среда).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627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164249"/>
            <a:ext cx="9905998" cy="1478570"/>
          </a:xfrm>
        </p:spPr>
        <p:txBody>
          <a:bodyPr/>
          <a:lstStyle/>
          <a:p>
            <a:r>
              <a:rPr lang="ru-RU" b="1" dirty="0"/>
              <a:t>Формат </a:t>
            </a:r>
            <a:r>
              <a:rPr lang="af-ZA" b="1" dirty="0"/>
              <a:t>IP-</a:t>
            </a:r>
            <a:r>
              <a:rPr lang="ru-RU" b="1" dirty="0" smtClean="0"/>
              <a:t>пакета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8683" y="1642819"/>
            <a:ext cx="6391458" cy="496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3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</a:t>
            </a:r>
            <a:r>
              <a:rPr lang="af-ZA" b="1" dirty="0"/>
              <a:t>IPv4-</a:t>
            </a:r>
            <a:r>
              <a:rPr lang="ru-RU" b="1" dirty="0" smtClean="0"/>
              <a:t>адреса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932964"/>
            <a:ext cx="9905999" cy="170705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IPv4-адрес — это уникальный 32-битный числовой идентификатор, присваиваемый каждому устройству в сети для его идентификации и маршрутизации трафика.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41412" y="45304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539" y="3734217"/>
            <a:ext cx="8855268" cy="283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8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 двоичной в десятичную</a:t>
            </a:r>
            <a:endParaRPr lang="ru-RU" dirty="0"/>
          </a:p>
        </p:txBody>
      </p:sp>
      <p:pic>
        <p:nvPicPr>
          <p:cNvPr id="4098" name="Picture 2" descr="Как переводить из двоичной системы в десятичную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2515" y="1900603"/>
            <a:ext cx="5187462" cy="389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629400" y="3335762"/>
            <a:ext cx="4875211" cy="1020277"/>
          </a:xfrm>
        </p:spPr>
        <p:txBody>
          <a:bodyPr/>
          <a:lstStyle/>
          <a:p>
            <a:r>
              <a:rPr lang="ru-RU" dirty="0" smtClean="0"/>
              <a:t>Нужно выписать значения значащих разрядов и сложить их</a:t>
            </a: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41412" y="45304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58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 десятичной в двоичную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68915" y="1723292"/>
            <a:ext cx="5156565" cy="491490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Делим </a:t>
            </a:r>
            <a:r>
              <a:rPr lang="ru-RU" dirty="0" smtClean="0"/>
              <a:t>n​</a:t>
            </a:r>
            <a:r>
              <a:rPr lang="ru-RU" dirty="0"/>
              <a:t> на 2 и записываем остаток от деления.</a:t>
            </a:r>
          </a:p>
          <a:p>
            <a:r>
              <a:rPr lang="ru-RU" dirty="0"/>
              <a:t>Результат деления вновь делим на 2 и опять записываем остаток.</a:t>
            </a:r>
          </a:p>
          <a:p>
            <a:r>
              <a:rPr lang="ru-RU" dirty="0"/>
              <a:t>Повторяем операцию до тех пор, пока результат деления не будет равен нулю.</a:t>
            </a:r>
          </a:p>
          <a:p>
            <a:r>
              <a:rPr lang="ru-RU" dirty="0"/>
              <a:t>Записываем полученные остатки в обратном порядке. Полученное число и будет </a:t>
            </a:r>
            <a:r>
              <a:rPr lang="ru-RU" dirty="0" smtClean="0"/>
              <a:t>искомым​.</a:t>
            </a: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Binary Game</a:t>
            </a:r>
            <a:endParaRPr lang="ru-RU" dirty="0"/>
          </a:p>
        </p:txBody>
      </p:sp>
      <p:pic>
        <p:nvPicPr>
          <p:cNvPr id="5122" name="Picture 2" descr="Метод подбора степеней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12" y="1928812"/>
            <a:ext cx="4094712" cy="433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35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6244" y="0"/>
            <a:ext cx="9905998" cy="1478570"/>
          </a:xfrm>
        </p:spPr>
        <p:txBody>
          <a:bodyPr/>
          <a:lstStyle/>
          <a:p>
            <a:r>
              <a:rPr lang="ru-RU" b="1" dirty="0"/>
              <a:t>Классовая </a:t>
            </a:r>
            <a:r>
              <a:rPr lang="ru-RU" b="1" dirty="0" smtClean="0"/>
              <a:t>адресация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747" y="1216878"/>
            <a:ext cx="10359292" cy="1444261"/>
          </a:xfrm>
          <a:prstGeom prst="rect">
            <a:avLst/>
          </a:prstGeom>
        </p:spPr>
      </p:pic>
      <p:pic>
        <p:nvPicPr>
          <p:cNvPr id="3074" name="Picture 2" descr="Типы IPv4-адресов. Бесклассовая адресация. CCNA Routing and Switching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037" y="2907323"/>
            <a:ext cx="575310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97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Недостатки классовой адресации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698259"/>
          </a:xfrm>
        </p:spPr>
        <p:txBody>
          <a:bodyPr/>
          <a:lstStyle/>
          <a:p>
            <a:r>
              <a:rPr lang="ru-RU" dirty="0" smtClean="0"/>
              <a:t>Перерасход адресов</a:t>
            </a:r>
          </a:p>
          <a:p>
            <a:r>
              <a:rPr lang="ru-RU" dirty="0" smtClean="0"/>
              <a:t>Отсутствие гибкости</a:t>
            </a:r>
          </a:p>
          <a:p>
            <a:r>
              <a:rPr lang="ru-RU" dirty="0" smtClean="0"/>
              <a:t>Большие таблицы маршрутизации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784081"/>
              </p:ext>
            </p:extLst>
          </p:nvPr>
        </p:nvGraphicFramePr>
        <p:xfrm>
          <a:off x="1371600" y="4100145"/>
          <a:ext cx="3226778" cy="2407920"/>
        </p:xfrm>
        <a:graphic>
          <a:graphicData uri="http://schemas.openxmlformats.org/drawingml/2006/table">
            <a:tbl>
              <a:tblPr/>
              <a:tblGrid>
                <a:gridCol w="712177">
                  <a:extLst>
                    <a:ext uri="{9D8B030D-6E8A-4147-A177-3AD203B41FA5}">
                      <a16:colId xmlns:a16="http://schemas.microsoft.com/office/drawing/2014/main" val="4037843665"/>
                    </a:ext>
                  </a:extLst>
                </a:gridCol>
                <a:gridCol w="2514601">
                  <a:extLst>
                    <a:ext uri="{9D8B030D-6E8A-4147-A177-3AD203B41FA5}">
                      <a16:colId xmlns:a16="http://schemas.microsoft.com/office/drawing/2014/main" val="3603240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Номер сети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Куда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7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757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90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...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69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7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01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15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84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...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882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19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31142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41413" y="25415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119738"/>
              </p:ext>
            </p:extLst>
          </p:nvPr>
        </p:nvGraphicFramePr>
        <p:xfrm>
          <a:off x="7237413" y="4749750"/>
          <a:ext cx="4303713" cy="1108710"/>
        </p:xfrm>
        <a:graphic>
          <a:graphicData uri="http://schemas.openxmlformats.org/drawingml/2006/table">
            <a:tbl>
              <a:tblPr/>
              <a:tblGrid>
                <a:gridCol w="1342761">
                  <a:extLst>
                    <a:ext uri="{9D8B030D-6E8A-4147-A177-3AD203B41FA5}">
                      <a16:colId xmlns:a16="http://schemas.microsoft.com/office/drawing/2014/main" val="4265420527"/>
                    </a:ext>
                  </a:extLst>
                </a:gridCol>
                <a:gridCol w="2960952">
                  <a:extLst>
                    <a:ext uri="{9D8B030D-6E8A-4147-A177-3AD203B41FA5}">
                      <a16:colId xmlns:a16="http://schemas.microsoft.com/office/drawing/2014/main" val="1282782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Номер сети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Куда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242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3-7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586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15-19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434204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141413" y="34655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Стрелка вправо 7"/>
          <p:cNvSpPr/>
          <p:nvPr/>
        </p:nvSpPr>
        <p:spPr>
          <a:xfrm>
            <a:off x="5029200" y="4871670"/>
            <a:ext cx="1951892" cy="7729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84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CIDR (Classless Inter-Domain Routing)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Описана в 1993 году в </a:t>
            </a:r>
            <a:r>
              <a:rPr lang="en-US" dirty="0" smtClean="0"/>
              <a:t>RFC 1517</a:t>
            </a:r>
            <a:endParaRPr lang="ru-RU" dirty="0" smtClean="0"/>
          </a:p>
          <a:p>
            <a:r>
              <a:rPr lang="ru-RU" dirty="0" smtClean="0"/>
              <a:t>Размер сети определяется «маской подсети»</a:t>
            </a:r>
            <a:endParaRPr lang="en-US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749" y="3732757"/>
            <a:ext cx="9621593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9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Связь адреса IPv4 с маской </a:t>
            </a:r>
            <a:r>
              <a:rPr lang="ru-RU" dirty="0" smtClean="0"/>
              <a:t>подсети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1285" y="2284658"/>
            <a:ext cx="8486253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9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1" y="328372"/>
            <a:ext cx="9905998" cy="1478570"/>
          </a:xfrm>
        </p:spPr>
        <p:txBody>
          <a:bodyPr/>
          <a:lstStyle/>
          <a:p>
            <a:r>
              <a:rPr lang="ru-RU" dirty="0" smtClean="0"/>
              <a:t>использование </a:t>
            </a:r>
            <a:r>
              <a:rPr lang="ru-RU" dirty="0"/>
              <a:t>масок подсети фиксированной длины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842" y="1660219"/>
            <a:ext cx="5544539" cy="4740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1238" y="2994247"/>
            <a:ext cx="44550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192.168.20.0/24</a:t>
            </a:r>
            <a:endParaRPr lang="ru-RU" dirty="0" smtClean="0"/>
          </a:p>
          <a:p>
            <a:endParaRPr lang="ru-RU" dirty="0"/>
          </a:p>
          <a:p>
            <a:r>
              <a:rPr lang="ru-RU" dirty="0" smtClean="0"/>
              <a:t>11000000.10101000.00010100 </a:t>
            </a:r>
            <a:r>
              <a:rPr lang="ru-RU" dirty="0"/>
              <a:t>.00000000</a:t>
            </a:r>
          </a:p>
          <a:p>
            <a:r>
              <a:rPr lang="ru-RU" dirty="0"/>
              <a:t>11111111.11111111.11111111 .00000000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382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масок подсети фиксированной длины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8707" y="2097088"/>
            <a:ext cx="6626482" cy="438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01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Маски подсети переменной длины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3096" y="1850904"/>
            <a:ext cx="5222631" cy="456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01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Маски подсети переменной длины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384" y="2097088"/>
            <a:ext cx="4648434" cy="39806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286" y="1977598"/>
            <a:ext cx="442912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2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Маски подсети переменной длины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6261" y="2003303"/>
            <a:ext cx="7716302" cy="440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0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Маски подсети переменной длины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5168" y="1976926"/>
            <a:ext cx="7481663" cy="442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4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habrastorage.org/r/w1560/files/17e/37d/ae9/17e37dae9b9243989f885ae09755f2ac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139" y="1357803"/>
            <a:ext cx="7015722" cy="4188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24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habrastorage.org/r/w1560/files/3c5/b2c/b94/3c5b2cb942294979be6a9c3178ed342e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223" y="969654"/>
            <a:ext cx="8123553" cy="4918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20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s://habrastorage.org/r/w1560/files/8c1/e59/da0/8c1e59da02724c7daf54d17ae1d6b1b8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529" y="1151301"/>
            <a:ext cx="7570941" cy="455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10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af-ZA" sz="3600" dirty="0" smtClean="0">
                <a:hlinkClick r:id="rId2"/>
              </a:rPr>
              <a:t>meridianoutpost.com</a:t>
            </a:r>
            <a:endParaRPr lang="af-ZA" sz="3600" dirty="0" smtClean="0"/>
          </a:p>
          <a:p>
            <a:pPr marL="0" indent="0" algn="ctr">
              <a:buNone/>
            </a:pPr>
            <a:r>
              <a:rPr lang="af-ZA" sz="3600" dirty="0" smtClean="0">
                <a:hlinkClick r:id="rId3"/>
              </a:rPr>
              <a:t>subnetipv4.com</a:t>
            </a:r>
            <a:endParaRPr lang="af-ZA" sz="3600" dirty="0" smtClean="0"/>
          </a:p>
          <a:p>
            <a:pPr marL="0" indent="0" algn="ctr">
              <a:buNone/>
            </a:pPr>
            <a:r>
              <a:rPr lang="af-ZA" sz="3600" dirty="0">
                <a:hlinkClick r:id="rId4"/>
              </a:rPr>
              <a:t>visualsubnetcalc.com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75353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Прямая и косвенная доставка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936" y="2249488"/>
            <a:ext cx="8652953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14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Маршрутизация и пересылка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7997" y="2003303"/>
            <a:ext cx="5472829" cy="430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6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TTL – Time to live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9743" y="2249488"/>
            <a:ext cx="7609339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3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маршрутизации</a:t>
            </a:r>
            <a:endParaRPr lang="ru-RU" dirty="0"/>
          </a:p>
        </p:txBody>
      </p:sp>
      <p:pic>
        <p:nvPicPr>
          <p:cNvPr id="6" name="Google Shape;424;p72"/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559" y="2775658"/>
            <a:ext cx="6373103" cy="3660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2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6752" y="1773864"/>
            <a:ext cx="7526802" cy="1188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7206762" y="3929442"/>
            <a:ext cx="4896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Прямо подключённые сети (</a:t>
            </a:r>
            <a:r>
              <a:rPr lang="ru-RU" dirty="0" err="1"/>
              <a:t>connected</a:t>
            </a:r>
            <a:r>
              <a:rPr lang="ru-RU" dirty="0"/>
              <a:t>). 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</a:t>
            </a:r>
            <a:r>
              <a:rPr lang="ru-RU" dirty="0" smtClean="0"/>
              <a:t>татические </a:t>
            </a:r>
            <a:r>
              <a:rPr lang="ru-RU" dirty="0"/>
              <a:t>маршруты. 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Динамические </a:t>
            </a:r>
            <a:r>
              <a:rPr lang="ru-RU" dirty="0"/>
              <a:t>маршруты. </a:t>
            </a:r>
          </a:p>
        </p:txBody>
      </p:sp>
    </p:spTree>
    <p:extLst>
      <p:ext uri="{BB962C8B-B14F-4D97-AF65-F5344CB8AC3E}">
        <p14:creationId xmlns:p14="http://schemas.microsoft.com/office/powerpoint/2010/main" val="387375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маршрутизации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275" y="2553289"/>
            <a:ext cx="8964276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6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ru" dirty="0"/>
              <a:t>Использование сетевой маски</a:t>
            </a:r>
            <a:r>
              <a:rPr lang="en-US" dirty="0"/>
              <a:t> </a:t>
            </a:r>
            <a:r>
              <a:rPr lang="ru-RU" dirty="0"/>
              <a:t>для определения принадлежности узла к сети</a:t>
            </a:r>
            <a:endParaRPr dirty="0"/>
          </a:p>
        </p:txBody>
      </p:sp>
      <p:sp>
        <p:nvSpPr>
          <p:cNvPr id="173" name="Google Shape;173;p33"/>
          <p:cNvSpPr txBox="1"/>
          <p:nvPr/>
        </p:nvSpPr>
        <p:spPr>
          <a:xfrm>
            <a:off x="2397133" y="2058300"/>
            <a:ext cx="72800" cy="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2400">
              <a:solidFill>
                <a:schemeClr val="dk2"/>
              </a:solidFill>
            </a:endParaRPr>
          </a:p>
        </p:txBody>
      </p:sp>
      <p:sp>
        <p:nvSpPr>
          <p:cNvPr id="174" name="Google Shape;174;p33"/>
          <p:cNvSpPr txBox="1"/>
          <p:nvPr/>
        </p:nvSpPr>
        <p:spPr>
          <a:xfrm>
            <a:off x="415600" y="1785801"/>
            <a:ext cx="11360800" cy="16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/>
            <a:r>
              <a:rPr lang="ru" sz="4667" b="1" dirty="0"/>
              <a:t>     192     .     168     .      10      .      </a:t>
            </a:r>
            <a:r>
              <a:rPr lang="ru" sz="4667" b="1" dirty="0" smtClean="0"/>
              <a:t>0      </a:t>
            </a:r>
            <a:r>
              <a:rPr lang="en-US" sz="4667" b="1" dirty="0" smtClean="0"/>
              <a:t>/24</a:t>
            </a:r>
            <a:endParaRPr sz="4667" b="1" dirty="0"/>
          </a:p>
          <a:p>
            <a:r>
              <a:rPr lang="ru" sz="4667" b="1" dirty="0"/>
              <a:t>11000000 10101000 00001010 </a:t>
            </a:r>
            <a:r>
              <a:rPr lang="ru" sz="4667" b="1" dirty="0" smtClean="0"/>
              <a:t>00000000</a:t>
            </a:r>
            <a:endParaRPr sz="4667" b="1" dirty="0"/>
          </a:p>
        </p:txBody>
      </p:sp>
      <p:sp>
        <p:nvSpPr>
          <p:cNvPr id="175" name="Google Shape;175;p33"/>
          <p:cNvSpPr txBox="1"/>
          <p:nvPr/>
        </p:nvSpPr>
        <p:spPr>
          <a:xfrm>
            <a:off x="415600" y="4314367"/>
            <a:ext cx="11360800" cy="16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/>
            <a:r>
              <a:rPr lang="ru" sz="4667" b="1" dirty="0"/>
              <a:t>     172     .      20      .       1      .       7</a:t>
            </a:r>
            <a:endParaRPr sz="4667" b="1" dirty="0"/>
          </a:p>
          <a:p>
            <a:r>
              <a:rPr lang="ru" sz="4667" b="1" dirty="0"/>
              <a:t>10101100 00010100 00000001 00000111</a:t>
            </a:r>
            <a:endParaRPr sz="4667" b="1" dirty="0"/>
          </a:p>
        </p:txBody>
      </p:sp>
    </p:spTree>
    <p:extLst>
      <p:ext uri="{BB962C8B-B14F-4D97-AF65-F5344CB8AC3E}">
        <p14:creationId xmlns:p14="http://schemas.microsoft.com/office/powerpoint/2010/main" val="401906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ru" dirty="0"/>
              <a:t>Использование сетевой маски</a:t>
            </a:r>
            <a:r>
              <a:rPr lang="en-US" dirty="0"/>
              <a:t> </a:t>
            </a:r>
            <a:r>
              <a:rPr lang="ru-RU" dirty="0"/>
              <a:t>для определения принадлежности узла к сети</a:t>
            </a:r>
            <a:endParaRPr dirty="0"/>
          </a:p>
        </p:txBody>
      </p:sp>
      <p:sp>
        <p:nvSpPr>
          <p:cNvPr id="173" name="Google Shape;173;p33"/>
          <p:cNvSpPr txBox="1"/>
          <p:nvPr/>
        </p:nvSpPr>
        <p:spPr>
          <a:xfrm>
            <a:off x="2397133" y="2058300"/>
            <a:ext cx="72800" cy="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2400">
              <a:solidFill>
                <a:schemeClr val="dk2"/>
              </a:solidFill>
            </a:endParaRPr>
          </a:p>
        </p:txBody>
      </p:sp>
      <p:sp>
        <p:nvSpPr>
          <p:cNvPr id="174" name="Google Shape;174;p33"/>
          <p:cNvSpPr txBox="1"/>
          <p:nvPr/>
        </p:nvSpPr>
        <p:spPr>
          <a:xfrm>
            <a:off x="415600" y="1785801"/>
            <a:ext cx="11360800" cy="16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/>
            <a:r>
              <a:rPr lang="ru" sz="4667" b="1" dirty="0"/>
              <a:t>     192     .     168     .      10      .      </a:t>
            </a:r>
            <a:r>
              <a:rPr lang="ru" sz="4667" b="1" dirty="0" smtClean="0"/>
              <a:t>0      </a:t>
            </a:r>
            <a:r>
              <a:rPr lang="en-US" sz="4667" b="1" dirty="0" smtClean="0"/>
              <a:t>/24</a:t>
            </a:r>
            <a:endParaRPr sz="4667" b="1" dirty="0"/>
          </a:p>
          <a:p>
            <a:r>
              <a:rPr lang="ru" sz="4667" b="1" dirty="0"/>
              <a:t>11000000 10101000 00001010 </a:t>
            </a:r>
            <a:r>
              <a:rPr lang="ru" sz="4667" b="1" dirty="0" smtClean="0"/>
              <a:t>00000000</a:t>
            </a:r>
            <a:endParaRPr sz="4667" b="1" dirty="0"/>
          </a:p>
        </p:txBody>
      </p:sp>
      <p:sp>
        <p:nvSpPr>
          <p:cNvPr id="175" name="Google Shape;175;p33"/>
          <p:cNvSpPr txBox="1"/>
          <p:nvPr/>
        </p:nvSpPr>
        <p:spPr>
          <a:xfrm>
            <a:off x="415600" y="4314367"/>
            <a:ext cx="11360800" cy="16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/>
            <a:r>
              <a:rPr lang="ru" sz="4667" b="1" dirty="0"/>
              <a:t>     172     .      20      .       1      .       7</a:t>
            </a:r>
            <a:endParaRPr sz="4667" b="1" dirty="0"/>
          </a:p>
          <a:p>
            <a:r>
              <a:rPr lang="ru" sz="4667" b="1" dirty="0"/>
              <a:t>10101100 00010100 00000001 00000111</a:t>
            </a:r>
            <a:endParaRPr sz="4667" b="1" dirty="0"/>
          </a:p>
        </p:txBody>
      </p:sp>
      <p:pic>
        <p:nvPicPr>
          <p:cNvPr id="6" name="Google Shape;18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5994" y="719718"/>
            <a:ext cx="5511260" cy="635808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5;p34"/>
          <p:cNvSpPr txBox="1"/>
          <p:nvPr/>
        </p:nvSpPr>
        <p:spPr>
          <a:xfrm>
            <a:off x="9248377" y="3233527"/>
            <a:ext cx="15534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6400" b="1" dirty="0">
                <a:solidFill>
                  <a:schemeClr val="dk2"/>
                </a:solidFill>
              </a:rPr>
              <a:t>/24</a:t>
            </a:r>
            <a:endParaRPr sz="6400" b="1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13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Логическое И</a:t>
            </a:r>
            <a:endParaRPr lang="ru-RU" dirty="0"/>
          </a:p>
        </p:txBody>
      </p:sp>
      <p:pic>
        <p:nvPicPr>
          <p:cNvPr id="6" name="Google Shape;191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9475" y="1993671"/>
            <a:ext cx="6553050" cy="3843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04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/>
              <a:t>Использование сетевой маски</a:t>
            </a:r>
            <a:r>
              <a:rPr lang="en-US" dirty="0"/>
              <a:t> </a:t>
            </a:r>
            <a:r>
              <a:rPr lang="ru-RU" dirty="0"/>
              <a:t>для определения принадлежности узла к сети</a:t>
            </a:r>
          </a:p>
        </p:txBody>
      </p:sp>
      <p:sp>
        <p:nvSpPr>
          <p:cNvPr id="4" name="Google Shape;211;p38"/>
          <p:cNvSpPr txBox="1">
            <a:spLocks noGrp="1"/>
          </p:cNvSpPr>
          <p:nvPr>
            <p:ph type="body" idx="1"/>
          </p:nvPr>
        </p:nvSpPr>
        <p:spPr>
          <a:xfrm>
            <a:off x="1933739" y="1712480"/>
            <a:ext cx="8740123" cy="465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 b="1" dirty="0"/>
              <a:t>     </a:t>
            </a:r>
            <a:r>
              <a:rPr lang="ru" sz="3500" dirty="0"/>
              <a:t>172     .      20      .       1      .       7</a:t>
            </a:r>
            <a:endParaRPr sz="3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 b="1" dirty="0"/>
              <a:t>10101100 00010100 00000001 00000111</a:t>
            </a:r>
            <a:endParaRPr sz="3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b="1" dirty="0"/>
              <a:t>     </a:t>
            </a:r>
            <a:r>
              <a:rPr lang="ru" sz="3400" dirty="0"/>
              <a:t>255     .     255     .      255    .        0</a:t>
            </a:r>
            <a:endParaRPr sz="3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b="1" dirty="0"/>
              <a:t>11111111 11111111  11111111 00000000</a:t>
            </a:r>
            <a:endParaRPr sz="3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b="1" dirty="0"/>
              <a:t>__________________________________</a:t>
            </a:r>
            <a:endParaRPr sz="3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b="1" dirty="0"/>
              <a:t>    </a:t>
            </a:r>
            <a:r>
              <a:rPr lang="ru" sz="3500" dirty="0"/>
              <a:t>172     .      20      .       1      .        0</a:t>
            </a:r>
            <a:endParaRPr sz="3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 dirty="0"/>
              <a:t>10101100 00010100 00000001</a:t>
            </a:r>
            <a:r>
              <a:rPr lang="ru" sz="3400" b="1" dirty="0"/>
              <a:t> 00000000</a:t>
            </a:r>
            <a:endParaRPr sz="3500" b="1" dirty="0"/>
          </a:p>
        </p:txBody>
      </p:sp>
    </p:spTree>
    <p:extLst>
      <p:ext uri="{BB962C8B-B14F-4D97-AF65-F5344CB8AC3E}">
        <p14:creationId xmlns:p14="http://schemas.microsoft.com/office/powerpoint/2010/main" val="222900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Исключающее </a:t>
            </a:r>
            <a:r>
              <a:rPr lang="ru" b="1" dirty="0"/>
              <a:t>или не</a:t>
            </a:r>
            <a:endParaRPr lang="ru-RU" dirty="0"/>
          </a:p>
        </p:txBody>
      </p:sp>
      <p:pic>
        <p:nvPicPr>
          <p:cNvPr id="7" name="Google Shape;217;p39"/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27277" y="2476195"/>
            <a:ext cx="5534269" cy="3388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819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Использование сетевой маски</a:t>
            </a:r>
            <a:r>
              <a:rPr lang="en-US" dirty="0"/>
              <a:t> </a:t>
            </a:r>
            <a:r>
              <a:rPr lang="ru-RU" dirty="0"/>
              <a:t>для определения принадлежности узла к сети</a:t>
            </a:r>
          </a:p>
        </p:txBody>
      </p:sp>
      <p:sp>
        <p:nvSpPr>
          <p:cNvPr id="4" name="Google Shape;224;p40"/>
          <p:cNvSpPr txBox="1">
            <a:spLocks noGrp="1"/>
          </p:cNvSpPr>
          <p:nvPr>
            <p:ph idx="1"/>
          </p:nvPr>
        </p:nvSpPr>
        <p:spPr>
          <a:xfrm>
            <a:off x="1809627" y="1880210"/>
            <a:ext cx="9905999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b="1" dirty="0"/>
              <a:t>    </a:t>
            </a:r>
            <a:r>
              <a:rPr lang="ru" sz="3400" dirty="0"/>
              <a:t>192     .     168      .      10        .        0</a:t>
            </a:r>
            <a:endParaRPr sz="3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b="1" dirty="0"/>
              <a:t>11000000 10101000  00001010 00000000</a:t>
            </a:r>
            <a:endParaRPr sz="3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 dirty="0"/>
              <a:t>    </a:t>
            </a:r>
            <a:r>
              <a:rPr lang="ru" sz="3500" dirty="0"/>
              <a:t>172     .      20      .       1        .        0</a:t>
            </a:r>
            <a:endParaRPr sz="3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 b="1" dirty="0"/>
              <a:t>10101100 00010100 00000001</a:t>
            </a:r>
            <a:r>
              <a:rPr lang="ru" sz="3400" b="1" dirty="0"/>
              <a:t> 00000000</a:t>
            </a:r>
            <a:endParaRPr sz="3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 dirty="0"/>
              <a:t>__________________________________</a:t>
            </a:r>
            <a:endParaRPr sz="3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 dirty="0"/>
              <a:t>10010011  01000011 11110100 11111111</a:t>
            </a:r>
            <a:endParaRPr sz="3400" b="1" dirty="0"/>
          </a:p>
        </p:txBody>
      </p:sp>
    </p:spTree>
    <p:extLst>
      <p:ext uri="{BB962C8B-B14F-4D97-AF65-F5344CB8AC3E}">
        <p14:creationId xmlns:p14="http://schemas.microsoft.com/office/powerpoint/2010/main" val="314057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828153"/>
              </p:ext>
            </p:extLst>
          </p:nvPr>
        </p:nvGraphicFramePr>
        <p:xfrm>
          <a:off x="344969" y="1922648"/>
          <a:ext cx="7452090" cy="189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36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2495865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2495865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473691">
                <a:tc>
                  <a:txBody>
                    <a:bodyPr/>
                    <a:lstStyle/>
                    <a:p>
                      <a:r>
                        <a:rPr lang="ru-RU" sz="1800" b="1" dirty="0"/>
                        <a:t>Адрес сети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Маска сети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Шлюз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473691">
                <a:tc>
                  <a:txBody>
                    <a:bodyPr/>
                    <a:lstStyle/>
                    <a:p>
                      <a:r>
                        <a:rPr lang="en-US" sz="1800" b="1" dirty="0"/>
                        <a:t>192.168.10.0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255.255.255.0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On-Link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473691">
                <a:tc>
                  <a:txBody>
                    <a:bodyPr/>
                    <a:lstStyle/>
                    <a:p>
                      <a:r>
                        <a:rPr lang="en-US" sz="1800" b="1" dirty="0"/>
                        <a:t>172.20.20.0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255.255.240.0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192.168.10.1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473691">
                <a:tc>
                  <a:txBody>
                    <a:bodyPr/>
                    <a:lstStyle/>
                    <a:p>
                      <a:r>
                        <a:rPr lang="ru-RU" sz="1800" b="1" dirty="0"/>
                        <a:t>0</a:t>
                      </a:r>
                      <a:r>
                        <a:rPr lang="en-US" sz="1800" b="1" dirty="0"/>
                        <a:t>.0.0.0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800" b="1" dirty="0"/>
                        <a:t>0</a:t>
                      </a:r>
                      <a:r>
                        <a:rPr lang="en-US" sz="1800" b="1" dirty="0"/>
                        <a:t>.0.0.0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192.168.10.1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89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628624" y="1107559"/>
            <a:ext cx="2000869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/>
              <a:t>192.168.10.101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48401" y="1333261"/>
            <a:ext cx="2380223" cy="110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724158" y="4380587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ru-RU" sz="1600" dirty="0"/>
              <a:t>11000000.10101000.00001010.00000000</a:t>
            </a:r>
            <a:r>
              <a:rPr lang="en-US" sz="1600" dirty="0"/>
              <a:t>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ru-RU" sz="1600" dirty="0"/>
              <a:t>11000000.10101000.00001010.00000000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11111111.11111111.11111111.11111111 – </a:t>
            </a:r>
            <a:r>
              <a:rPr lang="ru-RU" sz="1600" dirty="0">
                <a:solidFill>
                  <a:srgbClr val="00B050"/>
                </a:solidFill>
              </a:rPr>
              <a:t>полное совпадение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496282" y="2985334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11000000.10101000.00001010.01100101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11111111.11111111.11111111.00000000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11000000.10101000.00001010.00000000 – адрес сети назначения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81BD27-27B5-4550-AF60-C6DE5F08894B}"/>
              </a:ext>
            </a:extLst>
          </p:cNvPr>
          <p:cNvSpPr txBox="1"/>
          <p:nvPr/>
        </p:nvSpPr>
        <p:spPr>
          <a:xfrm>
            <a:off x="7895517" y="782893"/>
            <a:ext cx="416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 с первой строкой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AB67FEE-A490-4835-A4EA-AE12F1FE8FF4}"/>
              </a:ext>
            </a:extLst>
          </p:cNvPr>
          <p:cNvSpPr/>
          <p:nvPr/>
        </p:nvSpPr>
        <p:spPr>
          <a:xfrm>
            <a:off x="4930587" y="5753450"/>
            <a:ext cx="52802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Сеть подключена к нам напрямую (</a:t>
            </a:r>
            <a:r>
              <a:rPr lang="en-US" sz="1600" b="1" dirty="0"/>
              <a:t>On-Link</a:t>
            </a:r>
            <a:r>
              <a:rPr lang="ru-RU" sz="16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590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045918" y="1359203"/>
            <a:ext cx="1709122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/>
              <a:t>1</a:t>
            </a:r>
            <a:r>
              <a:rPr lang="ru-RU" sz="2133" b="1" dirty="0"/>
              <a:t>72</a:t>
            </a:r>
            <a:r>
              <a:rPr lang="en-US" sz="2133" b="1" dirty="0"/>
              <a:t>.</a:t>
            </a:r>
            <a:r>
              <a:rPr lang="ru-RU" sz="2133" b="1" dirty="0"/>
              <a:t>20</a:t>
            </a:r>
            <a:r>
              <a:rPr lang="en-US" sz="2133" b="1" dirty="0"/>
              <a:t>.</a:t>
            </a:r>
            <a:r>
              <a:rPr lang="ru-RU" sz="2133" b="1" dirty="0"/>
              <a:t>30</a:t>
            </a:r>
            <a:r>
              <a:rPr lang="en-US" sz="2133" b="1" dirty="0"/>
              <a:t>.</a:t>
            </a:r>
            <a:r>
              <a:rPr lang="ru-RU" sz="2133" b="1" dirty="0"/>
              <a:t>97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320117" y="1426577"/>
            <a:ext cx="1725800" cy="158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872170" y="4188538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000101</a:t>
            </a:r>
            <a:r>
              <a:rPr lang="en-US" sz="1600" dirty="0"/>
              <a:t>00</a:t>
            </a:r>
            <a:r>
              <a:rPr lang="ru-RU" sz="1600" dirty="0"/>
              <a:t>.00000000</a:t>
            </a:r>
            <a:r>
              <a:rPr lang="en-US" sz="1600" dirty="0"/>
              <a:t>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ru-RU" sz="1600" dirty="0"/>
              <a:t>11000000.10101000.00001010.00000000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10010011.01000011.11100001.11111111 – </a:t>
            </a:r>
            <a:r>
              <a:rPr lang="ru-RU" sz="1600" dirty="0">
                <a:solidFill>
                  <a:srgbClr val="C00000"/>
                </a:solidFill>
              </a:rPr>
              <a:t>нет совпадения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000101</a:t>
            </a:r>
            <a:r>
              <a:rPr lang="en-US" sz="1600" dirty="0"/>
              <a:t>00.01100101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11111111.11111111.1111</a:t>
            </a:r>
            <a:r>
              <a:rPr lang="ru-RU" sz="1600" dirty="0"/>
              <a:t>1111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000101</a:t>
            </a:r>
            <a:r>
              <a:rPr lang="en-US" sz="1600" dirty="0"/>
              <a:t>00</a:t>
            </a:r>
            <a:r>
              <a:rPr lang="ru-RU" sz="1600" dirty="0"/>
              <a:t>.00000000 – адрес сети назначения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5B5BD-1A0F-466D-91A1-0B726B801297}"/>
              </a:ext>
            </a:extLst>
          </p:cNvPr>
          <p:cNvSpPr txBox="1"/>
          <p:nvPr/>
        </p:nvSpPr>
        <p:spPr>
          <a:xfrm>
            <a:off x="7183018" y="1016209"/>
            <a:ext cx="416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 с первой строкой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41C9CF-B4B4-48C9-B18C-80BD544A113E}"/>
              </a:ext>
            </a:extLst>
          </p:cNvPr>
          <p:cNvSpPr/>
          <p:nvPr/>
        </p:nvSpPr>
        <p:spPr>
          <a:xfrm>
            <a:off x="4930587" y="5753450"/>
            <a:ext cx="52802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Продолжаем поиск со следующей строки</a:t>
            </a:r>
          </a:p>
        </p:txBody>
      </p:sp>
    </p:spTree>
    <p:extLst>
      <p:ext uri="{BB962C8B-B14F-4D97-AF65-F5344CB8AC3E}">
        <p14:creationId xmlns:p14="http://schemas.microsoft.com/office/powerpoint/2010/main" val="325771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/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045918" y="1359203"/>
            <a:ext cx="1709122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/>
              <a:t>1</a:t>
            </a:r>
            <a:r>
              <a:rPr lang="ru-RU" sz="2133" b="1" dirty="0"/>
              <a:t>72</a:t>
            </a:r>
            <a:r>
              <a:rPr lang="en-US" sz="2133" b="1" dirty="0"/>
              <a:t>.</a:t>
            </a:r>
            <a:r>
              <a:rPr lang="ru-RU" sz="2133" b="1" dirty="0"/>
              <a:t>20</a:t>
            </a:r>
            <a:r>
              <a:rPr lang="en-US" sz="2133" b="1" dirty="0"/>
              <a:t>.</a:t>
            </a:r>
            <a:r>
              <a:rPr lang="ru-RU" sz="2133" b="1" dirty="0"/>
              <a:t>30</a:t>
            </a:r>
            <a:r>
              <a:rPr lang="en-US" sz="2133" b="1" dirty="0"/>
              <a:t>.</a:t>
            </a:r>
            <a:r>
              <a:rPr lang="ru-RU" sz="2133" b="1" dirty="0"/>
              <a:t>97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12541" y="1584906"/>
            <a:ext cx="1833376" cy="225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724158" y="4307617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00010000.00000000</a:t>
            </a:r>
            <a:r>
              <a:rPr lang="en-US" sz="1600" dirty="0"/>
              <a:t>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00010000.00000000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11111111.11111111.11111111.11111111 – </a:t>
            </a:r>
            <a:r>
              <a:rPr lang="ru-RU" sz="1600" dirty="0">
                <a:solidFill>
                  <a:srgbClr val="00B050"/>
                </a:solidFill>
              </a:rPr>
              <a:t>есть полное совпадение!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621787" y="291456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000101</a:t>
            </a:r>
            <a:r>
              <a:rPr lang="en-US" sz="1600" dirty="0"/>
              <a:t>00.01100101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11111111.11111111.1111</a:t>
            </a:r>
            <a:r>
              <a:rPr lang="ru-RU" sz="1600" dirty="0"/>
              <a:t>0000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00010000.00000000 – адрес сети назначения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5B5BD-1A0F-466D-91A1-0B726B801297}"/>
              </a:ext>
            </a:extLst>
          </p:cNvPr>
          <p:cNvSpPr txBox="1"/>
          <p:nvPr/>
        </p:nvSpPr>
        <p:spPr>
          <a:xfrm>
            <a:off x="7183018" y="1016209"/>
            <a:ext cx="4437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</a:t>
            </a:r>
            <a:r>
              <a:rPr lang="en-US" sz="2400" dirty="0"/>
              <a:t> </a:t>
            </a:r>
            <a:r>
              <a:rPr lang="ru-RU" sz="2400" dirty="0"/>
              <a:t>со второй строчкой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3207613-7E4D-487F-8B8C-CB87142EFDC5}"/>
              </a:ext>
            </a:extLst>
          </p:cNvPr>
          <p:cNvSpPr/>
          <p:nvPr/>
        </p:nvSpPr>
        <p:spPr>
          <a:xfrm>
            <a:off x="4930587" y="5753450"/>
            <a:ext cx="52802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Адрес следующего перехода – 192</a:t>
            </a:r>
            <a:r>
              <a:rPr lang="en-US" sz="1600" b="1" dirty="0"/>
              <a:t>.168.10.1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136993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/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531798" y="1426577"/>
            <a:ext cx="97975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/>
              <a:t>8.8.8.8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311154" y="1426578"/>
            <a:ext cx="2220644" cy="225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872170" y="4188538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en-US" sz="1600" dirty="0"/>
              <a:t>00001000.00001000.00001000.00000000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ru-RU" sz="1600" dirty="0"/>
              <a:t>11000000.10101000.00001010.00000000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00110111.01011111</a:t>
            </a:r>
            <a:r>
              <a:rPr lang="ru-RU" sz="1600" dirty="0"/>
              <a:t>.</a:t>
            </a:r>
            <a:r>
              <a:rPr lang="en-US" sz="1600" dirty="0"/>
              <a:t>11111101</a:t>
            </a:r>
            <a:r>
              <a:rPr lang="ru-RU" sz="1600" dirty="0"/>
              <a:t>.11111111 – </a:t>
            </a:r>
            <a:r>
              <a:rPr lang="ru-RU" sz="1600" dirty="0">
                <a:solidFill>
                  <a:srgbClr val="C00000"/>
                </a:solidFill>
              </a:rPr>
              <a:t>нет совпадения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00001000.00001000.00001000.00001000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11111111.11111111.1111</a:t>
            </a:r>
            <a:r>
              <a:rPr lang="ru-RU" sz="1600" dirty="0"/>
              <a:t>1111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00001000.00001000.00001000</a:t>
            </a:r>
            <a:r>
              <a:rPr lang="ru-RU" sz="1600" dirty="0"/>
              <a:t>.00000000 – адрес сети назначения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5B5BD-1A0F-466D-91A1-0B726B801297}"/>
              </a:ext>
            </a:extLst>
          </p:cNvPr>
          <p:cNvSpPr txBox="1"/>
          <p:nvPr/>
        </p:nvSpPr>
        <p:spPr>
          <a:xfrm>
            <a:off x="7183018" y="1016209"/>
            <a:ext cx="416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 с первой строкой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41C9CF-B4B4-48C9-B18C-80BD544A113E}"/>
              </a:ext>
            </a:extLst>
          </p:cNvPr>
          <p:cNvSpPr/>
          <p:nvPr/>
        </p:nvSpPr>
        <p:spPr>
          <a:xfrm>
            <a:off x="4930587" y="5753450"/>
            <a:ext cx="52802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Продолжаем поиск со следующей строки</a:t>
            </a:r>
          </a:p>
        </p:txBody>
      </p:sp>
    </p:spTree>
    <p:extLst>
      <p:ext uri="{BB962C8B-B14F-4D97-AF65-F5344CB8AC3E}">
        <p14:creationId xmlns:p14="http://schemas.microsoft.com/office/powerpoint/2010/main" val="96991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/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531798" y="1426577"/>
            <a:ext cx="97975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/>
              <a:t>8.8.8.8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48400" y="1652280"/>
            <a:ext cx="2283397" cy="131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872170" y="4188538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en-US" sz="1600" dirty="0"/>
              <a:t>00001000.00001000.00000000.00000000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00010000.00000000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01011011.11100011</a:t>
            </a:r>
            <a:r>
              <a:rPr lang="ru-RU" sz="1600" dirty="0"/>
              <a:t>.</a:t>
            </a:r>
            <a:r>
              <a:rPr lang="en-US" sz="1600" dirty="0"/>
              <a:t>11101111</a:t>
            </a:r>
            <a:r>
              <a:rPr lang="ru-RU" sz="1600" dirty="0"/>
              <a:t>.11111111 – </a:t>
            </a:r>
            <a:r>
              <a:rPr lang="ru-RU" sz="1600" dirty="0">
                <a:solidFill>
                  <a:srgbClr val="C00000"/>
                </a:solidFill>
              </a:rPr>
              <a:t>нет совпадения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00001000.00001000.00001000.00001000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11111111.11111111.1111</a:t>
            </a:r>
            <a:r>
              <a:rPr lang="ru-RU" sz="1600" dirty="0"/>
              <a:t>0000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00001000.00001000.00000000</a:t>
            </a:r>
            <a:r>
              <a:rPr lang="ru-RU" sz="1600" dirty="0"/>
              <a:t>.00000000 – адрес сети назначения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41C9CF-B4B4-48C9-B18C-80BD544A113E}"/>
              </a:ext>
            </a:extLst>
          </p:cNvPr>
          <p:cNvSpPr/>
          <p:nvPr/>
        </p:nvSpPr>
        <p:spPr>
          <a:xfrm>
            <a:off x="4930587" y="5753450"/>
            <a:ext cx="52802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Продолжаем поиск со следующей строки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CD1095-2AD0-43CB-82B7-6804A8520F2A}"/>
              </a:ext>
            </a:extLst>
          </p:cNvPr>
          <p:cNvSpPr txBox="1"/>
          <p:nvPr/>
        </p:nvSpPr>
        <p:spPr>
          <a:xfrm>
            <a:off x="7183018" y="1016209"/>
            <a:ext cx="4437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</a:t>
            </a:r>
            <a:r>
              <a:rPr lang="en-US" sz="2400" dirty="0"/>
              <a:t> </a:t>
            </a:r>
            <a:r>
              <a:rPr lang="ru-RU" sz="2400" dirty="0"/>
              <a:t>со второй строчкой</a:t>
            </a:r>
          </a:p>
        </p:txBody>
      </p:sp>
    </p:spTree>
    <p:extLst>
      <p:ext uri="{BB962C8B-B14F-4D97-AF65-F5344CB8AC3E}">
        <p14:creationId xmlns:p14="http://schemas.microsoft.com/office/powerpoint/2010/main" val="10014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/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531798" y="1426577"/>
            <a:ext cx="97975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/>
              <a:t>8.8.8.8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48400" y="1652280"/>
            <a:ext cx="2283397" cy="131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724158" y="4179963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</a:t>
            </a:r>
            <a:r>
              <a:rPr lang="ru-RU" sz="1600" dirty="0"/>
              <a:t>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11111111</a:t>
            </a:r>
            <a:r>
              <a:rPr lang="en-US" sz="1600" dirty="0"/>
              <a:t>.</a:t>
            </a:r>
            <a:r>
              <a:rPr lang="ru-RU" sz="1600" dirty="0"/>
              <a:t>11111111.</a:t>
            </a:r>
            <a:r>
              <a:rPr lang="en-US" sz="1600" dirty="0"/>
              <a:t>111</a:t>
            </a:r>
            <a:r>
              <a:rPr lang="ru-RU" sz="1600" dirty="0"/>
              <a:t>1</a:t>
            </a:r>
            <a:r>
              <a:rPr lang="en-US" sz="1600" dirty="0"/>
              <a:t>1111</a:t>
            </a:r>
            <a:r>
              <a:rPr lang="ru-RU" sz="1600" dirty="0"/>
              <a:t>.11111111 – </a:t>
            </a:r>
            <a:r>
              <a:rPr lang="ru-RU" sz="1600" dirty="0">
                <a:solidFill>
                  <a:srgbClr val="00B050"/>
                </a:solidFill>
              </a:rPr>
              <a:t>есть полное совпадение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00001000.00001000.00001000.00001000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</a:t>
            </a:r>
            <a:r>
              <a:rPr lang="ru-RU" sz="1600" dirty="0"/>
              <a:t> – адрес сети назначения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CD1095-2AD0-43CB-82B7-6804A8520F2A}"/>
              </a:ext>
            </a:extLst>
          </p:cNvPr>
          <p:cNvSpPr txBox="1"/>
          <p:nvPr/>
        </p:nvSpPr>
        <p:spPr>
          <a:xfrm>
            <a:off x="7183018" y="1016209"/>
            <a:ext cx="4377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</a:t>
            </a:r>
            <a:r>
              <a:rPr lang="en-US" sz="2400" dirty="0"/>
              <a:t> </a:t>
            </a:r>
            <a:r>
              <a:rPr lang="ru-RU" sz="2400" dirty="0"/>
              <a:t>с третьей строчкой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1B17454-D8E7-48FB-842E-02D14724A80F}"/>
              </a:ext>
            </a:extLst>
          </p:cNvPr>
          <p:cNvSpPr/>
          <p:nvPr/>
        </p:nvSpPr>
        <p:spPr>
          <a:xfrm>
            <a:off x="4930587" y="5753450"/>
            <a:ext cx="52802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Адрес следующего перехода – 192</a:t>
            </a:r>
            <a:r>
              <a:rPr lang="en-US" sz="1600" b="1" dirty="0"/>
              <a:t>.168.10.1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204296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en-US" dirty="0"/>
              <a:t>Longest Prefix Match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10.128.0.0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</a:t>
                      </a: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</a:t>
                      </a:r>
                      <a:r>
                        <a:rPr lang="ru-RU" sz="1700" b="1" dirty="0"/>
                        <a:t>2</a:t>
                      </a:r>
                      <a:r>
                        <a:rPr lang="en-US" sz="1700" b="1" dirty="0"/>
                        <a:t>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10.128.168.0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</a:t>
                      </a:r>
                      <a:r>
                        <a:rPr lang="ru-RU" sz="1700" b="1" dirty="0"/>
                        <a:t>240</a:t>
                      </a:r>
                      <a:r>
                        <a:rPr lang="en-US" sz="1700" b="1" dirty="0"/>
                        <a:t>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</a:t>
                      </a:r>
                      <a:r>
                        <a:rPr lang="ru-RU" sz="1700" b="1" dirty="0"/>
                        <a:t>3</a:t>
                      </a:r>
                      <a:r>
                        <a:rPr lang="en-US" sz="1700" b="1" dirty="0"/>
                        <a:t>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433186" y="1408384"/>
            <a:ext cx="185499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133" b="1" dirty="0"/>
              <a:t>10</a:t>
            </a:r>
            <a:r>
              <a:rPr lang="en-US" sz="2133" b="1" dirty="0"/>
              <a:t>.128.</a:t>
            </a:r>
            <a:r>
              <a:rPr lang="ru-RU" sz="2133" b="1" dirty="0"/>
              <a:t>174</a:t>
            </a:r>
            <a:r>
              <a:rPr lang="en-US" sz="2133" b="1" dirty="0"/>
              <a:t>.10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212543" y="1408386"/>
            <a:ext cx="2220643" cy="225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872170" y="4188538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en-US" sz="1600" dirty="0"/>
              <a:t>00001010.10000000.00000000.00000000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en-US" sz="1600" dirty="0"/>
              <a:t>00001010.10000000.00000000.00000000</a:t>
            </a:r>
            <a:r>
              <a:rPr lang="ru-RU" sz="1600" dirty="0"/>
              <a:t>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11111111</a:t>
            </a:r>
            <a:r>
              <a:rPr lang="en-US" sz="1600" dirty="0"/>
              <a:t>.</a:t>
            </a:r>
            <a:r>
              <a:rPr lang="ru-RU" sz="1600" dirty="0"/>
              <a:t>11111111.</a:t>
            </a:r>
            <a:r>
              <a:rPr lang="en-US" sz="1600" dirty="0"/>
              <a:t>111</a:t>
            </a:r>
            <a:r>
              <a:rPr lang="ru-RU" sz="1600" dirty="0"/>
              <a:t>1</a:t>
            </a:r>
            <a:r>
              <a:rPr lang="en-US" sz="1600" dirty="0"/>
              <a:t>1111</a:t>
            </a:r>
            <a:r>
              <a:rPr lang="ru-RU" sz="1600" dirty="0"/>
              <a:t>.11111111 – </a:t>
            </a:r>
            <a:r>
              <a:rPr lang="ru-RU" sz="1600" dirty="0">
                <a:solidFill>
                  <a:srgbClr val="00B050"/>
                </a:solidFill>
              </a:rPr>
              <a:t>есть полное совпадение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00001010.10000000.</a:t>
            </a:r>
            <a:r>
              <a:rPr lang="ru-RU" sz="1600" dirty="0"/>
              <a:t>10101110</a:t>
            </a:r>
            <a:r>
              <a:rPr lang="en-US" sz="1600" dirty="0"/>
              <a:t>.00001010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</a:t>
            </a:r>
            <a:r>
              <a:rPr lang="ru-RU" sz="1600" dirty="0"/>
              <a:t>0000</a:t>
            </a:r>
            <a:r>
              <a:rPr lang="en-US" sz="1600" dirty="0"/>
              <a:t>0000.00000000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00001010.10000000.00000000.00000000</a:t>
            </a:r>
            <a:r>
              <a:rPr lang="ru-RU" sz="1600" dirty="0"/>
              <a:t> – адрес сети назначения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5B5BD-1A0F-466D-91A1-0B726B801297}"/>
              </a:ext>
            </a:extLst>
          </p:cNvPr>
          <p:cNvSpPr txBox="1"/>
          <p:nvPr/>
        </p:nvSpPr>
        <p:spPr>
          <a:xfrm>
            <a:off x="7183018" y="1016209"/>
            <a:ext cx="416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 с первой строкой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41C9CF-B4B4-48C9-B18C-80BD544A113E}"/>
              </a:ext>
            </a:extLst>
          </p:cNvPr>
          <p:cNvSpPr/>
          <p:nvPr/>
        </p:nvSpPr>
        <p:spPr>
          <a:xfrm>
            <a:off x="4930587" y="5753450"/>
            <a:ext cx="65083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Но мы всё равно продолжаем поиск со следующей строки</a:t>
            </a:r>
          </a:p>
        </p:txBody>
      </p:sp>
    </p:spTree>
    <p:extLst>
      <p:ext uri="{BB962C8B-B14F-4D97-AF65-F5344CB8AC3E}">
        <p14:creationId xmlns:p14="http://schemas.microsoft.com/office/powerpoint/2010/main" val="118968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en-US" dirty="0"/>
              <a:t>Longest Prefix Match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10.128.0.0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</a:t>
                      </a: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</a:t>
                      </a:r>
                      <a:r>
                        <a:rPr lang="ru-RU" sz="1700" b="1" dirty="0"/>
                        <a:t>2</a:t>
                      </a:r>
                      <a:r>
                        <a:rPr lang="en-US" sz="1700" b="1" dirty="0"/>
                        <a:t>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10.128.168.0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</a:t>
                      </a:r>
                      <a:r>
                        <a:rPr lang="ru-RU" sz="1700" b="1" dirty="0"/>
                        <a:t>240</a:t>
                      </a:r>
                      <a:r>
                        <a:rPr lang="en-US" sz="1700" b="1" dirty="0"/>
                        <a:t>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</a:t>
                      </a:r>
                      <a:r>
                        <a:rPr lang="ru-RU" sz="1700" b="1" dirty="0"/>
                        <a:t>3</a:t>
                      </a:r>
                      <a:r>
                        <a:rPr lang="en-US" sz="1700" b="1" dirty="0"/>
                        <a:t>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433186" y="1408384"/>
            <a:ext cx="185499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133" b="1" dirty="0"/>
              <a:t>10</a:t>
            </a:r>
            <a:r>
              <a:rPr lang="en-US" sz="2133" b="1" dirty="0"/>
              <a:t>.128.</a:t>
            </a:r>
            <a:r>
              <a:rPr lang="ru-RU" sz="2133" b="1" dirty="0"/>
              <a:t>174</a:t>
            </a:r>
            <a:r>
              <a:rPr lang="en-US" sz="2133" b="1" dirty="0"/>
              <a:t>.10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39435" y="1634087"/>
            <a:ext cx="2193751" cy="158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872170" y="4188538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en-US" sz="1600" dirty="0"/>
              <a:t>00001010.10000000.</a:t>
            </a:r>
            <a:r>
              <a:rPr lang="ru-RU" sz="1600" dirty="0"/>
              <a:t>1010</a:t>
            </a:r>
            <a:r>
              <a:rPr lang="en-US" sz="1600" dirty="0"/>
              <a:t>0000.00000000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en-US" sz="1600" dirty="0"/>
              <a:t>00001010.10000000.</a:t>
            </a:r>
            <a:r>
              <a:rPr lang="ru-RU" sz="1600" dirty="0"/>
              <a:t>1010</a:t>
            </a:r>
            <a:r>
              <a:rPr lang="en-US" sz="1600" dirty="0"/>
              <a:t>0000.00000000</a:t>
            </a:r>
            <a:r>
              <a:rPr lang="ru-RU" sz="1600" dirty="0"/>
              <a:t>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11111111</a:t>
            </a:r>
            <a:r>
              <a:rPr lang="en-US" sz="1600" dirty="0"/>
              <a:t>.</a:t>
            </a:r>
            <a:r>
              <a:rPr lang="ru-RU" sz="1600" dirty="0"/>
              <a:t>11111111.</a:t>
            </a:r>
            <a:r>
              <a:rPr lang="en-US" sz="1600" dirty="0"/>
              <a:t>111</a:t>
            </a:r>
            <a:r>
              <a:rPr lang="ru-RU" sz="1600" dirty="0"/>
              <a:t>1</a:t>
            </a:r>
            <a:r>
              <a:rPr lang="en-US" sz="1600" dirty="0"/>
              <a:t>1111</a:t>
            </a:r>
            <a:r>
              <a:rPr lang="ru-RU" sz="1600" dirty="0"/>
              <a:t>.11111111 – </a:t>
            </a:r>
            <a:r>
              <a:rPr lang="ru-RU" sz="1600" dirty="0">
                <a:solidFill>
                  <a:srgbClr val="00B050"/>
                </a:solidFill>
              </a:rPr>
              <a:t>есть полное совпадение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00001010.10000000.</a:t>
            </a:r>
            <a:r>
              <a:rPr lang="ru-RU" sz="1600" dirty="0"/>
              <a:t>10101110</a:t>
            </a:r>
            <a:r>
              <a:rPr lang="en-US" sz="1600" dirty="0"/>
              <a:t>.00001010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11111111.11111111.1111</a:t>
            </a:r>
            <a:r>
              <a:rPr lang="ru-RU" sz="1600" dirty="0"/>
              <a:t>0000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00001010.10000000.</a:t>
            </a:r>
            <a:r>
              <a:rPr lang="ru-RU" sz="1600" dirty="0"/>
              <a:t>1010</a:t>
            </a:r>
            <a:r>
              <a:rPr lang="en-US" sz="1600" dirty="0"/>
              <a:t>0000.00000000</a:t>
            </a:r>
            <a:r>
              <a:rPr lang="ru-RU" sz="1600" dirty="0"/>
              <a:t> – адрес сети назначения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5B5BD-1A0F-466D-91A1-0B726B801297}"/>
              </a:ext>
            </a:extLst>
          </p:cNvPr>
          <p:cNvSpPr txBox="1"/>
          <p:nvPr/>
        </p:nvSpPr>
        <p:spPr>
          <a:xfrm>
            <a:off x="7183018" y="1016209"/>
            <a:ext cx="4293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 со второй строкой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41C9CF-B4B4-48C9-B18C-80BD544A113E}"/>
              </a:ext>
            </a:extLst>
          </p:cNvPr>
          <p:cNvSpPr/>
          <p:nvPr/>
        </p:nvSpPr>
        <p:spPr>
          <a:xfrm>
            <a:off x="4930587" y="5753450"/>
            <a:ext cx="65083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Но мы всё равно продолжаем поиск со следующей строки</a:t>
            </a:r>
          </a:p>
        </p:txBody>
      </p:sp>
    </p:spTree>
    <p:extLst>
      <p:ext uri="{BB962C8B-B14F-4D97-AF65-F5344CB8AC3E}">
        <p14:creationId xmlns:p14="http://schemas.microsoft.com/office/powerpoint/2010/main" val="377261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en-US" dirty="0"/>
              <a:t>Longest Prefix Match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10.128.0.0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</a:t>
                      </a: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</a:t>
                      </a:r>
                      <a:r>
                        <a:rPr lang="ru-RU" sz="1700" b="1" dirty="0"/>
                        <a:t>2</a:t>
                      </a:r>
                      <a:r>
                        <a:rPr lang="en-US" sz="1700" b="1" dirty="0"/>
                        <a:t>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10.128.168.0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</a:t>
                      </a:r>
                      <a:r>
                        <a:rPr lang="ru-RU" sz="1700" b="1" dirty="0"/>
                        <a:t>240</a:t>
                      </a:r>
                      <a:r>
                        <a:rPr lang="en-US" sz="1700" b="1" dirty="0"/>
                        <a:t>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</a:t>
                      </a:r>
                      <a:r>
                        <a:rPr lang="ru-RU" sz="1700" b="1" dirty="0"/>
                        <a:t>3</a:t>
                      </a:r>
                      <a:r>
                        <a:rPr lang="en-US" sz="1700" b="1" dirty="0"/>
                        <a:t>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433186" y="1408384"/>
            <a:ext cx="185499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133" b="1" dirty="0"/>
              <a:t>10</a:t>
            </a:r>
            <a:r>
              <a:rPr lang="en-US" sz="2133" b="1" dirty="0"/>
              <a:t>.128.</a:t>
            </a:r>
            <a:r>
              <a:rPr lang="ru-RU" sz="2133" b="1" dirty="0"/>
              <a:t>174</a:t>
            </a:r>
            <a:r>
              <a:rPr lang="en-US" sz="2133" b="1" dirty="0"/>
              <a:t>.10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57366" y="1634087"/>
            <a:ext cx="2175820" cy="526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872170" y="4188538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</a:t>
            </a:r>
            <a:r>
              <a:rPr lang="ru-RU" sz="1600" dirty="0"/>
              <a:t>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11111111</a:t>
            </a:r>
            <a:r>
              <a:rPr lang="en-US" sz="1600" dirty="0"/>
              <a:t>.</a:t>
            </a:r>
            <a:r>
              <a:rPr lang="ru-RU" sz="1600" dirty="0"/>
              <a:t>11111111.</a:t>
            </a:r>
            <a:r>
              <a:rPr lang="en-US" sz="1600" dirty="0"/>
              <a:t>111</a:t>
            </a:r>
            <a:r>
              <a:rPr lang="ru-RU" sz="1600" dirty="0"/>
              <a:t>1</a:t>
            </a:r>
            <a:r>
              <a:rPr lang="en-US" sz="1600" dirty="0"/>
              <a:t>1111</a:t>
            </a:r>
            <a:r>
              <a:rPr lang="ru-RU" sz="1600" dirty="0"/>
              <a:t>.11111111 – </a:t>
            </a:r>
            <a:r>
              <a:rPr lang="ru-RU" sz="1600" dirty="0">
                <a:solidFill>
                  <a:srgbClr val="00B050"/>
                </a:solidFill>
              </a:rPr>
              <a:t>есть полное совпадение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00001010.10000000.</a:t>
            </a:r>
            <a:r>
              <a:rPr lang="ru-RU" sz="1600" dirty="0"/>
              <a:t>10101110</a:t>
            </a:r>
            <a:r>
              <a:rPr lang="en-US" sz="1600" dirty="0"/>
              <a:t>.00001010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</a:t>
            </a:r>
            <a:r>
              <a:rPr lang="ru-RU" sz="1600" dirty="0"/>
              <a:t> – адрес сети назначения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5B5BD-1A0F-466D-91A1-0B726B801297}"/>
              </a:ext>
            </a:extLst>
          </p:cNvPr>
          <p:cNvSpPr txBox="1"/>
          <p:nvPr/>
        </p:nvSpPr>
        <p:spPr>
          <a:xfrm>
            <a:off x="7183018" y="1016209"/>
            <a:ext cx="4232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 с третьей строкой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41C9CF-B4B4-48C9-B18C-80BD544A113E}"/>
              </a:ext>
            </a:extLst>
          </p:cNvPr>
          <p:cNvSpPr/>
          <p:nvPr/>
        </p:nvSpPr>
        <p:spPr>
          <a:xfrm>
            <a:off x="4930587" y="5753450"/>
            <a:ext cx="65083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</a:t>
            </a:r>
            <a:r>
              <a:rPr lang="en-US" sz="1600" b="1" dirty="0"/>
              <a:t> </a:t>
            </a:r>
            <a:r>
              <a:rPr lang="ru-RU" sz="1600" b="1" dirty="0"/>
              <a:t>Что делаем дальше?</a:t>
            </a:r>
          </a:p>
        </p:txBody>
      </p:sp>
    </p:spTree>
    <p:extLst>
      <p:ext uri="{BB962C8B-B14F-4D97-AF65-F5344CB8AC3E}">
        <p14:creationId xmlns:p14="http://schemas.microsoft.com/office/powerpoint/2010/main" val="96517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en-US" dirty="0"/>
              <a:t>Longest Prefix Match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61777" y="2963838"/>
          <a:ext cx="8668444" cy="2188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956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2893744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2893744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542037">
                <a:tc>
                  <a:txBody>
                    <a:bodyPr/>
                    <a:lstStyle/>
                    <a:p>
                      <a:r>
                        <a:rPr lang="ru-RU" sz="2700" b="1" dirty="0"/>
                        <a:t>Адрес сети</a:t>
                      </a:r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r>
                        <a:rPr lang="ru-RU" sz="2700" b="1" dirty="0"/>
                        <a:t>Маска сети</a:t>
                      </a:r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r>
                        <a:rPr lang="ru-RU" sz="2700" b="1" dirty="0"/>
                        <a:t>Шлюз</a:t>
                      </a:r>
                    </a:p>
                  </a:txBody>
                  <a:tcPr marL="135640" marR="135640" marT="67819" marB="67819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542037">
                <a:tc>
                  <a:txBody>
                    <a:bodyPr/>
                    <a:lstStyle/>
                    <a:p>
                      <a:r>
                        <a:rPr lang="ru-RU" sz="2700" b="1" dirty="0"/>
                        <a:t>10.128.0.0</a:t>
                      </a:r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r>
                        <a:rPr lang="en-US" sz="2700" b="1" dirty="0"/>
                        <a:t>255.255.</a:t>
                      </a:r>
                      <a:r>
                        <a:rPr lang="ru-RU" sz="2700" b="1" dirty="0"/>
                        <a:t>0</a:t>
                      </a:r>
                      <a:r>
                        <a:rPr lang="en-US" sz="2700" b="1" dirty="0"/>
                        <a:t>.0</a:t>
                      </a:r>
                      <a:endParaRPr lang="ru-RU" sz="2700" b="1" dirty="0"/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r>
                        <a:rPr lang="en-US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192.168.</a:t>
                      </a:r>
                      <a:r>
                        <a:rPr lang="ru-RU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r>
                        <a:rPr lang="en-US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0.1</a:t>
                      </a:r>
                      <a:endParaRPr lang="ru-RU" sz="27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542037">
                <a:tc>
                  <a:txBody>
                    <a:bodyPr/>
                    <a:lstStyle/>
                    <a:p>
                      <a:r>
                        <a:rPr lang="ru-RU" sz="2700" b="1" dirty="0"/>
                        <a:t>10.128.168.0</a:t>
                      </a:r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r>
                        <a:rPr lang="en-US" sz="2700" b="1" dirty="0"/>
                        <a:t>255.255.</a:t>
                      </a:r>
                      <a:r>
                        <a:rPr lang="ru-RU" sz="2700" b="1" dirty="0"/>
                        <a:t>240</a:t>
                      </a:r>
                      <a:r>
                        <a:rPr lang="en-US" sz="2700" b="1" dirty="0"/>
                        <a:t>.0</a:t>
                      </a:r>
                      <a:endParaRPr lang="ru-RU" sz="2700" b="1" dirty="0"/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r>
                        <a:rPr lang="en-US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192.168.</a:t>
                      </a:r>
                      <a:r>
                        <a:rPr lang="ru-RU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r>
                        <a:rPr lang="en-US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0.1</a:t>
                      </a:r>
                      <a:endParaRPr lang="ru-RU" sz="27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542037">
                <a:tc>
                  <a:txBody>
                    <a:bodyPr/>
                    <a:lstStyle/>
                    <a:p>
                      <a:r>
                        <a:rPr lang="ru-RU" sz="2700" b="1" dirty="0"/>
                        <a:t>0</a:t>
                      </a:r>
                      <a:r>
                        <a:rPr lang="en-US" sz="2700" b="1" dirty="0"/>
                        <a:t>.0.0.0</a:t>
                      </a:r>
                      <a:endParaRPr lang="ru-RU" sz="2700" b="1" dirty="0"/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700" b="1" dirty="0"/>
                        <a:t>0</a:t>
                      </a:r>
                      <a:r>
                        <a:rPr lang="en-US" sz="2700" b="1" dirty="0"/>
                        <a:t>.0.0.0</a:t>
                      </a:r>
                      <a:endParaRPr lang="ru-RU" sz="2700" b="1" dirty="0"/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192.168.10.1</a:t>
                      </a:r>
                      <a:endParaRPr lang="ru-RU" sz="27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1258544" y="1557153"/>
            <a:ext cx="9674909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67" b="1" dirty="0"/>
              <a:t>Из всех подошедших маршрутов выбирается маршрут с самой длинной маской</a:t>
            </a:r>
            <a:endParaRPr lang="ru-RU" sz="2667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1E65A2C6-1FF4-400B-A657-46CA41D27D1D}"/>
                  </a:ext>
                </a:extLst>
              </p14:cNvPr>
              <p14:cNvContentPartPr/>
              <p14:nvPr/>
            </p14:nvContentPartPr>
            <p14:xfrm>
              <a:off x="9798480" y="3638951"/>
              <a:ext cx="300960" cy="306240"/>
            </p14:xfrm>
          </p:contentPart>
        </mc:Choice>
        <mc:Fallback xmlns=""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1E65A2C6-1FF4-400B-A657-46CA41D27D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89480" y="3629955"/>
                <a:ext cx="318960" cy="324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9A9D8DFD-E9CF-41B0-97F3-FAB1D673D480}"/>
                  </a:ext>
                </a:extLst>
              </p14:cNvPr>
              <p14:cNvContentPartPr/>
              <p14:nvPr/>
            </p14:nvContentPartPr>
            <p14:xfrm>
              <a:off x="9798480" y="4777991"/>
              <a:ext cx="251520" cy="242880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9A9D8DFD-E9CF-41B0-97F3-FAB1D673D4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89484" y="4768995"/>
                <a:ext cx="269511" cy="260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4DC1D4F7-5136-4E55-B39F-2C052837DD60}"/>
                  </a:ext>
                </a:extLst>
              </p14:cNvPr>
              <p14:cNvContentPartPr/>
              <p14:nvPr/>
            </p14:nvContentPartPr>
            <p14:xfrm>
              <a:off x="9789360" y="4203431"/>
              <a:ext cx="385920" cy="32400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4DC1D4F7-5136-4E55-B39F-2C052837DD6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80360" y="4194431"/>
                <a:ext cx="403920" cy="34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582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Рекурсивная маршрутизация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08118"/>
              </p:ext>
            </p:extLst>
          </p:nvPr>
        </p:nvGraphicFramePr>
        <p:xfrm>
          <a:off x="415600" y="1465007"/>
          <a:ext cx="5680400" cy="1765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 smtClean="0"/>
                        <a:t>10.10.10.1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/>
                        <a:t>255.255.255.255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dirty="0" smtClean="0"/>
                        <a:t>192.168.10.1</a:t>
                      </a:r>
                      <a:endParaRPr lang="ru-RU" sz="1700" b="1" dirty="0" smtClean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4204986752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/>
                        <a:t>10.10.10.1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CD1095-2AD0-43CB-82B7-6804A8520F2A}"/>
              </a:ext>
            </a:extLst>
          </p:cNvPr>
          <p:cNvSpPr txBox="1"/>
          <p:nvPr/>
        </p:nvSpPr>
        <p:spPr>
          <a:xfrm>
            <a:off x="6796455" y="1375296"/>
            <a:ext cx="49799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arenR"/>
            </a:pPr>
            <a:r>
              <a:rPr lang="ru-RU" sz="2400" dirty="0" smtClean="0"/>
              <a:t>Поиск для </a:t>
            </a:r>
            <a:r>
              <a:rPr lang="ru-RU" sz="2400" b="1" dirty="0"/>
              <a:t>172</a:t>
            </a:r>
            <a:r>
              <a:rPr lang="en-US" sz="2400" b="1" dirty="0" smtClean="0"/>
              <a:t>.20.20.201</a:t>
            </a:r>
            <a:r>
              <a:rPr lang="ru-RU" sz="2400" b="1" dirty="0" smtClean="0"/>
              <a:t>. </a:t>
            </a:r>
            <a:r>
              <a:rPr lang="ru-RU" sz="2400" dirty="0" smtClean="0"/>
              <a:t>Находим подходящую строк, адрес следующего перехода – </a:t>
            </a:r>
            <a:r>
              <a:rPr lang="ru-RU" sz="2400" b="1" dirty="0" smtClean="0"/>
              <a:t>10.10.10.1</a:t>
            </a:r>
            <a:endParaRPr lang="ru-RU" sz="2400" b="1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</p:cNvCxnSpPr>
          <p:nvPr/>
        </p:nvCxnSpPr>
        <p:spPr>
          <a:xfrm flipH="1">
            <a:off x="5874727" y="1828948"/>
            <a:ext cx="921727" cy="88841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ACD1095-2AD0-43CB-82B7-6804A8520F2A}"/>
              </a:ext>
            </a:extLst>
          </p:cNvPr>
          <p:cNvSpPr txBox="1"/>
          <p:nvPr/>
        </p:nvSpPr>
        <p:spPr>
          <a:xfrm>
            <a:off x="6653580" y="4125457"/>
            <a:ext cx="5265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  <a:r>
              <a:rPr lang="ru-RU" sz="2400" dirty="0" smtClean="0"/>
              <a:t>) Снова поиск – теперь для </a:t>
            </a:r>
            <a:r>
              <a:rPr lang="ru-RU" sz="2400" b="1" dirty="0" smtClean="0"/>
              <a:t>10.10.10.1</a:t>
            </a:r>
            <a:r>
              <a:rPr lang="ru-RU" sz="2400" dirty="0" smtClean="0"/>
              <a:t>. Подходящий маршрут через </a:t>
            </a:r>
            <a:r>
              <a:rPr lang="ru-RU" sz="2400" b="1" dirty="0" smtClean="0"/>
              <a:t>192.168.10.1</a:t>
            </a:r>
            <a:endParaRPr lang="ru-RU" sz="2400" b="1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</p:cNvCxnSpPr>
          <p:nvPr/>
        </p:nvCxnSpPr>
        <p:spPr>
          <a:xfrm flipH="1" flipV="1">
            <a:off x="6224954" y="1986539"/>
            <a:ext cx="571500" cy="2049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CD1095-2AD0-43CB-82B7-6804A8520F2A}"/>
              </a:ext>
            </a:extLst>
          </p:cNvPr>
          <p:cNvSpPr txBox="1"/>
          <p:nvPr/>
        </p:nvSpPr>
        <p:spPr>
          <a:xfrm>
            <a:off x="959258" y="4125457"/>
            <a:ext cx="52656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3) Теперь поиск для </a:t>
            </a:r>
            <a:r>
              <a:rPr lang="ru-RU" sz="2400" b="1" dirty="0" smtClean="0"/>
              <a:t>192.168.10.1</a:t>
            </a:r>
            <a:r>
              <a:rPr lang="ru-RU" sz="2400" dirty="0" smtClean="0"/>
              <a:t>. Подходящий маршрут ведет в интерфейс. Завершение рекурсивного поиска.</a:t>
            </a:r>
            <a:endParaRPr lang="ru-RU" sz="2400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</p:cNvCxnSpPr>
          <p:nvPr/>
        </p:nvCxnSpPr>
        <p:spPr>
          <a:xfrm flipH="1" flipV="1">
            <a:off x="5548495" y="2373923"/>
            <a:ext cx="176396" cy="166174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74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Агрегация маршрутов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7666" y="1845041"/>
            <a:ext cx="7673491" cy="457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904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Статическая маршрутизация</a:t>
            </a:r>
            <a:endParaRPr lang="ru-RU" dirty="0"/>
          </a:p>
        </p:txBody>
      </p:sp>
      <p:pic>
        <p:nvPicPr>
          <p:cNvPr id="6" name="Объек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441" y="3429000"/>
            <a:ext cx="6724650" cy="3352800"/>
          </a:xfrm>
          <a:prstGeom prst="rect">
            <a:avLst/>
          </a:prstGeom>
        </p:spPr>
      </p:pic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7711" y="1658144"/>
            <a:ext cx="7666268" cy="304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957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Динамическая маршрутизация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4398" y="2249488"/>
            <a:ext cx="6500029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667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</a:t>
            </a:r>
            <a:r>
              <a:rPr lang="ru-RU" b="1" dirty="0" smtClean="0"/>
              <a:t>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4896" y="2249488"/>
            <a:ext cx="9239034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331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</a:t>
            </a:r>
            <a:r>
              <a:rPr lang="ru-RU" b="1" dirty="0" smtClean="0"/>
              <a:t>)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6628" y="2249488"/>
            <a:ext cx="8675569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371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</a:t>
            </a:r>
            <a:r>
              <a:rPr lang="ru-RU" b="1" dirty="0" smtClean="0"/>
              <a:t>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670" y="2249488"/>
            <a:ext cx="8673485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37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</a:t>
            </a:r>
            <a:r>
              <a:rPr lang="ru-RU" b="1" dirty="0" smtClean="0"/>
              <a:t>)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612" y="2249488"/>
            <a:ext cx="8691602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447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676" y="2012096"/>
            <a:ext cx="6991472" cy="423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530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L2)</a:t>
            </a:r>
            <a:endParaRPr lang="ru-RU" dirty="0"/>
          </a:p>
        </p:txBody>
      </p:sp>
      <p:pic>
        <p:nvPicPr>
          <p:cNvPr id="1026" name="Picture 2" descr="ARP (Address Resolution Protocol) explain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828" y="1724452"/>
            <a:ext cx="4954344" cy="47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4661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L2)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1653" y="2029680"/>
            <a:ext cx="5528693" cy="442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517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/>
              <a:t>Gratuitous </a:t>
            </a:r>
            <a:r>
              <a:rPr lang="af-ZA" b="1" dirty="0" smtClean="0"/>
              <a:t>ARP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</a:t>
            </a:r>
            <a:r>
              <a:rPr lang="ru-RU" dirty="0" smtClean="0"/>
              <a:t>ля </a:t>
            </a:r>
            <a:r>
              <a:rPr lang="ru-RU" dirty="0"/>
              <a:t>проверки дублирования адресов в сети. </a:t>
            </a:r>
            <a:endParaRPr lang="ru-RU" dirty="0" smtClean="0"/>
          </a:p>
          <a:p>
            <a:r>
              <a:rPr lang="ru-RU" dirty="0" smtClean="0"/>
              <a:t>Чтобы </a:t>
            </a:r>
            <a:r>
              <a:rPr lang="ru-RU" dirty="0"/>
              <a:t>объявить свой новый идентификатор канальной среды. </a:t>
            </a:r>
            <a:endParaRPr lang="ru-RU" dirty="0" smtClean="0"/>
          </a:p>
          <a:p>
            <a:r>
              <a:rPr lang="ru-RU" dirty="0" err="1" smtClean="0"/>
              <a:t>Hot</a:t>
            </a:r>
            <a:r>
              <a:rPr lang="ru-RU" dirty="0" smtClean="0"/>
              <a:t> </a:t>
            </a:r>
            <a:r>
              <a:rPr lang="ru-RU" dirty="0" err="1"/>
              <a:t>Standby</a:t>
            </a:r>
            <a:r>
              <a:rPr lang="ru-RU" dirty="0"/>
              <a:t> </a:t>
            </a:r>
            <a:r>
              <a:rPr lang="ru-RU" dirty="0" err="1"/>
              <a:t>Router</a:t>
            </a:r>
            <a:r>
              <a:rPr lang="ru-RU" dirty="0"/>
              <a:t> </a:t>
            </a:r>
            <a:r>
              <a:rPr lang="ru-RU" dirty="0" err="1"/>
              <a:t>Protocol</a:t>
            </a:r>
            <a:r>
              <a:rPr lang="ru-RU" dirty="0"/>
              <a:t> (HSRP).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43969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ICMP и утилиты </a:t>
            </a:r>
            <a:r>
              <a:rPr lang="ru-RU" b="1" dirty="0" smtClean="0"/>
              <a:t>диагностики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3599" y="2534811"/>
            <a:ext cx="6564801" cy="385752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41412" y="1669618"/>
            <a:ext cx="89609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Роль: обратная связь, сообщения об ошибках сетевого уровня (</a:t>
            </a:r>
            <a:r>
              <a:rPr lang="ru-RU" dirty="0" err="1"/>
              <a:t>Destination</a:t>
            </a:r>
            <a:r>
              <a:rPr lang="ru-RU" dirty="0"/>
              <a:t> </a:t>
            </a:r>
            <a:r>
              <a:rPr lang="ru-RU" dirty="0" err="1"/>
              <a:t>Unreachable</a:t>
            </a:r>
            <a:r>
              <a:rPr lang="ru-RU" dirty="0"/>
              <a:t>, TTL </a:t>
            </a:r>
            <a:r>
              <a:rPr lang="ru-RU" dirty="0" err="1"/>
              <a:t>Expired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369094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ICMP и утилиты диагностики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9437" y="2003303"/>
            <a:ext cx="7933126" cy="453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892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ICMP и утилиты диагностики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814" y="1851207"/>
            <a:ext cx="6734297" cy="3955297"/>
          </a:xfrm>
          <a:prstGeom prst="rect">
            <a:avLst/>
          </a:prstGeom>
        </p:spPr>
      </p:pic>
      <p:pic>
        <p:nvPicPr>
          <p:cNvPr id="2050" name="Picture 2" descr="Мониторинг хостов в сети с помощью ICMP-пинга - Мониторинг пинго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926" y="4249826"/>
            <a:ext cx="4926378" cy="197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4429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0" y="627310"/>
            <a:ext cx="9905998" cy="1478570"/>
          </a:xfrm>
        </p:spPr>
        <p:txBody>
          <a:bodyPr/>
          <a:lstStyle/>
          <a:p>
            <a:r>
              <a:rPr lang="ru-RU" b="1" dirty="0"/>
              <a:t>Конфигурация </a:t>
            </a:r>
            <a:r>
              <a:rPr lang="af-ZA" b="1" dirty="0"/>
              <a:t>IP-</a:t>
            </a:r>
            <a:r>
              <a:rPr lang="ru-RU" b="1" dirty="0" smtClean="0"/>
              <a:t>адресов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Статическая:</a:t>
            </a:r>
          </a:p>
          <a:p>
            <a:r>
              <a:rPr lang="ru-RU" dirty="0" smtClean="0"/>
              <a:t>Серверы</a:t>
            </a:r>
          </a:p>
          <a:p>
            <a:r>
              <a:rPr lang="ru-RU" dirty="0" smtClean="0"/>
              <a:t>Маршрутизаторы и коммутаторы</a:t>
            </a:r>
          </a:p>
          <a:p>
            <a:r>
              <a:rPr lang="ru-RU" dirty="0" smtClean="0"/>
              <a:t>Принтеры, МФУ.</a:t>
            </a:r>
          </a:p>
          <a:p>
            <a:r>
              <a:rPr lang="en-US" dirty="0" smtClean="0"/>
              <a:t>IP</a:t>
            </a:r>
            <a:r>
              <a:rPr lang="ru-RU" dirty="0" smtClean="0"/>
              <a:t>-камеры, системы видеонаблюдения, датчики.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Динамическая:</a:t>
            </a:r>
          </a:p>
          <a:p>
            <a:r>
              <a:rPr lang="ru-RU" dirty="0" smtClean="0"/>
              <a:t>Ноутбуки и смартфоны сотрудников.</a:t>
            </a:r>
          </a:p>
          <a:p>
            <a:r>
              <a:rPr lang="ru-RU" dirty="0" smtClean="0"/>
              <a:t>Домашние ПК и планшеты. </a:t>
            </a:r>
          </a:p>
          <a:p>
            <a:r>
              <a:rPr lang="ru-RU" dirty="0" smtClean="0"/>
              <a:t>Гостевые сети.</a:t>
            </a:r>
          </a:p>
          <a:p>
            <a:r>
              <a:rPr lang="ru-RU" dirty="0" smtClean="0"/>
              <a:t>Временные подключения.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61427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Автоматическая настройка: Протокол </a:t>
            </a:r>
            <a:r>
              <a:rPr lang="af-ZA" b="1" dirty="0" smtClean="0"/>
              <a:t>DHCP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Динамическая конфигурация узла.</a:t>
            </a:r>
          </a:p>
          <a:p>
            <a:r>
              <a:rPr lang="ru-RU" dirty="0" smtClean="0"/>
              <a:t>Широковещательные запросы.</a:t>
            </a:r>
          </a:p>
          <a:p>
            <a:r>
              <a:rPr lang="ru-RU" dirty="0" smtClean="0"/>
              <a:t>Клиент-серверная модель. </a:t>
            </a:r>
          </a:p>
          <a:p>
            <a:r>
              <a:rPr lang="en-US" dirty="0" smtClean="0"/>
              <a:t>UDP</a:t>
            </a:r>
            <a:r>
              <a:rPr lang="ru-RU" dirty="0" smtClean="0"/>
              <a:t>, порт 67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Типы распределения адресов:</a:t>
            </a:r>
          </a:p>
          <a:p>
            <a:r>
              <a:rPr lang="ru-RU" dirty="0" smtClean="0"/>
              <a:t>Ручное —</a:t>
            </a:r>
            <a:r>
              <a:rPr lang="ru-RU" dirty="0"/>
              <a:t> </a:t>
            </a:r>
            <a:r>
              <a:rPr lang="en-US" dirty="0" smtClean="0"/>
              <a:t>MAC </a:t>
            </a:r>
            <a:r>
              <a:rPr lang="ru-RU" dirty="0" smtClean="0"/>
              <a:t>вручную привязываются к </a:t>
            </a:r>
            <a:r>
              <a:rPr lang="en-US" dirty="0" smtClean="0"/>
              <a:t>IP </a:t>
            </a:r>
            <a:r>
              <a:rPr lang="ru-RU" dirty="0" smtClean="0"/>
              <a:t>на сервере.</a:t>
            </a:r>
          </a:p>
          <a:p>
            <a:r>
              <a:rPr lang="ru-RU" dirty="0" smtClean="0"/>
              <a:t>Автоматическое – </a:t>
            </a:r>
            <a:r>
              <a:rPr lang="en-US" dirty="0" smtClean="0"/>
              <a:t>DHCP</a:t>
            </a:r>
            <a:r>
              <a:rPr lang="ru-RU" dirty="0" smtClean="0"/>
              <a:t> сервер присваивает устройство постоянный адрес, понятие аренды отсутствует.</a:t>
            </a:r>
          </a:p>
          <a:p>
            <a:r>
              <a:rPr lang="ru-RU" dirty="0" smtClean="0"/>
              <a:t>Динамическое – </a:t>
            </a:r>
            <a:r>
              <a:rPr lang="en-US" dirty="0" smtClean="0"/>
              <a:t>DHCP </a:t>
            </a:r>
            <a:r>
              <a:rPr lang="ru-RU" dirty="0" smtClean="0"/>
              <a:t>сервер выдаёт адрес устройствам на время.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6885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DCHP</a:t>
            </a:r>
            <a:r>
              <a:rPr lang="ru-RU" dirty="0" smtClean="0"/>
              <a:t>: получение адреса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1413" y="2313947"/>
            <a:ext cx="4878387" cy="3412794"/>
          </a:xfrm>
          <a:prstGeom prst="rect">
            <a:avLst/>
          </a:prstGeo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321533"/>
            <a:ext cx="4875213" cy="339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913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DCHP</a:t>
            </a:r>
            <a:r>
              <a:rPr lang="ru-RU" dirty="0" smtClean="0"/>
              <a:t>: получение адреса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1413" y="2326228"/>
            <a:ext cx="4878387" cy="3388231"/>
          </a:xfrm>
          <a:prstGeom prst="rect">
            <a:avLst/>
          </a:prstGeom>
        </p:spPr>
      </p:pic>
      <p:pic>
        <p:nvPicPr>
          <p:cNvPr id="9" name="Объект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318383"/>
            <a:ext cx="4875213" cy="340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337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en-US" dirty="0" smtClean="0"/>
              <a:t>DHCP:</a:t>
            </a:r>
            <a:r>
              <a:rPr lang="ru-RU" dirty="0" smtClean="0"/>
              <a:t> формат сообщения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3400" y="1160310"/>
            <a:ext cx="5725200" cy="552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457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DHCP: timers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DHCP-адрес выдаётся сроком на </a:t>
            </a:r>
            <a:r>
              <a:rPr lang="ru-RU" dirty="0" err="1"/>
              <a:t>Lease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 (время аренды). От этого значения рассчитываются два таймера: T1 и T2. T1 (</a:t>
            </a:r>
            <a:r>
              <a:rPr lang="ru-RU" dirty="0" err="1"/>
              <a:t>Renewal</a:t>
            </a:r>
            <a:r>
              <a:rPr lang="ru-RU" dirty="0"/>
              <a:t>) — 50% от времени аренды; по истечении T1 устройство отправляет DHCPREQUEST именно тому серверу, который выдал адрес. T2 (</a:t>
            </a:r>
            <a:r>
              <a:rPr lang="ru-RU" dirty="0" err="1"/>
              <a:t>Rebinding</a:t>
            </a:r>
            <a:r>
              <a:rPr lang="ru-RU" dirty="0"/>
              <a:t>) — 7/8 от времени аренды; если первый сервер не ответил, устройство рассылает широковещательный запрос, чтобы продлить аренду или получить новый адрес. Если </a:t>
            </a:r>
            <a:r>
              <a:rPr lang="ru-RU" dirty="0" err="1"/>
              <a:t>Lease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 истёк и никто не продлил адрес, устройство отказывается от него и начинает процедуру получения нового с нуля.</a:t>
            </a:r>
          </a:p>
        </p:txBody>
      </p:sp>
    </p:spTree>
    <p:extLst>
      <p:ext uri="{BB962C8B-B14F-4D97-AF65-F5344CB8AC3E}">
        <p14:creationId xmlns:p14="http://schemas.microsoft.com/office/powerpoint/2010/main" val="30263602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Фрагментация </a:t>
            </a:r>
            <a:r>
              <a:rPr lang="af-ZA" b="1" dirty="0"/>
              <a:t>IPv4-</a:t>
            </a:r>
            <a:r>
              <a:rPr lang="ru-RU" b="1" dirty="0" smtClean="0"/>
              <a:t>пакетов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570" y="2319827"/>
            <a:ext cx="7331662" cy="354171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7957039" y="2936521"/>
            <a:ext cx="40092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Identification</a:t>
            </a:r>
            <a:r>
              <a:rPr lang="ru-RU" dirty="0"/>
              <a:t> — ID пакета.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DF-флаг (</a:t>
            </a:r>
            <a:r>
              <a:rPr lang="ru-RU" dirty="0" err="1"/>
              <a:t>Do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Fragment</a:t>
            </a:r>
            <a:r>
              <a:rPr lang="ru-RU" dirty="0"/>
              <a:t>) — если 1, пакет сбрасывается при превышении MTU.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MF-флаг (</a:t>
            </a:r>
            <a:r>
              <a:rPr lang="ru-RU" dirty="0" err="1"/>
              <a:t>More</a:t>
            </a:r>
            <a:r>
              <a:rPr lang="ru-RU" dirty="0"/>
              <a:t> </a:t>
            </a:r>
            <a:r>
              <a:rPr lang="ru-RU" dirty="0" err="1"/>
              <a:t>Fragments</a:t>
            </a:r>
            <a:r>
              <a:rPr lang="ru-RU" dirty="0"/>
              <a:t>) — 1 для всех частей, кроме последней.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Fragment</a:t>
            </a:r>
            <a:r>
              <a:rPr lang="ru-RU" dirty="0"/>
              <a:t> </a:t>
            </a:r>
            <a:r>
              <a:rPr lang="ru-RU" dirty="0" err="1"/>
              <a:t>Offset</a:t>
            </a:r>
            <a:r>
              <a:rPr lang="ru-RU" dirty="0"/>
              <a:t> — смещение данных блока (кратно 8 байтам).</a:t>
            </a:r>
          </a:p>
        </p:txBody>
      </p:sp>
    </p:spTree>
    <p:extLst>
      <p:ext uri="{BB962C8B-B14F-4D97-AF65-F5344CB8AC3E}">
        <p14:creationId xmlns:p14="http://schemas.microsoft.com/office/powerpoint/2010/main" val="13464695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какой </a:t>
            </a:r>
            <a:r>
              <a:rPr lang="ru-RU" dirty="0" err="1"/>
              <a:t>Next-hop</a:t>
            </a:r>
            <a:r>
              <a:rPr lang="ru-RU" dirty="0"/>
              <a:t> роутер отправит пакет </a:t>
            </a:r>
            <a:r>
              <a:rPr lang="ru-RU" dirty="0" smtClean="0"/>
              <a:t>с </a:t>
            </a:r>
            <a:r>
              <a:rPr lang="en-US" dirty="0" smtClean="0"/>
              <a:t>IP-</a:t>
            </a:r>
            <a:r>
              <a:rPr lang="ru-RU" dirty="0" smtClean="0"/>
              <a:t>адресом назначения 172.16.12.50 и </a:t>
            </a:r>
            <a:r>
              <a:rPr lang="ru-RU" dirty="0"/>
              <a:t>почему?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f-ZA" dirty="0"/>
              <a:t>0.0.0.0/0 → Next-hop: 10.0.0.1 (</a:t>
            </a:r>
            <a:r>
              <a:rPr lang="ru-RU" dirty="0"/>
              <a:t>Шлюз по умолчанию)</a:t>
            </a:r>
          </a:p>
          <a:p>
            <a:r>
              <a:rPr lang="ru-RU" dirty="0"/>
              <a:t>172.16.0.0/16 → </a:t>
            </a:r>
            <a:r>
              <a:rPr lang="af-ZA" dirty="0"/>
              <a:t>Next-hop: 10.0.0.2</a:t>
            </a:r>
          </a:p>
          <a:p>
            <a:r>
              <a:rPr lang="af-ZA" dirty="0"/>
              <a:t>172.16.12.0/24 → Next-hop: 10.0.0.3</a:t>
            </a:r>
          </a:p>
          <a:p>
            <a:r>
              <a:rPr lang="af-ZA" dirty="0"/>
              <a:t>172.16.12.0/25 → Next-hop: 10.0.0.4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38790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422031"/>
            <a:ext cx="9905999" cy="6066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Компьютер </a:t>
            </a:r>
            <a:r>
              <a:rPr lang="af-ZA" dirty="0"/>
              <a:t>PC-1 </a:t>
            </a:r>
            <a:r>
              <a:rPr lang="ru-RU" dirty="0"/>
              <a:t>отправляет </a:t>
            </a:r>
            <a:r>
              <a:rPr lang="af-ZA" dirty="0"/>
              <a:t>HTTP-</a:t>
            </a:r>
            <a:r>
              <a:rPr lang="ru-RU" dirty="0"/>
              <a:t>запрос на </a:t>
            </a:r>
            <a:r>
              <a:rPr lang="af-ZA" dirty="0"/>
              <a:t>Web-Server </a:t>
            </a:r>
            <a:r>
              <a:rPr lang="ru-RU" dirty="0"/>
              <a:t>через шлюз </a:t>
            </a:r>
            <a:r>
              <a:rPr lang="af-ZA" dirty="0" smtClean="0"/>
              <a:t>Router-1</a:t>
            </a:r>
            <a:r>
              <a:rPr lang="ru-RU" dirty="0"/>
              <a:t>:</a:t>
            </a:r>
            <a:endParaRPr lang="af-ZA" dirty="0"/>
          </a:p>
          <a:p>
            <a:r>
              <a:rPr lang="af-ZA" dirty="0"/>
              <a:t>PC-1: IP 192.168.1.10, MAC 11:11:11:11:11:11</a:t>
            </a:r>
          </a:p>
          <a:p>
            <a:r>
              <a:rPr lang="af-ZA" dirty="0"/>
              <a:t>Router-1 (</a:t>
            </a:r>
            <a:r>
              <a:rPr lang="ru-RU" dirty="0"/>
              <a:t>внутренний интерфейс): </a:t>
            </a:r>
            <a:r>
              <a:rPr lang="af-ZA" dirty="0"/>
              <a:t>IP 192.168.1.1, MAC 22:22:22:22:22:22</a:t>
            </a:r>
          </a:p>
          <a:p>
            <a:r>
              <a:rPr lang="af-ZA" dirty="0"/>
              <a:t>Router-1 (</a:t>
            </a:r>
            <a:r>
              <a:rPr lang="ru-RU" dirty="0"/>
              <a:t>внешний интерфейс): </a:t>
            </a:r>
            <a:r>
              <a:rPr lang="af-ZA" dirty="0"/>
              <a:t>IP 203.0.113.1, MAC 33:33:33:33:33:33</a:t>
            </a:r>
          </a:p>
          <a:p>
            <a:r>
              <a:rPr lang="af-ZA" dirty="0"/>
              <a:t>Web-Server: IP 93.184.216.34, MAC </a:t>
            </a:r>
            <a:r>
              <a:rPr lang="af-ZA" dirty="0" smtClean="0"/>
              <a:t>44:44:44:44:44:44</a:t>
            </a:r>
            <a:endParaRPr lang="ru-RU" dirty="0" smtClean="0"/>
          </a:p>
          <a:p>
            <a:pPr marL="0" indent="0">
              <a:buNone/>
            </a:pPr>
            <a:r>
              <a:rPr lang="ru-RU" dirty="0"/>
              <a:t>Заполните значения полей заголовков в кадре на участке между </a:t>
            </a:r>
            <a:r>
              <a:rPr lang="af-ZA" dirty="0"/>
              <a:t>PC-1 </a:t>
            </a:r>
            <a:r>
              <a:rPr lang="ru-RU" dirty="0"/>
              <a:t>и </a:t>
            </a:r>
            <a:r>
              <a:rPr lang="af-ZA" dirty="0"/>
              <a:t>Router-1</a:t>
            </a:r>
            <a:r>
              <a:rPr lang="af-ZA" dirty="0" smtClean="0"/>
              <a:t>:</a:t>
            </a:r>
            <a:endParaRPr lang="af-ZA" dirty="0"/>
          </a:p>
          <a:p>
            <a:pPr marL="457200" lvl="1" indent="0">
              <a:buNone/>
            </a:pPr>
            <a:r>
              <a:rPr lang="af-ZA" dirty="0"/>
              <a:t>Source IP: _______________________</a:t>
            </a:r>
          </a:p>
          <a:p>
            <a:pPr marL="457200" lvl="1" indent="0">
              <a:buNone/>
            </a:pPr>
            <a:r>
              <a:rPr lang="af-ZA" dirty="0"/>
              <a:t>Destination IP: _______________________</a:t>
            </a:r>
          </a:p>
          <a:p>
            <a:pPr marL="457200" lvl="1" indent="0">
              <a:buNone/>
            </a:pPr>
            <a:r>
              <a:rPr lang="af-ZA" dirty="0"/>
              <a:t>Source MAC: _______________________</a:t>
            </a:r>
          </a:p>
          <a:p>
            <a:pPr marL="457200" lvl="1" indent="0">
              <a:buNone/>
            </a:pPr>
            <a:r>
              <a:rPr lang="af-ZA" dirty="0"/>
              <a:t>Destination MAC: _______________________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42571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712176"/>
            <a:ext cx="9905999" cy="5521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офисной сети 192.168.1.0/24 находятся</a:t>
            </a:r>
            <a:r>
              <a:rPr lang="ru-RU" dirty="0" smtClean="0"/>
              <a:t>:</a:t>
            </a:r>
            <a:endParaRPr lang="ru-RU" dirty="0"/>
          </a:p>
          <a:p>
            <a:pPr lvl="1"/>
            <a:r>
              <a:rPr lang="ru-RU" dirty="0"/>
              <a:t>ПК сотрудника (192.168.1.15)</a:t>
            </a:r>
          </a:p>
          <a:p>
            <a:pPr lvl="1"/>
            <a:r>
              <a:rPr lang="ru-RU" dirty="0"/>
              <a:t>Локальный файловый сервер (192.168.1.200)</a:t>
            </a:r>
          </a:p>
          <a:p>
            <a:pPr lvl="1"/>
            <a:r>
              <a:rPr lang="ru-RU" dirty="0"/>
              <a:t>Основной шлюз / маршрутизатор (192.168.1.1</a:t>
            </a:r>
            <a:r>
              <a:rPr lang="ru-RU" dirty="0" smtClean="0"/>
              <a:t>)</a:t>
            </a:r>
          </a:p>
          <a:p>
            <a:pPr marL="0" indent="0">
              <a:buNone/>
            </a:pPr>
            <a:r>
              <a:rPr lang="ru-RU" dirty="0"/>
              <a:t>Внезапно шлюз 192.168.1.1 полностью вышел из строя (отключилось питание).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Вопрос</a:t>
            </a:r>
            <a:r>
              <a:rPr lang="ru-RU" dirty="0"/>
              <a:t>: Сможет ли сотрудник продолжить скачивать файлы с локального сервера 192.168.1.200? Обоснуйте ответ, опираясь на концепцию прямой/косвенной доставки.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0695537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Расставьте события жизненного цикла IP-адреса в хронологическом порядке (от 1 до 6):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smtClean="0"/>
              <a:t>[ </a:t>
            </a:r>
            <a:r>
              <a:rPr lang="ru-RU" b="1" dirty="0"/>
              <a:t>]</a:t>
            </a:r>
            <a:r>
              <a:rPr lang="ru-RU" dirty="0"/>
              <a:t> Клиент отправляет </a:t>
            </a:r>
            <a:r>
              <a:rPr lang="ru-RU" b="1" dirty="0"/>
              <a:t>DHCPDISCOVER</a:t>
            </a:r>
            <a:r>
              <a:rPr lang="ru-RU" dirty="0"/>
              <a:t> (широковещательно).</a:t>
            </a:r>
          </a:p>
          <a:p>
            <a:r>
              <a:rPr lang="ru-RU" b="1" dirty="0"/>
              <a:t>[ ]</a:t>
            </a:r>
            <a:r>
              <a:rPr lang="ru-RU" dirty="0"/>
              <a:t> Сервер отвечает подтверждением </a:t>
            </a:r>
            <a:r>
              <a:rPr lang="ru-RU" b="1" dirty="0"/>
              <a:t>DHCPACK</a:t>
            </a:r>
            <a:r>
              <a:rPr lang="ru-RU" dirty="0"/>
              <a:t>.</a:t>
            </a:r>
          </a:p>
          <a:p>
            <a:r>
              <a:rPr lang="ru-RU" b="1" dirty="0"/>
              <a:t>[ ]</a:t>
            </a:r>
            <a:r>
              <a:rPr lang="ru-RU" dirty="0"/>
              <a:t> Сервер отправляет предложение </a:t>
            </a:r>
            <a:r>
              <a:rPr lang="ru-RU" b="1" dirty="0"/>
              <a:t>DHCPOFFER</a:t>
            </a:r>
            <a:r>
              <a:rPr lang="ru-RU" dirty="0"/>
              <a:t>.</a:t>
            </a:r>
          </a:p>
          <a:p>
            <a:r>
              <a:rPr lang="ru-RU" b="1" dirty="0"/>
              <a:t>[ ]</a:t>
            </a:r>
            <a:r>
              <a:rPr lang="ru-RU" dirty="0"/>
              <a:t> Наступает таймер </a:t>
            </a:r>
            <a:r>
              <a:rPr lang="ru-RU" b="1" dirty="0"/>
              <a:t>T1 (50% времени)</a:t>
            </a:r>
            <a:r>
              <a:rPr lang="ru-RU" dirty="0"/>
              <a:t>: клиент отправляет одноадресный запрос продления.</a:t>
            </a:r>
          </a:p>
          <a:p>
            <a:r>
              <a:rPr lang="ru-RU" b="1" dirty="0"/>
              <a:t>[ ]</a:t>
            </a:r>
            <a:r>
              <a:rPr lang="ru-RU" dirty="0"/>
              <a:t> Клиент отправляет </a:t>
            </a:r>
            <a:r>
              <a:rPr lang="ru-RU" b="1" dirty="0"/>
              <a:t>DHCPREQUEST</a:t>
            </a:r>
            <a:r>
              <a:rPr lang="ru-RU" dirty="0"/>
              <a:t> (принимает предложение).</a:t>
            </a:r>
          </a:p>
          <a:p>
            <a:r>
              <a:rPr lang="ru-RU" b="1" dirty="0"/>
              <a:t>[ ]</a:t>
            </a:r>
            <a:r>
              <a:rPr lang="ru-RU" dirty="0"/>
              <a:t> Наступает таймер </a:t>
            </a:r>
            <a:r>
              <a:rPr lang="ru-RU" b="1" dirty="0"/>
              <a:t>T2 (87.5% времени)</a:t>
            </a:r>
            <a:r>
              <a:rPr lang="ru-RU" dirty="0"/>
              <a:t>: клиент рассылает широковещательный запрос на продление всем серверам.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20883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«Рекурсивный поиск» (Маршрутизация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704364"/>
            <a:ext cx="9905999" cy="294676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Узел анализирует свою таблицу маршрутизации для отправки пакета на адрес </a:t>
            </a:r>
            <a:r>
              <a:rPr lang="ru-RU" dirty="0" smtClean="0"/>
              <a:t>10.5.5.5.</a:t>
            </a:r>
          </a:p>
          <a:p>
            <a:pPr marL="0" indent="0">
              <a:buNone/>
            </a:pPr>
            <a:r>
              <a:rPr lang="ru-RU" b="1" dirty="0"/>
              <a:t>Вопрос</a:t>
            </a:r>
            <a:r>
              <a:rPr lang="ru-RU" dirty="0"/>
              <a:t>: Через какой физический интерфейс (Eth0 или другой) и на какой MAC-адрес (шлюза по умолчанию 192.168.1.1 или маршрутизатора 192.168.1.254) в итоге будет отправлен кадр? Опишите логику двух шагов поиска.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573168"/>
              </p:ext>
            </p:extLst>
          </p:nvPr>
        </p:nvGraphicFramePr>
        <p:xfrm>
          <a:off x="1220544" y="4651131"/>
          <a:ext cx="9906000" cy="147828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3456183535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987054999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6868774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Сеть назначения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Маска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b="1" dirty="0">
                          <a:effectLst/>
                        </a:rPr>
                        <a:t>Next-hop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108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192.168.1.0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255.255.255.0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dirty="0">
                          <a:effectLst/>
                        </a:rPr>
                        <a:t>Eth0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943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10.5.5.0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255.255.255.0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192.168.1.254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0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0.0.0.0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0.0.0.0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192.168.1.1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308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65754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Для каждой ситуации определите, какой тип ARP-сообщения будет сгенерирован (</a:t>
            </a:r>
            <a:r>
              <a:rPr lang="ru-RU" b="1" dirty="0"/>
              <a:t>Обычный ARP </a:t>
            </a:r>
            <a:r>
              <a:rPr lang="ru-RU" b="1" dirty="0" err="1"/>
              <a:t>Request</a:t>
            </a:r>
            <a:r>
              <a:rPr lang="ru-RU" dirty="0"/>
              <a:t> или </a:t>
            </a:r>
            <a:r>
              <a:rPr lang="ru-RU" b="1" dirty="0" err="1"/>
              <a:t>Gratuitous</a:t>
            </a:r>
            <a:r>
              <a:rPr lang="ru-RU" b="1" dirty="0"/>
              <a:t> ARP</a:t>
            </a:r>
            <a:r>
              <a:rPr lang="ru-RU" dirty="0"/>
              <a:t>):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Компьютер только что включился и хочет убедиться, что его статический IP не занят кем-то другим в сети. </a:t>
            </a:r>
          </a:p>
          <a:p>
            <a:pPr marL="0" indent="0">
              <a:buNone/>
            </a:pPr>
            <a:r>
              <a:rPr lang="ru-RU" dirty="0"/>
              <a:t>→ [ ____________ ]</a:t>
            </a:r>
          </a:p>
          <a:p>
            <a:pPr marL="0" indent="0">
              <a:buNone/>
            </a:pPr>
            <a:r>
              <a:rPr lang="ru-RU" dirty="0"/>
              <a:t>Компьютер хочет отправить пакет на IP 192.168.1.50, но не знает его MAC-адрес. </a:t>
            </a:r>
          </a:p>
          <a:p>
            <a:pPr marL="0" indent="0">
              <a:buNone/>
            </a:pPr>
            <a:r>
              <a:rPr lang="ru-RU" dirty="0"/>
              <a:t>→ [ ____________ ]</a:t>
            </a:r>
          </a:p>
          <a:p>
            <a:pPr marL="0" indent="0">
              <a:buNone/>
            </a:pPr>
            <a:r>
              <a:rPr lang="ru-RU" dirty="0"/>
              <a:t>На сервере заменили сетевую карту (изменился MAC-адрес при сохранении прежнего IP), и нужно немедленно обновить кэш соседей. </a:t>
            </a:r>
          </a:p>
          <a:p>
            <a:pPr marL="0" indent="0">
              <a:buNone/>
            </a:pPr>
            <a:r>
              <a:rPr lang="ru-RU" dirty="0"/>
              <a:t>→ [ ____________ ]</a:t>
            </a:r>
          </a:p>
        </p:txBody>
      </p:sp>
    </p:spTree>
    <p:extLst>
      <p:ext uri="{BB962C8B-B14F-4D97-AF65-F5344CB8AC3E}">
        <p14:creationId xmlns:p14="http://schemas.microsoft.com/office/powerpoint/2010/main" val="33026004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Маршрутизатор получил пакет общего размера 3000 байт (заголовок IP = 20 байт, полезная нагрузка = 2980 байт).</a:t>
            </a:r>
            <a:br>
              <a:rPr lang="ru-RU" b="1" dirty="0"/>
            </a:br>
            <a:r>
              <a:rPr lang="ru-RU" b="1" dirty="0"/>
              <a:t>Следующий канал связи имеет MTU = 1500 байт.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636349"/>
            <a:ext cx="9905999" cy="35417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Ответьте на вопросы</a:t>
            </a:r>
            <a:r>
              <a:rPr lang="ru-RU" dirty="0" smtClean="0"/>
              <a:t>:</a:t>
            </a:r>
            <a:endParaRPr lang="ru-RU" dirty="0"/>
          </a:p>
          <a:p>
            <a:r>
              <a:rPr lang="ru-RU" dirty="0"/>
              <a:t>На сколько фрагментов маршрутизатор разобьёт этот пакет?</a:t>
            </a:r>
          </a:p>
          <a:p>
            <a:r>
              <a:rPr lang="ru-RU" dirty="0"/>
              <a:t>Какое значение флага MF (</a:t>
            </a:r>
            <a:r>
              <a:rPr lang="ru-RU" dirty="0" err="1"/>
              <a:t>More</a:t>
            </a:r>
            <a:r>
              <a:rPr lang="ru-RU" dirty="0"/>
              <a:t> </a:t>
            </a:r>
            <a:r>
              <a:rPr lang="ru-RU" dirty="0" err="1"/>
              <a:t>Fragments</a:t>
            </a:r>
            <a:r>
              <a:rPr lang="ru-RU" dirty="0"/>
              <a:t>) будет у первого фрагмента (0 или 1)?</a:t>
            </a:r>
          </a:p>
          <a:p>
            <a:r>
              <a:rPr lang="ru-RU" dirty="0"/>
              <a:t>Какое значение флага MF будет у последнего фрагмента (0 или 1)?</a:t>
            </a:r>
          </a:p>
          <a:p>
            <a:r>
              <a:rPr lang="ru-RU" dirty="0"/>
              <a:t>Что произойдёт с пакетом, если в его заголовке изначально был установлен флаг DF = 1 (</a:t>
            </a:r>
            <a:r>
              <a:rPr lang="ru-RU" dirty="0" err="1"/>
              <a:t>Do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Fragment</a:t>
            </a:r>
            <a:r>
              <a:rPr lang="ru-RU" dirty="0"/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29820115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970210"/>
            <a:ext cx="9905998" cy="1478570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Какой </a:t>
            </a:r>
            <a:r>
              <a:rPr lang="ru-RU" b="1" dirty="0"/>
              <a:t>одной</a:t>
            </a:r>
            <a:r>
              <a:rPr lang="ru-RU" dirty="0"/>
              <a:t> агрегированной записью (адрес сети и префикс маски) центральный маршрутизатор может описать все четыре подсети сразу, чтобы минимизировать размер таблицы маршрутизации?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3190263"/>
            <a:ext cx="9905999" cy="2656621"/>
          </a:xfrm>
        </p:spPr>
        <p:txBody>
          <a:bodyPr/>
          <a:lstStyle/>
          <a:p>
            <a:r>
              <a:rPr lang="ru-RU" dirty="0"/>
              <a:t>10.20.0.0/24</a:t>
            </a:r>
          </a:p>
          <a:p>
            <a:r>
              <a:rPr lang="ru-RU" dirty="0"/>
              <a:t>10.20.1.0/24</a:t>
            </a:r>
          </a:p>
          <a:p>
            <a:r>
              <a:rPr lang="ru-RU" dirty="0"/>
              <a:t>10.20.2.0/24</a:t>
            </a:r>
          </a:p>
          <a:p>
            <a:r>
              <a:rPr lang="ru-RU" dirty="0"/>
              <a:t>10.20.3.0/24</a:t>
            </a:r>
          </a:p>
        </p:txBody>
      </p:sp>
    </p:spTree>
    <p:extLst>
      <p:ext uri="{BB962C8B-B14F-4D97-AF65-F5344CB8AC3E}">
        <p14:creationId xmlns:p14="http://schemas.microsoft.com/office/powerpoint/2010/main" val="10622544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Распределите устройства по двум группам (</a:t>
            </a:r>
            <a:r>
              <a:rPr lang="ru-RU" b="1" dirty="0"/>
              <a:t>Группа А: Только статический IP</a:t>
            </a:r>
            <a:r>
              <a:rPr lang="ru-RU" dirty="0"/>
              <a:t> / </a:t>
            </a:r>
            <a:r>
              <a:rPr lang="ru-RU" b="1" dirty="0"/>
              <a:t>Группа Б: Рекомендуется DHCP</a:t>
            </a:r>
            <a:r>
              <a:rPr lang="ru-RU" dirty="0"/>
              <a:t>):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Сетевое хранилище компании (NAS с базами данных)</a:t>
            </a:r>
          </a:p>
          <a:p>
            <a:r>
              <a:rPr lang="ru-RU" dirty="0"/>
              <a:t>Смартфон посетителя в гостевом </a:t>
            </a:r>
            <a:r>
              <a:rPr lang="ru-RU" dirty="0" err="1"/>
              <a:t>Wi-Fi</a:t>
            </a:r>
            <a:endParaRPr lang="ru-RU" dirty="0"/>
          </a:p>
          <a:p>
            <a:r>
              <a:rPr lang="ru-RU" dirty="0"/>
              <a:t>Основной офисный сетевой принтер/МФУ</a:t>
            </a:r>
          </a:p>
          <a:p>
            <a:r>
              <a:rPr lang="ru-RU" dirty="0"/>
              <a:t>Ноутбук менеджера по продажам</a:t>
            </a:r>
          </a:p>
          <a:p>
            <a:r>
              <a:rPr lang="ru-RU" dirty="0"/>
              <a:t>Камера видеонаблюдения, пишущая поток на </a:t>
            </a:r>
            <a:r>
              <a:rPr lang="ru-RU" dirty="0" smtClean="0"/>
              <a:t>видеорегистратор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7683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615</TotalTime>
  <Words>2426</Words>
  <Application>Microsoft Office PowerPoint</Application>
  <PresentationFormat>Широкоэкранный</PresentationFormat>
  <Paragraphs>512</Paragraphs>
  <Slides>79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79</vt:i4>
      </vt:variant>
    </vt:vector>
  </HeadingPairs>
  <TitlesOfParts>
    <vt:vector size="84" baseType="lpstr">
      <vt:lpstr>Arial</vt:lpstr>
      <vt:lpstr>Calibri</vt:lpstr>
      <vt:lpstr>Trebuchet MS</vt:lpstr>
      <vt:lpstr>Tw Cen MT</vt:lpstr>
      <vt:lpstr>Контур</vt:lpstr>
      <vt:lpstr>Сетевой уровень (L3): Протокол IP, Маршрутизация и адресация</vt:lpstr>
      <vt:lpstr>Проблемы канального уровня (Зачем нужен L3?)</vt:lpstr>
      <vt:lpstr>Функции сетевого уровня</vt:lpstr>
      <vt:lpstr>IP — Internet Protocol</vt:lpstr>
      <vt:lpstr>Инкапсуляция IP</vt:lpstr>
      <vt:lpstr>Инкапсуляция IP</vt:lpstr>
      <vt:lpstr>Инкапсуляция IP</vt:lpstr>
      <vt:lpstr>Модель обслуживания IP – best effort</vt:lpstr>
      <vt:lpstr>Формат IP-пакета</vt:lpstr>
      <vt:lpstr>Структура IPv4-адреса</vt:lpstr>
      <vt:lpstr>Из двоичной в десятичную</vt:lpstr>
      <vt:lpstr>Из десятичной в двоичную</vt:lpstr>
      <vt:lpstr>Классовая адресация</vt:lpstr>
      <vt:lpstr>Недостатки классовой адресации</vt:lpstr>
      <vt:lpstr>CIDR (Classless Inter-Domain Routing)</vt:lpstr>
      <vt:lpstr>Связь адреса IPv4 с маской подсети</vt:lpstr>
      <vt:lpstr>использование масок подсети фиксированной длины</vt:lpstr>
      <vt:lpstr>использование масок подсети фиксированной длины</vt:lpstr>
      <vt:lpstr>Маски подсети переменной длины</vt:lpstr>
      <vt:lpstr>Маски подсети переменной длины</vt:lpstr>
      <vt:lpstr>Маски подсети переменной длины</vt:lpstr>
      <vt:lpstr>Маски подсети переменной длины</vt:lpstr>
      <vt:lpstr>Презентация PowerPoint</vt:lpstr>
      <vt:lpstr>Презентация PowerPoint</vt:lpstr>
      <vt:lpstr>Презентация PowerPoint</vt:lpstr>
      <vt:lpstr>Презентация PowerPoint</vt:lpstr>
      <vt:lpstr>Прямая и косвенная доставка</vt:lpstr>
      <vt:lpstr>Маршрутизация и пересылка</vt:lpstr>
      <vt:lpstr>TTL – Time to live</vt:lpstr>
      <vt:lpstr>Таблица маршрутизации</vt:lpstr>
      <vt:lpstr>Таблица маршрутизации</vt:lpstr>
      <vt:lpstr>Использование сетевой маски для определения принадлежности узла к сети</vt:lpstr>
      <vt:lpstr>Использование сетевой маски для определения принадлежности узла к сети</vt:lpstr>
      <vt:lpstr>Логическое И</vt:lpstr>
      <vt:lpstr>Использование сетевой маски для определения принадлежности узла к сети</vt:lpstr>
      <vt:lpstr>Исключающее или не</vt:lpstr>
      <vt:lpstr>Использование сетевой маски для определения принадлежности узла к сети</vt:lpstr>
      <vt:lpstr>Поиск по таблице маршрутизации</vt:lpstr>
      <vt:lpstr>Поиск по таблице маршрутизации</vt:lpstr>
      <vt:lpstr>Поиск по таблице маршрутизации</vt:lpstr>
      <vt:lpstr>Поиск по таблице маршрутизации</vt:lpstr>
      <vt:lpstr>Поиск по таблице маршрутизации</vt:lpstr>
      <vt:lpstr>Поиск по таблице маршрутизации</vt:lpstr>
      <vt:lpstr>Поиск по таблице маршрутизации</vt:lpstr>
      <vt:lpstr>Longest Prefix Match</vt:lpstr>
      <vt:lpstr>Longest Prefix Match</vt:lpstr>
      <vt:lpstr>Longest Prefix Match</vt:lpstr>
      <vt:lpstr>Longest Prefix Match</vt:lpstr>
      <vt:lpstr>Рекурсивная маршрутизация</vt:lpstr>
      <vt:lpstr>Агрегация маршрутов</vt:lpstr>
      <vt:lpstr>Статическая маршрутизация</vt:lpstr>
      <vt:lpstr>Динамическая маршрутизация</vt:lpstr>
      <vt:lpstr>Протокол ARP (Связка L3 и L2)</vt:lpstr>
      <vt:lpstr>Протокол ARP (Связка L3 и L2)</vt:lpstr>
      <vt:lpstr>Протокол ARP (Связка L3 и L2)</vt:lpstr>
      <vt:lpstr>Протокол ARP (Связка L3 и L2)</vt:lpstr>
      <vt:lpstr>Протокол ARP (Связка L3 и L2)</vt:lpstr>
      <vt:lpstr>Протокол ARP (Связка L3 и L2)</vt:lpstr>
      <vt:lpstr>Протокол ARP (Связка L3 и L2)</vt:lpstr>
      <vt:lpstr>Gratuitous ARP</vt:lpstr>
      <vt:lpstr>Протокол ICMP и утилиты диагностики</vt:lpstr>
      <vt:lpstr>Протокол ICMP и утилиты диагностики</vt:lpstr>
      <vt:lpstr>Протокол ICMP и утилиты диагностики</vt:lpstr>
      <vt:lpstr>Конфигурация IP-адресов</vt:lpstr>
      <vt:lpstr>Автоматическая настройка: Протокол DHCP</vt:lpstr>
      <vt:lpstr>DCHP: получение адреса</vt:lpstr>
      <vt:lpstr>DCHP: получение адреса</vt:lpstr>
      <vt:lpstr>DHCP: формат сообщения</vt:lpstr>
      <vt:lpstr>DHCP: timers</vt:lpstr>
      <vt:lpstr>Фрагментация IPv4-пакетов</vt:lpstr>
      <vt:lpstr>На какой Next-hop роутер отправит пакет с IP-адресом назначения 172.16.12.50 и почему?</vt:lpstr>
      <vt:lpstr>Презентация PowerPoint</vt:lpstr>
      <vt:lpstr>Презентация PowerPoint</vt:lpstr>
      <vt:lpstr>Расставьте события жизненного цикла IP-адреса в хронологическом порядке (от 1 до 6):</vt:lpstr>
      <vt:lpstr>«Рекурсивный поиск» (Маршрутизация)</vt:lpstr>
      <vt:lpstr>Для каждой ситуации определите, какой тип ARP-сообщения будет сгенерирован (Обычный ARP Request или Gratuitous ARP):</vt:lpstr>
      <vt:lpstr>Маршрутизатор получил пакет общего размера 3000 байт (заголовок IP = 20 байт, полезная нагрузка = 2980 байт). Следующий канал связи имеет MTU = 1500 байт.</vt:lpstr>
      <vt:lpstr>Какой одной агрегированной записью (адрес сети и префикс маски) центральный маршрутизатор может описать все четыре подсети сразу, чтобы минимизировать размер таблицы маршрутизации?</vt:lpstr>
      <vt:lpstr>Распределите устройства по двум группам (Группа А: Только статический IP / Группа Б: Рекомендуется DHCP):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Сетевой уровень (L3): Протокол IP, Маршрутизация и адресация</dc:title>
  <dc:creator>Тимур А. Нахтигаль</dc:creator>
  <cp:lastModifiedBy>Тимур А. Нахтигаль</cp:lastModifiedBy>
  <cp:revision>44</cp:revision>
  <dcterms:created xsi:type="dcterms:W3CDTF">2026-08-28T07:22:13Z</dcterms:created>
  <dcterms:modified xsi:type="dcterms:W3CDTF">2026-08-31T12:52:01Z</dcterms:modified>
</cp:coreProperties>
</file>