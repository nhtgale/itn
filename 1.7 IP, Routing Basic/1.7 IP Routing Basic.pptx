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8" r:id="rId12"/>
    <p:sldId id="269" r:id="rId13"/>
    <p:sldId id="266" r:id="rId14"/>
    <p:sldId id="267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313" r:id="rId28"/>
    <p:sldId id="282" r:id="rId29"/>
    <p:sldId id="284" r:id="rId30"/>
    <p:sldId id="283" r:id="rId31"/>
    <p:sldId id="314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15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6" r:id="rId59"/>
    <p:sldId id="311" r:id="rId60"/>
    <p:sldId id="312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9" d="100"/>
          <a:sy n="109" d="100"/>
        </p:scale>
        <p:origin x="636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82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47.15719" units="1/cm"/>
          <inkml:channelProperty channel="Y" name="resolution" value="42.85714" units="1/cm"/>
          <inkml:channelProperty channel="T" name="resolution" value="1" units="1/dev"/>
        </inkml:channelProperties>
      </inkml:inkSource>
      <inkml:timestamp xml:id="ts0" timeString="2026-06-08T20:13:44.457"/>
    </inkml:context>
    <inkml:brush xml:id="br0">
      <inkml:brushProperty name="width" value="0.05" units="cm"/>
      <inkml:brushProperty name="height" value="0.05" units="cm"/>
      <inkml:brushProperty name="color" value="#ED1C24"/>
      <inkml:brushProperty name="fitToCurve" value="1"/>
    </inkml:brush>
  </inkml:definitions>
  <inkml:trace contextRef="#ctx0" brushRef="#br0">0 52 0,'25'0'47,"-25"25"-32,24-25-15,-24 24 0,26-24 16,-26 26-16,25-26 0,-25 25 0,24-25 16,-24 24-16,25-24 0,-25 25 0,26-25 0,-26 26 15,24-26-15,-24 24 0,25-24 0,-25 25 16,25-25-16,-25 25 0,24-25 0,-24 24 0,26-24 0,-26 26 15,25-26-15,-25 25 0,24-25 0,-24 24 0,25-24 0,-25 25 0,26 1 0,-2-26 0,-24 24 16,25-24-16,-25 25 0,25-25 0,-25 26 0,24-2 0,2-24 16,-26 25-16,25 0 0,-25-1 0,24-24 0,1 0 0,-25 26 15,26-1-15,-26-1 0,24-24 0,1 0 16,-25 25-16,25 1 0,1-26 16,-26 24-16,24-24 15,-24 25-15,25-25 0,-25 25 0,25-25 16,-25 26-1,24-26-15,2 0 32,-52 0 93</inkml:trace>
  <inkml:trace contextRef="#ctx0" brushRef="#br0" timeOffset="1850">25 824 0,'24'0'110,"-24"-25"-95,26 25-15,-26-25 16,25 1-16,-25-2 15,24 26-15,-24-25 0,0 1 16,25 24-16,-25-25 0,26 25 0,-26-26 0,0 2 16,24 24-16,-24-25 0,25 25 0,-25-25 15,25 1-15,-25-2 0,24 26 16,-24-25-16,0 1 0,26 24 0,-26-26 16,25 26-16,-25-25 0,0 1 0,24 24 0,-24-25 15,25 25-15,-25-26 0,26 2 16,-26-1-16,24 25 0,-24-25 15,25 25-15,-25-24 16,25 24-16,-25-26 16,24 26-16,-24-25 15,26 25-15,-26-24 0,25 24 16,-25-25-16,24 25 0,-24-26 16,25 26-16,-25-24 15,26 24-15,-26-25 16,24 25-16,-24-25 15,25 25-15,-25-24 32,25 24-17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82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47.15719" units="1/cm"/>
          <inkml:channelProperty channel="Y" name="resolution" value="42.85714" units="1/cm"/>
          <inkml:channelProperty channel="T" name="resolution" value="1" units="1/dev"/>
        </inkml:channelProperties>
      </inkml:inkSource>
      <inkml:timestamp xml:id="ts0" timeString="2026-06-08T20:13:48.284"/>
    </inkml:context>
    <inkml:brush xml:id="br0">
      <inkml:brushProperty name="width" value="0.05" units="cm"/>
      <inkml:brushProperty name="height" value="0.05" units="cm"/>
      <inkml:brushProperty name="color" value="#ED1C24"/>
      <inkml:brushProperty name="fitToCurve" value="1"/>
    </inkml:brush>
  </inkml:definitions>
  <inkml:trace contextRef="#ctx0" brushRef="#br0">0 25 0,'25'0'94,"-1"0"-94,2 0 15,-26 26-15,25-26 0,-25 24 0,24-24 16,-24 25-16,25-25 0,-25 25 0,26-25 16,-26 24-16,24-24 0,-24 26 0,25-26 0,-25 25 15,25-25-15,-25 25 0,24-25 0,-24 24 0,26-24 0,-26 26 16,25-26-16,-25 25 0,24-25 0,-24 24 0,26-24 16,-26 26-16,25-26 0,-25 25 0,24-25 0,-24 24 0,25 1 15,-25 1-15,26-26 0,-26 24 16,24-24-16,-24 25 0,25-25 0,-25 25 15,25-25-15,-25 24 0,24-24 0,-24 26 0,26-26 16,-26 25-16,25-25 0,-25 24 0,24-24 0,-24 25 16,25-25-16,1 0 15,-26 26-15</inkml:trace>
  <inkml:trace contextRef="#ctx0" brushRef="#br0" timeOffset="1089">75 674 0,'25'0'62,"-1"0"-46,1 0-16,-25-26 16,26 26-16,-26-25 0,24 25 0,-24-24 15,25 24-15,-25-25 0,25 25 16,-25-26-16,24 26 0,-24-24 0,0-1 16,26 25-16,-26-25 0,25 25 0,-25-24 0,0-2 15,0 1-15,24 25 0,-24-24 0,26 24 16,-26-25-16,25-1 0,-25 2 15,24 24-15,-24-25 0,0-1 16,25 26-16,-25-24 0,26 24 16,-26-25-16,0 0 0,24 25 0,-24-26 15,0 2-15,25 24 0,-25-25 16,0 0 0,25 25-16,-25-24 0,24 24 15,-24-26 1,26 26-1,-1 0 32,-25-25-47,24 25 47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82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47.15719" units="1/cm"/>
          <inkml:channelProperty channel="Y" name="resolution" value="42.85714" units="1/cm"/>
          <inkml:channelProperty channel="T" name="resolution" value="1" units="1/dev"/>
        </inkml:channelProperties>
      </inkml:inkSource>
      <inkml:timestamp xml:id="ts0" timeString="2026-06-08T20:13:53.896"/>
    </inkml:context>
    <inkml:brush xml:id="br0">
      <inkml:brushProperty name="width" value="0.05" units="cm"/>
      <inkml:brushProperty name="height" value="0.05" units="cm"/>
      <inkml:brushProperty name="color" value="#177D36"/>
      <inkml:brushProperty name="fitToCurve" value="1"/>
    </inkml:brush>
  </inkml:definitions>
  <inkml:trace contextRef="#ctx0" brushRef="#br0">0 352 0,'25'0'78,"-25"24"-62,26-24-1,-26 25 1,24-25-16,1 26 15,-25-2 1,25-24-16,-25 25 16,24 0-16,-24-1 15,26-24-15,-26 26 0,0-1 16,25-25 0,-25 24-16,0 1 15,0 1 1,24-26-16,-24 24 15,25-24-15,-25 25 0,0 0 0,26-25 16,-26 24-16,0 2 0,24-26 16,-24 25-16,25-25 0,-25 24 15,0 1-15,25-25 16,-25 26-16,24-2 16,-24-48 265,0-2-266,0 1 1,0 1 0,26 24-16,-26-25 15,0-1-15,25 26 16,-25-24-16,0-1 0,24 25 16,-24-25-16,0 1 15,25 24-15,-25-26 0,26 26 0,-26-25 16,24 25-16,-24-24 0,25-1 15,0 25-15,-25-26 0,24 2 16,2 24-16,-26-25 0,25 25 16,-25-25-16,0 1 0,24 24 0,1 0 15,-25-26-15,0 1 0,26 25 0,-1-24 16,-1 24-16,-24-25 0,25-1 16,1 26-16,-26-24 0,0-1 15,24 25-15,-24-25 0,25 25 0,-25-24 16,25 24-16,-25-26 0,24 26 15,-24-25-15,26 25 0,-26-24 0,25 24 16,-25-25-16,24 25 16,-24-26-16,25 26 0,-25-25 15,26 25-15,-26-24 16,24 24 0,-24-25-16,-24 25 140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F64A1B-B33A-494C-96A5-F502129919B1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B99A02-4480-463B-92FE-BF9C862E4DA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6602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e81052cbe3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e81052cbe3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68472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e81052cbe3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e81052cbe3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80814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955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4900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0140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7356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5970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5696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060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3702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6513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939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93858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635175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48234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81598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539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70269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98587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840631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A4CA9E-41A0-4A25-A87E-B4F1E3C13C9C}" type="datetimeFigureOut">
              <a:rPr lang="ru-RU" smtClean="0"/>
              <a:t>28.08.2026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323443-0281-45D8-A12C-B743A191E08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28650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  <p:sldLayoutId id="214748369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netacad.sadlab.su/games/binary/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subnetipv4.com/" TargetMode="External"/><Relationship Id="rId2" Type="http://schemas.openxmlformats.org/officeDocument/2006/relationships/hyperlink" Target="https://www.meridianoutpost.com/resources/etools/network/VLSM-practice-generator.php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isualsubnetcalc.com/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7" Type="http://schemas.openxmlformats.org/officeDocument/2006/relationships/image" Target="../media/image34.emf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8.xml"/><Relationship Id="rId6" Type="http://schemas.openxmlformats.org/officeDocument/2006/relationships/customXml" Target="../ink/ink3.xml"/><Relationship Id="rId5" Type="http://schemas.openxmlformats.org/officeDocument/2006/relationships/image" Target="../media/image33.emf"/><Relationship Id="rId4" Type="http://schemas.openxmlformats.org/officeDocument/2006/relationships/customXml" Target="../ink/ink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Сетевой уровень (L3): Протокол IP, Маршрутизация и адресация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30349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Проблемы канального уровня (Зачем нужен L3</a:t>
            </a:r>
            <a:r>
              <a:rPr lang="ru-RU" b="1" dirty="0" smtClean="0"/>
              <a:t>?)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Несовместимость L2-технологий (</a:t>
            </a:r>
            <a:r>
              <a:rPr lang="ru-RU" dirty="0" err="1"/>
              <a:t>Ethernet</a:t>
            </a:r>
            <a:r>
              <a:rPr lang="ru-RU" dirty="0"/>
              <a:t>, </a:t>
            </a:r>
            <a:r>
              <a:rPr lang="ru-RU" dirty="0" err="1"/>
              <a:t>Wi-Fi</a:t>
            </a:r>
            <a:r>
              <a:rPr lang="ru-RU" dirty="0"/>
              <a:t>, PPP).</a:t>
            </a:r>
          </a:p>
          <a:p>
            <a:r>
              <a:rPr lang="ru-RU" dirty="0"/>
              <a:t>Плоская адресация: MAC-адрес привязан к «железу» и не масштабируется.</a:t>
            </a:r>
          </a:p>
          <a:p>
            <a:r>
              <a:rPr lang="ru-RU" dirty="0"/>
              <a:t>Ограничения таблиц коммутации и проблема широковещательного шторма.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229901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Функции сетевого уровня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1" dirty="0"/>
              <a:t>L3 обеспечивает межсетевое взаимодействие, глобальную логическую адресацию и изоляцию широковещательных доменов.</a:t>
            </a:r>
            <a:endParaRPr lang="en-US" b="1" dirty="0" smtClean="0"/>
          </a:p>
          <a:p>
            <a:r>
              <a:rPr lang="ru-RU" b="1" dirty="0" smtClean="0"/>
              <a:t>Услуга </a:t>
            </a:r>
            <a:r>
              <a:rPr lang="ru-RU" b="1" dirty="0"/>
              <a:t>связи «узел-узел». </a:t>
            </a:r>
            <a:r>
              <a:rPr lang="ru-RU" dirty="0" smtClean="0"/>
              <a:t>Сетевой </a:t>
            </a:r>
            <a:r>
              <a:rPr lang="ru-RU" dirty="0"/>
              <a:t>уровень должен обеспечивать связь между узлами, не имеющими возможности связаться напрямую</a:t>
            </a:r>
            <a:r>
              <a:rPr lang="ru-RU" dirty="0" smtClean="0"/>
              <a:t>.</a:t>
            </a:r>
          </a:p>
          <a:p>
            <a:r>
              <a:rPr lang="ru-RU" b="1" dirty="0"/>
              <a:t>Адресация оконечных устройств</a:t>
            </a:r>
            <a:r>
              <a:rPr lang="ru-RU" dirty="0"/>
              <a:t> - Оконечным устройствам необходимо назначить уникальный </a:t>
            </a:r>
            <a:r>
              <a:rPr lang="ru-RU" dirty="0" smtClean="0"/>
              <a:t>адрес </a:t>
            </a:r>
            <a:r>
              <a:rPr lang="ru-RU" dirty="0"/>
              <a:t>для возможности их идентификации в сети.</a:t>
            </a:r>
          </a:p>
          <a:p>
            <a:r>
              <a:rPr lang="ru-RU" b="1" dirty="0"/>
              <a:t>Маршрутизация</a:t>
            </a:r>
            <a:r>
              <a:rPr lang="ru-RU" dirty="0"/>
              <a:t> - Сетевой уровень предоставляет сервисы, с помощью которых пакеты направляются к узлу назначения в другой </a:t>
            </a:r>
            <a:r>
              <a:rPr lang="ru-RU" dirty="0" smtClean="0"/>
              <a:t>сети.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77373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/>
              <a:t>IP — Internet </a:t>
            </a:r>
            <a:r>
              <a:rPr lang="af-ZA" b="1" dirty="0" smtClean="0"/>
              <a:t>Protocol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74258" y="2398957"/>
            <a:ext cx="5451924" cy="3541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6332" y="2954215"/>
            <a:ext cx="48066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Протокол IP (</a:t>
            </a:r>
            <a:r>
              <a:rPr lang="ru-RU" dirty="0" err="1"/>
              <a:t>Internet</a:t>
            </a:r>
            <a:r>
              <a:rPr lang="ru-RU" dirty="0"/>
              <a:t> </a:t>
            </a:r>
            <a:r>
              <a:rPr lang="ru-RU" dirty="0" err="1"/>
              <a:t>Protocol</a:t>
            </a:r>
            <a:r>
              <a:rPr lang="ru-RU" dirty="0"/>
              <a:t>) — это "почтальон" интернета, отвечающий за маршрутизацию пакетов данных. Он был создан в 70-х, а в 1983 году стал общеобязательным стандартом, запустив глобальный рост сети. Сегодня мир переходит с версии IPv4 на версию IPv6 из-за нехватки адресов.</a:t>
            </a:r>
          </a:p>
        </p:txBody>
      </p:sp>
    </p:spTree>
    <p:extLst>
      <p:ext uri="{BB962C8B-B14F-4D97-AF65-F5344CB8AC3E}">
        <p14:creationId xmlns:p14="http://schemas.microsoft.com/office/powerpoint/2010/main" val="1332780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Инкапсуляция </a:t>
            </a:r>
            <a:r>
              <a:rPr lang="af-ZA" b="1" dirty="0" smtClean="0"/>
              <a:t>IP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77055" y="1899291"/>
            <a:ext cx="7834714" cy="4467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9915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Инкапсуляция </a:t>
            </a:r>
            <a:r>
              <a:rPr lang="af-ZA" b="1" dirty="0" smtClean="0"/>
              <a:t>IP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4770" y="2249487"/>
            <a:ext cx="9474068" cy="361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6984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Инкапсуляция </a:t>
            </a:r>
            <a:r>
              <a:rPr lang="af-ZA" b="1" dirty="0" smtClean="0"/>
              <a:t>IP</a:t>
            </a:r>
            <a:endParaRPr lang="ru-RU" dirty="0"/>
          </a:p>
        </p:txBody>
      </p:sp>
      <p:pic>
        <p:nvPicPr>
          <p:cNvPr id="1028" name="Picture 4" descr="Работа сетевых устройств на уровнях модели OSI.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5224" y="2097088"/>
            <a:ext cx="9191100" cy="4405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5123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Модель </a:t>
            </a:r>
            <a:r>
              <a:rPr lang="ru-RU" b="1" dirty="0" smtClean="0"/>
              <a:t>обслуживания </a:t>
            </a:r>
            <a:r>
              <a:rPr lang="en-US" b="1" dirty="0" smtClean="0"/>
              <a:t>IP – best effort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Без установления соединения </a:t>
            </a:r>
            <a:r>
              <a:rPr lang="ru-RU" dirty="0"/>
              <a:t>- </a:t>
            </a:r>
            <a:r>
              <a:rPr lang="ru-RU" dirty="0" smtClean="0"/>
              <a:t>перед </a:t>
            </a:r>
            <a:r>
              <a:rPr lang="ru-RU" dirty="0"/>
              <a:t>отправкой пакетов данных соединение с хостом назначения не устанавливается.</a:t>
            </a:r>
          </a:p>
          <a:p>
            <a:r>
              <a:rPr lang="ru-RU" b="1" dirty="0"/>
              <a:t>Негарантированная доставка</a:t>
            </a:r>
            <a:r>
              <a:rPr lang="ru-RU" dirty="0"/>
              <a:t> - </a:t>
            </a:r>
            <a:r>
              <a:rPr lang="ru-RU" dirty="0" smtClean="0"/>
              <a:t>IP-протокол </a:t>
            </a:r>
            <a:r>
              <a:rPr lang="ru-RU" dirty="0"/>
              <a:t>по своей сути неустойчив, так как доставка пакетов не гарантируется.</a:t>
            </a:r>
          </a:p>
          <a:p>
            <a:r>
              <a:rPr lang="ru-RU" b="1" dirty="0"/>
              <a:t>Независимость от среды</a:t>
            </a:r>
            <a:r>
              <a:rPr lang="ru-RU" dirty="0"/>
              <a:t> - работа не зависит от средства подключения (медный, оптоволоконный кабель или беспроводная среда).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96274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41413" y="164249"/>
            <a:ext cx="9905998" cy="1478570"/>
          </a:xfrm>
        </p:spPr>
        <p:txBody>
          <a:bodyPr/>
          <a:lstStyle/>
          <a:p>
            <a:r>
              <a:rPr lang="ru-RU" b="1" dirty="0"/>
              <a:t>Формат </a:t>
            </a:r>
            <a:r>
              <a:rPr lang="af-ZA" b="1" dirty="0"/>
              <a:t>IP-</a:t>
            </a:r>
            <a:r>
              <a:rPr lang="ru-RU" b="1" dirty="0" smtClean="0"/>
              <a:t>пакета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98683" y="1642819"/>
            <a:ext cx="6391458" cy="496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135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Структура </a:t>
            </a:r>
            <a:r>
              <a:rPr lang="af-ZA" b="1" dirty="0"/>
              <a:t>IPv4-</a:t>
            </a:r>
            <a:r>
              <a:rPr lang="ru-RU" b="1" dirty="0" smtClean="0"/>
              <a:t>адреса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3000" y="1932964"/>
            <a:ext cx="9905999" cy="1707051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IPv4-адрес — это уникальный 32-битный числовой идентификатор, присваиваемый каждому устройству в сети для его идентификации и маршрутизации трафика.</a:t>
            </a:r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141412" y="453048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539" y="3734217"/>
            <a:ext cx="8855268" cy="2830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587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Из двоичной в десятичную</a:t>
            </a:r>
            <a:endParaRPr lang="ru-RU" dirty="0"/>
          </a:p>
        </p:txBody>
      </p:sp>
      <p:pic>
        <p:nvPicPr>
          <p:cNvPr id="4098" name="Picture 2" descr="Как переводить из двоичной системы в десятичную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2515" y="1900603"/>
            <a:ext cx="5187462" cy="3890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629400" y="3335762"/>
            <a:ext cx="4875211" cy="1020277"/>
          </a:xfrm>
        </p:spPr>
        <p:txBody>
          <a:bodyPr/>
          <a:lstStyle/>
          <a:p>
            <a:r>
              <a:rPr lang="ru-RU" dirty="0" smtClean="0"/>
              <a:t>Нужно выписать значения значащих разрядов и сложить их</a:t>
            </a:r>
            <a:endParaRPr lang="ru-RU" dirty="0"/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141412" y="453048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25869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Из десятичной в двоичную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68915" y="1723292"/>
            <a:ext cx="5156565" cy="4914900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Делим </a:t>
            </a:r>
            <a:r>
              <a:rPr lang="ru-RU" dirty="0" smtClean="0"/>
              <a:t>n​</a:t>
            </a:r>
            <a:r>
              <a:rPr lang="ru-RU" dirty="0"/>
              <a:t> на 2 и записываем остаток от деления.</a:t>
            </a:r>
          </a:p>
          <a:p>
            <a:r>
              <a:rPr lang="ru-RU" dirty="0"/>
              <a:t>Результат деления вновь делим на 2 и опять записываем остаток.</a:t>
            </a:r>
          </a:p>
          <a:p>
            <a:r>
              <a:rPr lang="ru-RU" dirty="0"/>
              <a:t>Повторяем операцию до тех пор, пока результат деления не будет равен нулю.</a:t>
            </a:r>
          </a:p>
          <a:p>
            <a:r>
              <a:rPr lang="ru-RU" dirty="0"/>
              <a:t>Записываем полученные остатки в обратном порядке. Полученное число и будет </a:t>
            </a:r>
            <a:r>
              <a:rPr lang="ru-RU" dirty="0" smtClean="0"/>
              <a:t>искомым​.</a:t>
            </a:r>
          </a:p>
          <a:p>
            <a:pPr marL="0" indent="0">
              <a:buNone/>
            </a:pPr>
            <a:r>
              <a:rPr lang="en-US" dirty="0" smtClean="0">
                <a:hlinkClick r:id="rId2"/>
              </a:rPr>
              <a:t>Binary Game</a:t>
            </a:r>
            <a:endParaRPr lang="ru-RU" dirty="0"/>
          </a:p>
        </p:txBody>
      </p:sp>
      <p:pic>
        <p:nvPicPr>
          <p:cNvPr id="5122" name="Picture 2" descr="Метод подбора степеней 2"/>
          <p:cNvPicPr>
            <a:picLocks noGrp="1" noChangeAspect="1" noChangeArrowheads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9612" y="1928812"/>
            <a:ext cx="4094712" cy="4332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350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6244" y="0"/>
            <a:ext cx="9905998" cy="1478570"/>
          </a:xfrm>
        </p:spPr>
        <p:txBody>
          <a:bodyPr/>
          <a:lstStyle/>
          <a:p>
            <a:r>
              <a:rPr lang="ru-RU" b="1" dirty="0"/>
              <a:t>Классовая </a:t>
            </a:r>
            <a:r>
              <a:rPr lang="ru-RU" b="1" dirty="0" smtClean="0"/>
              <a:t>адресация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6747" y="1216878"/>
            <a:ext cx="10359292" cy="1444261"/>
          </a:xfrm>
          <a:prstGeom prst="rect">
            <a:avLst/>
          </a:prstGeom>
        </p:spPr>
      </p:pic>
      <p:pic>
        <p:nvPicPr>
          <p:cNvPr id="3074" name="Picture 2" descr="Типы IPv4-адресов. Бесклассовая адресация. CCNA Routing and Switching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7037" y="2907323"/>
            <a:ext cx="5753100" cy="3419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7975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Недостатки классовой адресации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1698259"/>
          </a:xfrm>
        </p:spPr>
        <p:txBody>
          <a:bodyPr/>
          <a:lstStyle/>
          <a:p>
            <a:r>
              <a:rPr lang="ru-RU" dirty="0" smtClean="0"/>
              <a:t>Перерасход адресов</a:t>
            </a:r>
          </a:p>
          <a:p>
            <a:r>
              <a:rPr lang="ru-RU" dirty="0" smtClean="0"/>
              <a:t>Отсутствие гибкости</a:t>
            </a:r>
          </a:p>
          <a:p>
            <a:r>
              <a:rPr lang="ru-RU" dirty="0" smtClean="0"/>
              <a:t>Большие таблицы маршрутизации</a:t>
            </a:r>
            <a:endParaRPr lang="ru-RU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784081"/>
              </p:ext>
            </p:extLst>
          </p:nvPr>
        </p:nvGraphicFramePr>
        <p:xfrm>
          <a:off x="1371600" y="4100145"/>
          <a:ext cx="3226778" cy="2407920"/>
        </p:xfrm>
        <a:graphic>
          <a:graphicData uri="http://schemas.openxmlformats.org/drawingml/2006/table">
            <a:tbl>
              <a:tblPr/>
              <a:tblGrid>
                <a:gridCol w="712177">
                  <a:extLst>
                    <a:ext uri="{9D8B030D-6E8A-4147-A177-3AD203B41FA5}">
                      <a16:colId xmlns:a16="http://schemas.microsoft.com/office/drawing/2014/main" val="4037843665"/>
                    </a:ext>
                  </a:extLst>
                </a:gridCol>
                <a:gridCol w="2514601">
                  <a:extLst>
                    <a:ext uri="{9D8B030D-6E8A-4147-A177-3AD203B41FA5}">
                      <a16:colId xmlns:a16="http://schemas.microsoft.com/office/drawing/2014/main" val="36032409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effectLst/>
                        </a:rPr>
                        <a:t>Номер сети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effectLst/>
                        </a:rPr>
                        <a:t>Куда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79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3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0757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4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04905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...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5697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7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012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200">
                          <a:effectLst/>
                        </a:rPr>
                        <a:t>15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4849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200">
                          <a:effectLst/>
                        </a:rPr>
                        <a:t>...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882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200">
                          <a:effectLst/>
                        </a:rPr>
                        <a:t>19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0311425"/>
                  </a:ext>
                </a:extLst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141413" y="254158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119738"/>
              </p:ext>
            </p:extLst>
          </p:nvPr>
        </p:nvGraphicFramePr>
        <p:xfrm>
          <a:off x="7237413" y="4749750"/>
          <a:ext cx="4303713" cy="1108710"/>
        </p:xfrm>
        <a:graphic>
          <a:graphicData uri="http://schemas.openxmlformats.org/drawingml/2006/table">
            <a:tbl>
              <a:tblPr/>
              <a:tblGrid>
                <a:gridCol w="1342761">
                  <a:extLst>
                    <a:ext uri="{9D8B030D-6E8A-4147-A177-3AD203B41FA5}">
                      <a16:colId xmlns:a16="http://schemas.microsoft.com/office/drawing/2014/main" val="4265420527"/>
                    </a:ext>
                  </a:extLst>
                </a:gridCol>
                <a:gridCol w="2960952">
                  <a:extLst>
                    <a:ext uri="{9D8B030D-6E8A-4147-A177-3AD203B41FA5}">
                      <a16:colId xmlns:a16="http://schemas.microsoft.com/office/drawing/2014/main" val="12827823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Номер сети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>
                          <a:effectLst/>
                        </a:rPr>
                        <a:t>Куда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924213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3-7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1586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15-19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Кампус университета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5434204"/>
                  </a:ext>
                </a:extLst>
              </a:tr>
            </a:tbl>
          </a:graphicData>
        </a:graphic>
      </p:graphicFrame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1141413" y="346551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Стрелка вправо 7"/>
          <p:cNvSpPr/>
          <p:nvPr/>
        </p:nvSpPr>
        <p:spPr>
          <a:xfrm>
            <a:off x="5029200" y="4871670"/>
            <a:ext cx="1951892" cy="77299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5841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dirty="0"/>
              <a:t>CIDR (Classless Inter-Domain Routing)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Описана в 1993 году в </a:t>
            </a:r>
            <a:r>
              <a:rPr lang="en-US" dirty="0" smtClean="0"/>
              <a:t>RFC 1517</a:t>
            </a:r>
            <a:endParaRPr lang="ru-RU" dirty="0" smtClean="0"/>
          </a:p>
          <a:p>
            <a:r>
              <a:rPr lang="ru-RU" dirty="0" smtClean="0"/>
              <a:t>Размер сети определяется «маской подсети»</a:t>
            </a:r>
            <a:endParaRPr lang="en-US" dirty="0" smtClean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749" y="3732757"/>
            <a:ext cx="9621593" cy="2219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6943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Связь адреса IPv4 с маской </a:t>
            </a:r>
            <a:r>
              <a:rPr lang="ru-RU" dirty="0" smtClean="0"/>
              <a:t>подсети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51285" y="2284658"/>
            <a:ext cx="8486253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3930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43001" y="328372"/>
            <a:ext cx="9905998" cy="1478570"/>
          </a:xfrm>
        </p:spPr>
        <p:txBody>
          <a:bodyPr/>
          <a:lstStyle/>
          <a:p>
            <a:r>
              <a:rPr lang="ru-RU" dirty="0" smtClean="0"/>
              <a:t>использование </a:t>
            </a:r>
            <a:r>
              <a:rPr lang="ru-RU" dirty="0"/>
              <a:t>масок подсети фиксированной длины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1842" y="1660219"/>
            <a:ext cx="5544539" cy="47405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1238" y="2994247"/>
            <a:ext cx="44550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192.168.20.0/24</a:t>
            </a:r>
            <a:endParaRPr lang="ru-RU" dirty="0" smtClean="0"/>
          </a:p>
          <a:p>
            <a:endParaRPr lang="ru-RU" dirty="0"/>
          </a:p>
          <a:p>
            <a:r>
              <a:rPr lang="ru-RU" dirty="0" smtClean="0"/>
              <a:t>11000000.10101000.00010100 </a:t>
            </a:r>
            <a:r>
              <a:rPr lang="ru-RU" dirty="0"/>
              <a:t>.00000000</a:t>
            </a:r>
          </a:p>
          <a:p>
            <a:r>
              <a:rPr lang="ru-RU" dirty="0"/>
              <a:t>11111111.11111111.11111111 .00000000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43825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масок подсети фиксированной длины</a:t>
            </a:r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68707" y="2097088"/>
            <a:ext cx="6626482" cy="4387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0109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Маски подсети переменной длины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83096" y="1850904"/>
            <a:ext cx="5222631" cy="4565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014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Маски подсети переменной длины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1384" y="2097088"/>
            <a:ext cx="4648434" cy="3980656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8286" y="1977598"/>
            <a:ext cx="4429125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0291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Маски подсети переменной длины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6261" y="2003303"/>
            <a:ext cx="7716302" cy="4409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706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Маски подсети переменной длины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55168" y="1976926"/>
            <a:ext cx="7481663" cy="4421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946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https://habrastorage.org/r/w1560/files/17e/37d/ae9/17e37dae9b9243989f885ae09755f2ac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8139" y="1357803"/>
            <a:ext cx="7015722" cy="41887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02464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https://habrastorage.org/r/w1560/files/3c5/b2c/b94/3c5b2cb942294979be6a9c3178ed342e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4223" y="969654"/>
            <a:ext cx="8123553" cy="4918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3206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https://habrastorage.org/r/w1560/files/8c1/e59/da0/8c1e59da02724c7daf54d17ae1d6b1b8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0529" y="1151301"/>
            <a:ext cx="7570941" cy="4555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5103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af-ZA" sz="3600" dirty="0" smtClean="0">
                <a:hlinkClick r:id="rId2"/>
              </a:rPr>
              <a:t>meridianoutpost.com</a:t>
            </a:r>
            <a:endParaRPr lang="af-ZA" sz="3600" dirty="0" smtClean="0"/>
          </a:p>
          <a:p>
            <a:pPr marL="0" indent="0" algn="ctr">
              <a:buNone/>
            </a:pPr>
            <a:r>
              <a:rPr lang="af-ZA" sz="3600" dirty="0" smtClean="0">
                <a:hlinkClick r:id="rId3"/>
              </a:rPr>
              <a:t>subnetipv4.com</a:t>
            </a:r>
            <a:endParaRPr lang="af-ZA" sz="3600" dirty="0" smtClean="0"/>
          </a:p>
          <a:p>
            <a:pPr marL="0" indent="0" algn="ctr">
              <a:buNone/>
            </a:pPr>
            <a:r>
              <a:rPr lang="af-ZA" sz="3600" dirty="0">
                <a:hlinkClick r:id="rId4"/>
              </a:rPr>
              <a:t>visualsubnetcalc.com</a:t>
            </a: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2753531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Прямая и косвенная доставка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67936" y="2249488"/>
            <a:ext cx="8652953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7149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Маршрутизация и пересылка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57997" y="2003303"/>
            <a:ext cx="5472829" cy="4300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1626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TTL – Time to live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9743" y="2249488"/>
            <a:ext cx="7609339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6351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Таблица маршрутизации</a:t>
            </a:r>
            <a:endParaRPr lang="ru-RU" dirty="0"/>
          </a:p>
        </p:txBody>
      </p:sp>
      <p:pic>
        <p:nvPicPr>
          <p:cNvPr id="6" name="Google Shape;424;p72"/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414559" y="2775658"/>
            <a:ext cx="6373103" cy="366031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42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6752" y="1773864"/>
            <a:ext cx="7526802" cy="118822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Прямоугольник 3"/>
          <p:cNvSpPr/>
          <p:nvPr/>
        </p:nvSpPr>
        <p:spPr>
          <a:xfrm>
            <a:off x="7206762" y="3929442"/>
            <a:ext cx="48966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Прямо подключённые сети (</a:t>
            </a:r>
            <a:r>
              <a:rPr lang="ru-RU" dirty="0" err="1"/>
              <a:t>connected</a:t>
            </a:r>
            <a:r>
              <a:rPr lang="ru-RU" dirty="0"/>
              <a:t>). </a:t>
            </a:r>
            <a:endParaRPr lang="ru-RU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</a:t>
            </a:r>
            <a:r>
              <a:rPr lang="ru-RU" dirty="0" smtClean="0"/>
              <a:t>татические </a:t>
            </a:r>
            <a:r>
              <a:rPr lang="ru-RU" dirty="0"/>
              <a:t>маршруты. </a:t>
            </a:r>
            <a:endParaRPr lang="ru-RU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Динамические </a:t>
            </a:r>
            <a:r>
              <a:rPr lang="ru-RU" dirty="0"/>
              <a:t>маршруты. </a:t>
            </a:r>
          </a:p>
        </p:txBody>
      </p:sp>
    </p:spTree>
    <p:extLst>
      <p:ext uri="{BB962C8B-B14F-4D97-AF65-F5344CB8AC3E}">
        <p14:creationId xmlns:p14="http://schemas.microsoft.com/office/powerpoint/2010/main" val="38737518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Таблица маршрутизации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2275" y="2553289"/>
            <a:ext cx="8964276" cy="293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266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ru" dirty="0"/>
              <a:t>Использование сетевой маски</a:t>
            </a:r>
            <a:r>
              <a:rPr lang="en-US" dirty="0"/>
              <a:t> </a:t>
            </a:r>
            <a:r>
              <a:rPr lang="ru-RU" dirty="0"/>
              <a:t>для определения принадлежности узла к сети</a:t>
            </a:r>
            <a:endParaRPr dirty="0"/>
          </a:p>
        </p:txBody>
      </p:sp>
      <p:sp>
        <p:nvSpPr>
          <p:cNvPr id="173" name="Google Shape;173;p33"/>
          <p:cNvSpPr txBox="1"/>
          <p:nvPr/>
        </p:nvSpPr>
        <p:spPr>
          <a:xfrm>
            <a:off x="2397133" y="2058300"/>
            <a:ext cx="72800" cy="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endParaRPr sz="2400">
              <a:solidFill>
                <a:schemeClr val="dk2"/>
              </a:solidFill>
            </a:endParaRPr>
          </a:p>
        </p:txBody>
      </p:sp>
      <p:sp>
        <p:nvSpPr>
          <p:cNvPr id="174" name="Google Shape;174;p33"/>
          <p:cNvSpPr txBox="1"/>
          <p:nvPr/>
        </p:nvSpPr>
        <p:spPr>
          <a:xfrm>
            <a:off x="415600" y="1785801"/>
            <a:ext cx="11360800" cy="16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just"/>
            <a:r>
              <a:rPr lang="ru" sz="4667" b="1" dirty="0"/>
              <a:t>     192     .     168     .      10      .      </a:t>
            </a:r>
            <a:r>
              <a:rPr lang="ru" sz="4667" b="1" dirty="0" smtClean="0"/>
              <a:t>0      </a:t>
            </a:r>
            <a:r>
              <a:rPr lang="en-US" sz="4667" b="1" dirty="0" smtClean="0"/>
              <a:t>/24</a:t>
            </a:r>
            <a:endParaRPr sz="4667" b="1" dirty="0"/>
          </a:p>
          <a:p>
            <a:r>
              <a:rPr lang="ru" sz="4667" b="1" dirty="0"/>
              <a:t>11000000 10101000 00001010 </a:t>
            </a:r>
            <a:r>
              <a:rPr lang="ru" sz="4667" b="1" dirty="0" smtClean="0"/>
              <a:t>00000000</a:t>
            </a:r>
            <a:endParaRPr sz="4667" b="1" dirty="0"/>
          </a:p>
        </p:txBody>
      </p:sp>
      <p:sp>
        <p:nvSpPr>
          <p:cNvPr id="175" name="Google Shape;175;p33"/>
          <p:cNvSpPr txBox="1"/>
          <p:nvPr/>
        </p:nvSpPr>
        <p:spPr>
          <a:xfrm>
            <a:off x="415600" y="4314367"/>
            <a:ext cx="11360800" cy="16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just"/>
            <a:r>
              <a:rPr lang="ru" sz="4667" b="1" dirty="0"/>
              <a:t>     172     .      20      .       1      .       7</a:t>
            </a:r>
            <a:endParaRPr sz="4667" b="1" dirty="0"/>
          </a:p>
          <a:p>
            <a:r>
              <a:rPr lang="ru" sz="4667" b="1" dirty="0"/>
              <a:t>10101100 00010100 00000001 00000111</a:t>
            </a:r>
            <a:endParaRPr sz="4667" b="1" dirty="0"/>
          </a:p>
        </p:txBody>
      </p:sp>
    </p:spTree>
    <p:extLst>
      <p:ext uri="{BB962C8B-B14F-4D97-AF65-F5344CB8AC3E}">
        <p14:creationId xmlns:p14="http://schemas.microsoft.com/office/powerpoint/2010/main" val="4019066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90000"/>
          </a:bodyPr>
          <a:lstStyle/>
          <a:p>
            <a:r>
              <a:rPr lang="ru" dirty="0"/>
              <a:t>Использование сетевой маски</a:t>
            </a:r>
            <a:r>
              <a:rPr lang="en-US" dirty="0"/>
              <a:t> </a:t>
            </a:r>
            <a:r>
              <a:rPr lang="ru-RU" dirty="0"/>
              <a:t>для определения принадлежности узла к сети</a:t>
            </a:r>
            <a:endParaRPr dirty="0"/>
          </a:p>
        </p:txBody>
      </p:sp>
      <p:sp>
        <p:nvSpPr>
          <p:cNvPr id="173" name="Google Shape;173;p33"/>
          <p:cNvSpPr txBox="1"/>
          <p:nvPr/>
        </p:nvSpPr>
        <p:spPr>
          <a:xfrm>
            <a:off x="2397133" y="2058300"/>
            <a:ext cx="72800" cy="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endParaRPr sz="2400">
              <a:solidFill>
                <a:schemeClr val="dk2"/>
              </a:solidFill>
            </a:endParaRPr>
          </a:p>
        </p:txBody>
      </p:sp>
      <p:sp>
        <p:nvSpPr>
          <p:cNvPr id="174" name="Google Shape;174;p33"/>
          <p:cNvSpPr txBox="1"/>
          <p:nvPr/>
        </p:nvSpPr>
        <p:spPr>
          <a:xfrm>
            <a:off x="415600" y="1785801"/>
            <a:ext cx="11360800" cy="16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just"/>
            <a:r>
              <a:rPr lang="ru" sz="4667" b="1" dirty="0"/>
              <a:t>     192     .     168     .      10      .      </a:t>
            </a:r>
            <a:r>
              <a:rPr lang="ru" sz="4667" b="1" dirty="0" smtClean="0"/>
              <a:t>0      </a:t>
            </a:r>
            <a:r>
              <a:rPr lang="en-US" sz="4667" b="1" dirty="0" smtClean="0"/>
              <a:t>/24</a:t>
            </a:r>
            <a:endParaRPr sz="4667" b="1" dirty="0"/>
          </a:p>
          <a:p>
            <a:r>
              <a:rPr lang="ru" sz="4667" b="1" dirty="0"/>
              <a:t>11000000 10101000 00001010 </a:t>
            </a:r>
            <a:r>
              <a:rPr lang="ru" sz="4667" b="1" dirty="0" smtClean="0"/>
              <a:t>00000000</a:t>
            </a:r>
            <a:endParaRPr sz="4667" b="1" dirty="0"/>
          </a:p>
        </p:txBody>
      </p:sp>
      <p:sp>
        <p:nvSpPr>
          <p:cNvPr id="175" name="Google Shape;175;p33"/>
          <p:cNvSpPr txBox="1"/>
          <p:nvPr/>
        </p:nvSpPr>
        <p:spPr>
          <a:xfrm>
            <a:off x="415600" y="4314367"/>
            <a:ext cx="11360800" cy="16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just"/>
            <a:r>
              <a:rPr lang="ru" sz="4667" b="1" dirty="0"/>
              <a:t>     172     .      20      .       1      .       7</a:t>
            </a:r>
            <a:endParaRPr sz="4667" b="1" dirty="0"/>
          </a:p>
          <a:p>
            <a:r>
              <a:rPr lang="ru" sz="4667" b="1" dirty="0"/>
              <a:t>10101100 00010100 00000001 00000111</a:t>
            </a:r>
            <a:endParaRPr sz="4667" b="1" dirty="0"/>
          </a:p>
        </p:txBody>
      </p:sp>
      <p:pic>
        <p:nvPicPr>
          <p:cNvPr id="6" name="Google Shape;184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5994" y="719718"/>
            <a:ext cx="5511260" cy="635808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85;p34"/>
          <p:cNvSpPr txBox="1"/>
          <p:nvPr/>
        </p:nvSpPr>
        <p:spPr>
          <a:xfrm>
            <a:off x="9248377" y="3233527"/>
            <a:ext cx="15534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6400" b="1" dirty="0">
                <a:solidFill>
                  <a:schemeClr val="dk2"/>
                </a:solidFill>
              </a:rPr>
              <a:t>/24</a:t>
            </a:r>
            <a:endParaRPr sz="6400" b="1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9134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Логическое И</a:t>
            </a:r>
            <a:endParaRPr lang="ru-RU" dirty="0"/>
          </a:p>
        </p:txBody>
      </p:sp>
      <p:pic>
        <p:nvPicPr>
          <p:cNvPr id="6" name="Google Shape;191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9475" y="1993671"/>
            <a:ext cx="6553050" cy="3843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00406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Использование сетевой маски</a:t>
            </a:r>
            <a:r>
              <a:rPr lang="en-US" dirty="0"/>
              <a:t> </a:t>
            </a:r>
            <a:r>
              <a:rPr lang="ru-RU" dirty="0"/>
              <a:t>для определения принадлежности узла к сети</a:t>
            </a:r>
          </a:p>
        </p:txBody>
      </p:sp>
      <p:sp>
        <p:nvSpPr>
          <p:cNvPr id="4" name="Google Shape;211;p38"/>
          <p:cNvSpPr txBox="1">
            <a:spLocks noGrp="1"/>
          </p:cNvSpPr>
          <p:nvPr>
            <p:ph type="body" idx="1"/>
          </p:nvPr>
        </p:nvSpPr>
        <p:spPr>
          <a:xfrm>
            <a:off x="1933739" y="1712480"/>
            <a:ext cx="8740123" cy="4653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500" b="1" dirty="0"/>
              <a:t>     </a:t>
            </a:r>
            <a:r>
              <a:rPr lang="ru" sz="3500" dirty="0"/>
              <a:t>172     .      20      .       1      .       7</a:t>
            </a:r>
            <a:endParaRPr sz="3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500" b="1" dirty="0"/>
              <a:t>10101100 00010100 00000001 00000111</a:t>
            </a:r>
            <a:endParaRPr sz="3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400" b="1" dirty="0"/>
              <a:t>     </a:t>
            </a:r>
            <a:r>
              <a:rPr lang="ru" sz="3400" dirty="0"/>
              <a:t>255     .     255     .      255    .        0</a:t>
            </a:r>
            <a:endParaRPr sz="3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400" b="1" dirty="0"/>
              <a:t>11111111 11111111  11111111 00000000</a:t>
            </a:r>
            <a:endParaRPr sz="34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400" b="1" dirty="0"/>
              <a:t>__________________________________</a:t>
            </a:r>
            <a:endParaRPr sz="34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400" b="1" dirty="0"/>
              <a:t>    </a:t>
            </a:r>
            <a:r>
              <a:rPr lang="ru" sz="3500" dirty="0"/>
              <a:t>172     .      20      .       1      .        0</a:t>
            </a:r>
            <a:endParaRPr sz="3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 b="1" dirty="0"/>
              <a:t>10101100 00010100 00000001</a:t>
            </a:r>
            <a:r>
              <a:rPr lang="ru" sz="3400" b="1" dirty="0"/>
              <a:t> 00000000</a:t>
            </a:r>
            <a:endParaRPr sz="3500" b="1" dirty="0"/>
          </a:p>
        </p:txBody>
      </p:sp>
    </p:spTree>
    <p:extLst>
      <p:ext uri="{BB962C8B-B14F-4D97-AF65-F5344CB8AC3E}">
        <p14:creationId xmlns:p14="http://schemas.microsoft.com/office/powerpoint/2010/main" val="2229005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Исключающее </a:t>
            </a:r>
            <a:r>
              <a:rPr lang="ru" b="1" dirty="0"/>
              <a:t>или не</a:t>
            </a:r>
            <a:endParaRPr lang="ru-RU" dirty="0"/>
          </a:p>
        </p:txBody>
      </p:sp>
      <p:pic>
        <p:nvPicPr>
          <p:cNvPr id="7" name="Google Shape;217;p39"/>
          <p:cNvPicPr preferRelativeResize="0">
            <a:picLocks noGrp="1"/>
          </p:cNvPicPr>
          <p:nvPr>
            <p:ph idx="1"/>
          </p:nvPr>
        </p:nvPicPr>
        <p:blipFill>
          <a:blip r:embed="rId2">
            <a:alphaModFix/>
          </a:blip>
          <a:stretch>
            <a:fillRect/>
          </a:stretch>
        </p:blipFill>
        <p:spPr>
          <a:xfrm>
            <a:off x="3327277" y="2476195"/>
            <a:ext cx="5534269" cy="33882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68195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Использование сетевой маски</a:t>
            </a:r>
            <a:r>
              <a:rPr lang="en-US" dirty="0"/>
              <a:t> </a:t>
            </a:r>
            <a:r>
              <a:rPr lang="ru-RU" dirty="0"/>
              <a:t>для определения принадлежности узла к сети</a:t>
            </a:r>
          </a:p>
        </p:txBody>
      </p:sp>
      <p:sp>
        <p:nvSpPr>
          <p:cNvPr id="4" name="Google Shape;224;p40"/>
          <p:cNvSpPr txBox="1">
            <a:spLocks noGrp="1"/>
          </p:cNvSpPr>
          <p:nvPr>
            <p:ph idx="1"/>
          </p:nvPr>
        </p:nvSpPr>
        <p:spPr>
          <a:xfrm>
            <a:off x="1809627" y="1880210"/>
            <a:ext cx="9905999" cy="4616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400" b="1" dirty="0"/>
              <a:t>    </a:t>
            </a:r>
            <a:r>
              <a:rPr lang="ru" sz="3400" dirty="0"/>
              <a:t>192     .     168      .      10        .        0</a:t>
            </a:r>
            <a:endParaRPr sz="3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400" b="1" dirty="0"/>
              <a:t>11000000 10101000  00001010 00000000</a:t>
            </a:r>
            <a:endParaRPr sz="34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 b="1" dirty="0"/>
              <a:t>    </a:t>
            </a:r>
            <a:r>
              <a:rPr lang="ru" sz="3500" dirty="0"/>
              <a:t>172     .      20      .       1        .        0</a:t>
            </a:r>
            <a:endParaRPr sz="3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500" b="1" dirty="0"/>
              <a:t>10101100 00010100 00000001</a:t>
            </a:r>
            <a:r>
              <a:rPr lang="ru" sz="3400" b="1" dirty="0"/>
              <a:t> 00000000</a:t>
            </a:r>
            <a:endParaRPr sz="34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 b="1" dirty="0"/>
              <a:t>__________________________________</a:t>
            </a:r>
            <a:endParaRPr sz="34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 b="1" dirty="0"/>
              <a:t>10010011  01000011 11110100 11111111</a:t>
            </a:r>
            <a:endParaRPr sz="3400" b="1" dirty="0"/>
          </a:p>
        </p:txBody>
      </p:sp>
    </p:spTree>
    <p:extLst>
      <p:ext uri="{BB962C8B-B14F-4D97-AF65-F5344CB8AC3E}">
        <p14:creationId xmlns:p14="http://schemas.microsoft.com/office/powerpoint/2010/main" val="3140570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по таблице маршрутизации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828153"/>
              </p:ext>
            </p:extLst>
          </p:nvPr>
        </p:nvGraphicFramePr>
        <p:xfrm>
          <a:off x="344969" y="1922648"/>
          <a:ext cx="7452090" cy="18947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36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2495865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2495865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473691">
                <a:tc>
                  <a:txBody>
                    <a:bodyPr/>
                    <a:lstStyle/>
                    <a:p>
                      <a:r>
                        <a:rPr lang="ru-RU" sz="1800" b="1" dirty="0"/>
                        <a:t>Адрес сети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Маска сети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Шлюз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473691">
                <a:tc>
                  <a:txBody>
                    <a:bodyPr/>
                    <a:lstStyle/>
                    <a:p>
                      <a:r>
                        <a:rPr lang="en-US" sz="1800" b="1" dirty="0"/>
                        <a:t>192.168.10.0</a:t>
                      </a:r>
                      <a:endParaRPr lang="ru-RU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255.255.255.0</a:t>
                      </a:r>
                      <a:endParaRPr lang="ru-RU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On-Link</a:t>
                      </a:r>
                      <a:endParaRPr lang="ru-RU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473691">
                <a:tc>
                  <a:txBody>
                    <a:bodyPr/>
                    <a:lstStyle/>
                    <a:p>
                      <a:r>
                        <a:rPr lang="en-US" sz="1800" b="1" dirty="0"/>
                        <a:t>172.20.20.0</a:t>
                      </a:r>
                      <a:endParaRPr lang="ru-RU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255.255.240.0</a:t>
                      </a:r>
                      <a:endParaRPr lang="ru-RU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dirty="0"/>
                        <a:t>192.168.10.1</a:t>
                      </a:r>
                      <a:endParaRPr lang="ru-RU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473691">
                <a:tc>
                  <a:txBody>
                    <a:bodyPr/>
                    <a:lstStyle/>
                    <a:p>
                      <a:r>
                        <a:rPr lang="ru-RU" sz="1800" b="1" dirty="0"/>
                        <a:t>0</a:t>
                      </a:r>
                      <a:r>
                        <a:rPr lang="en-US" sz="1800" b="1" dirty="0"/>
                        <a:t>.0.0.0</a:t>
                      </a:r>
                      <a:endParaRPr lang="ru-RU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800" b="1" dirty="0"/>
                        <a:t>0</a:t>
                      </a:r>
                      <a:r>
                        <a:rPr lang="en-US" sz="1800" b="1" dirty="0"/>
                        <a:t>.0.0.0</a:t>
                      </a:r>
                      <a:endParaRPr lang="ru-RU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800" b="1" dirty="0"/>
                        <a:t>192.168.10.1</a:t>
                      </a:r>
                      <a:endParaRPr lang="ru-RU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7893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ru-RU" dirty="0"/>
              <a:t>Поиск по таблице маршрутизации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255.255.255.0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On-Link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172.20.20.0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255.255.240.0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628624" y="1107559"/>
            <a:ext cx="2000869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33" b="1" dirty="0"/>
              <a:t>192.168.10.101</a:t>
            </a:r>
            <a:endParaRPr lang="ru-RU" sz="2133" b="1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248401" y="1333261"/>
            <a:ext cx="2380223" cy="1100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724158" y="4380587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ru-RU" sz="1600" dirty="0"/>
              <a:t>11000000.10101000.00001010.00000000</a:t>
            </a:r>
            <a:r>
              <a:rPr lang="en-US" sz="1600" dirty="0"/>
              <a:t>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ru-RU" sz="1600" dirty="0"/>
              <a:t>11000000.10101000.00001010.00000000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11111111.11111111.11111111.11111111 – </a:t>
            </a:r>
            <a:r>
              <a:rPr lang="ru-RU" sz="1600" dirty="0">
                <a:solidFill>
                  <a:srgbClr val="00B050"/>
                </a:solidFill>
              </a:rPr>
              <a:t>полное совпадение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496282" y="2985334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11000000.10101000.00001010.01100101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en-US" sz="1600" dirty="0"/>
              <a:t>11111111.11111111.11111111.00000000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11000000.10101000.00001010.00000000 – адрес сети назначения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81BD27-27B5-4550-AF60-C6DE5F08894B}"/>
              </a:ext>
            </a:extLst>
          </p:cNvPr>
          <p:cNvSpPr txBox="1"/>
          <p:nvPr/>
        </p:nvSpPr>
        <p:spPr>
          <a:xfrm>
            <a:off x="7895517" y="782893"/>
            <a:ext cx="4168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 с первой строкой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EAB67FEE-A490-4835-A4EA-AE12F1FE8FF4}"/>
              </a:ext>
            </a:extLst>
          </p:cNvPr>
          <p:cNvSpPr/>
          <p:nvPr/>
        </p:nvSpPr>
        <p:spPr>
          <a:xfrm>
            <a:off x="4930587" y="5753450"/>
            <a:ext cx="528021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Сеть подключена к нам напрямую (</a:t>
            </a:r>
            <a:r>
              <a:rPr lang="en-US" sz="1600" b="1" dirty="0"/>
              <a:t>On-Link</a:t>
            </a:r>
            <a:r>
              <a:rPr lang="ru-RU" sz="1600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55908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ru-RU" dirty="0"/>
              <a:t>Поиск по таблице маршрутизации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255.255.255.0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On-Link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172.20.20.0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255.255.240.0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045918" y="1359203"/>
            <a:ext cx="1709122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33" b="1" dirty="0"/>
              <a:t>1</a:t>
            </a:r>
            <a:r>
              <a:rPr lang="ru-RU" sz="2133" b="1" dirty="0"/>
              <a:t>72</a:t>
            </a:r>
            <a:r>
              <a:rPr lang="en-US" sz="2133" b="1" dirty="0"/>
              <a:t>.</a:t>
            </a:r>
            <a:r>
              <a:rPr lang="ru-RU" sz="2133" b="1" dirty="0"/>
              <a:t>20</a:t>
            </a:r>
            <a:r>
              <a:rPr lang="en-US" sz="2133" b="1" dirty="0"/>
              <a:t>.</a:t>
            </a:r>
            <a:r>
              <a:rPr lang="ru-RU" sz="2133" b="1" dirty="0"/>
              <a:t>30</a:t>
            </a:r>
            <a:r>
              <a:rPr lang="en-US" sz="2133" b="1" dirty="0"/>
              <a:t>.</a:t>
            </a:r>
            <a:r>
              <a:rPr lang="ru-RU" sz="2133" b="1" dirty="0"/>
              <a:t>97</a:t>
            </a: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6320117" y="1426577"/>
            <a:ext cx="1725800" cy="1583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872170" y="4188538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000101</a:t>
            </a:r>
            <a:r>
              <a:rPr lang="en-US" sz="1600" dirty="0"/>
              <a:t>00</a:t>
            </a:r>
            <a:r>
              <a:rPr lang="ru-RU" sz="1600" dirty="0"/>
              <a:t>.00000000</a:t>
            </a:r>
            <a:r>
              <a:rPr lang="en-US" sz="1600" dirty="0"/>
              <a:t>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ru-RU" sz="1600" dirty="0"/>
              <a:t>11000000.10101000.00001010.00000000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10010011.01000011.11100001.11111111 – </a:t>
            </a:r>
            <a:r>
              <a:rPr lang="ru-RU" sz="1600" dirty="0">
                <a:solidFill>
                  <a:srgbClr val="C00000"/>
                </a:solidFill>
              </a:rPr>
              <a:t>нет совпадения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352847" y="260647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000101</a:t>
            </a:r>
            <a:r>
              <a:rPr lang="en-US" sz="1600" dirty="0"/>
              <a:t>00.01100101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en-US" sz="1600" dirty="0"/>
              <a:t>11111111.11111111.1111</a:t>
            </a:r>
            <a:r>
              <a:rPr lang="ru-RU" sz="1600" dirty="0"/>
              <a:t>1111</a:t>
            </a:r>
            <a:r>
              <a:rPr lang="en-US" sz="1600" dirty="0"/>
              <a:t>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000101</a:t>
            </a:r>
            <a:r>
              <a:rPr lang="en-US" sz="1600" dirty="0"/>
              <a:t>00</a:t>
            </a:r>
            <a:r>
              <a:rPr lang="ru-RU" sz="1600" dirty="0"/>
              <a:t>.00000000 – адрес сети назначения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35B5BD-1A0F-466D-91A1-0B726B801297}"/>
              </a:ext>
            </a:extLst>
          </p:cNvPr>
          <p:cNvSpPr txBox="1"/>
          <p:nvPr/>
        </p:nvSpPr>
        <p:spPr>
          <a:xfrm>
            <a:off x="7183018" y="1016209"/>
            <a:ext cx="4168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 с первой строкой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641C9CF-B4B4-48C9-B18C-80BD544A113E}"/>
              </a:ext>
            </a:extLst>
          </p:cNvPr>
          <p:cNvSpPr/>
          <p:nvPr/>
        </p:nvSpPr>
        <p:spPr>
          <a:xfrm>
            <a:off x="4930587" y="5753450"/>
            <a:ext cx="528021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Продолжаем поиск со следующей строки</a:t>
            </a:r>
          </a:p>
        </p:txBody>
      </p:sp>
    </p:spTree>
    <p:extLst>
      <p:ext uri="{BB962C8B-B14F-4D97-AF65-F5344CB8AC3E}">
        <p14:creationId xmlns:p14="http://schemas.microsoft.com/office/powerpoint/2010/main" val="32577145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ru-RU" dirty="0"/>
              <a:t>Поиск по таблице маршрутизации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/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255.255.255.0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On-Link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172.20.20.0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255.255.240.0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045918" y="1359203"/>
            <a:ext cx="1709122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33" b="1" dirty="0"/>
              <a:t>1</a:t>
            </a:r>
            <a:r>
              <a:rPr lang="ru-RU" sz="2133" b="1" dirty="0"/>
              <a:t>72</a:t>
            </a:r>
            <a:r>
              <a:rPr lang="en-US" sz="2133" b="1" dirty="0"/>
              <a:t>.</a:t>
            </a:r>
            <a:r>
              <a:rPr lang="ru-RU" sz="2133" b="1" dirty="0"/>
              <a:t>20</a:t>
            </a:r>
            <a:r>
              <a:rPr lang="en-US" sz="2133" b="1" dirty="0"/>
              <a:t>.</a:t>
            </a:r>
            <a:r>
              <a:rPr lang="ru-RU" sz="2133" b="1" dirty="0"/>
              <a:t>30</a:t>
            </a:r>
            <a:r>
              <a:rPr lang="en-US" sz="2133" b="1" dirty="0"/>
              <a:t>.</a:t>
            </a:r>
            <a:r>
              <a:rPr lang="ru-RU" sz="2133" b="1" dirty="0"/>
              <a:t>97</a:t>
            </a: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212541" y="1584906"/>
            <a:ext cx="1833376" cy="2257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724158" y="4307617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00010000.00000000</a:t>
            </a:r>
            <a:r>
              <a:rPr lang="en-US" sz="1600" dirty="0"/>
              <a:t>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00010000.00000000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11111111.11111111.11111111.11111111 – </a:t>
            </a:r>
            <a:r>
              <a:rPr lang="ru-RU" sz="1600" dirty="0">
                <a:solidFill>
                  <a:srgbClr val="00B050"/>
                </a:solidFill>
              </a:rPr>
              <a:t>есть полное совпадение!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621787" y="291456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000101</a:t>
            </a:r>
            <a:r>
              <a:rPr lang="en-US" sz="1600" dirty="0"/>
              <a:t>00.01100101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en-US" sz="1600" dirty="0"/>
              <a:t>11111111.11111111.1111</a:t>
            </a:r>
            <a:r>
              <a:rPr lang="ru-RU" sz="1600" dirty="0"/>
              <a:t>0000</a:t>
            </a:r>
            <a:r>
              <a:rPr lang="en-US" sz="1600" dirty="0"/>
              <a:t>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00010000.00000000 – адрес сети назначения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35B5BD-1A0F-466D-91A1-0B726B801297}"/>
              </a:ext>
            </a:extLst>
          </p:cNvPr>
          <p:cNvSpPr txBox="1"/>
          <p:nvPr/>
        </p:nvSpPr>
        <p:spPr>
          <a:xfrm>
            <a:off x="7183018" y="1016209"/>
            <a:ext cx="4437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</a:t>
            </a:r>
            <a:r>
              <a:rPr lang="en-US" sz="2400" dirty="0"/>
              <a:t> </a:t>
            </a:r>
            <a:r>
              <a:rPr lang="ru-RU" sz="2400" dirty="0"/>
              <a:t>со второй строчкой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3207613-7E4D-487F-8B8C-CB87142EFDC5}"/>
              </a:ext>
            </a:extLst>
          </p:cNvPr>
          <p:cNvSpPr/>
          <p:nvPr/>
        </p:nvSpPr>
        <p:spPr>
          <a:xfrm>
            <a:off x="4930587" y="5753450"/>
            <a:ext cx="528021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Адрес следующего перехода – 192</a:t>
            </a:r>
            <a:r>
              <a:rPr lang="en-US" sz="1600" b="1" dirty="0"/>
              <a:t>.168.10.1</a:t>
            </a:r>
            <a:endParaRPr lang="ru-RU" sz="1600" b="1" dirty="0"/>
          </a:p>
        </p:txBody>
      </p:sp>
    </p:spTree>
    <p:extLst>
      <p:ext uri="{BB962C8B-B14F-4D97-AF65-F5344CB8AC3E}">
        <p14:creationId xmlns:p14="http://schemas.microsoft.com/office/powerpoint/2010/main" val="13699347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ru-RU" dirty="0"/>
              <a:t>Поиск по таблице маршрутизации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/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255.255.255.0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On-Link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172.20.20.0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255.255.240.0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531798" y="1426577"/>
            <a:ext cx="979755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33" b="1" dirty="0"/>
              <a:t>8.8.8.8</a:t>
            </a:r>
            <a:endParaRPr lang="ru-RU" sz="2133" b="1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6311154" y="1426578"/>
            <a:ext cx="2220644" cy="2257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872170" y="4188538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en-US" sz="1600" dirty="0"/>
              <a:t>00001000.00001000.00001000.00000000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ru-RU" sz="1600" dirty="0"/>
              <a:t>11000000.10101000.00001010.00000000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00110111.01011111</a:t>
            </a:r>
            <a:r>
              <a:rPr lang="ru-RU" sz="1600" dirty="0"/>
              <a:t>.</a:t>
            </a:r>
            <a:r>
              <a:rPr lang="en-US" sz="1600" dirty="0"/>
              <a:t>11111101</a:t>
            </a:r>
            <a:r>
              <a:rPr lang="ru-RU" sz="1600" dirty="0"/>
              <a:t>.11111111 – </a:t>
            </a:r>
            <a:r>
              <a:rPr lang="ru-RU" sz="1600" dirty="0">
                <a:solidFill>
                  <a:srgbClr val="C00000"/>
                </a:solidFill>
              </a:rPr>
              <a:t>нет совпадения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352847" y="260647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00001000.00001000.00001000.00001000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en-US" sz="1600" dirty="0"/>
              <a:t>11111111.11111111.1111</a:t>
            </a:r>
            <a:r>
              <a:rPr lang="ru-RU" sz="1600" dirty="0"/>
              <a:t>1111</a:t>
            </a:r>
            <a:r>
              <a:rPr lang="en-US" sz="1600" dirty="0"/>
              <a:t>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00001000.00001000.00001000</a:t>
            </a:r>
            <a:r>
              <a:rPr lang="ru-RU" sz="1600" dirty="0"/>
              <a:t>.00000000 – адрес сети назначения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35B5BD-1A0F-466D-91A1-0B726B801297}"/>
              </a:ext>
            </a:extLst>
          </p:cNvPr>
          <p:cNvSpPr txBox="1"/>
          <p:nvPr/>
        </p:nvSpPr>
        <p:spPr>
          <a:xfrm>
            <a:off x="7183018" y="1016209"/>
            <a:ext cx="4168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 с первой строкой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641C9CF-B4B4-48C9-B18C-80BD544A113E}"/>
              </a:ext>
            </a:extLst>
          </p:cNvPr>
          <p:cNvSpPr/>
          <p:nvPr/>
        </p:nvSpPr>
        <p:spPr>
          <a:xfrm>
            <a:off x="4930587" y="5753450"/>
            <a:ext cx="528021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Продолжаем поиск со следующей строки</a:t>
            </a:r>
          </a:p>
        </p:txBody>
      </p:sp>
    </p:spTree>
    <p:extLst>
      <p:ext uri="{BB962C8B-B14F-4D97-AF65-F5344CB8AC3E}">
        <p14:creationId xmlns:p14="http://schemas.microsoft.com/office/powerpoint/2010/main" val="9699108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ru-RU" dirty="0"/>
              <a:t>Поиск по таблице маршрутизации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/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255.255.255.0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On-Link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172.20.20.0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255.255.240.0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531798" y="1426577"/>
            <a:ext cx="979755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33" b="1" dirty="0"/>
              <a:t>8.8.8.8</a:t>
            </a:r>
            <a:endParaRPr lang="ru-RU" sz="2133" b="1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248400" y="1652280"/>
            <a:ext cx="2283397" cy="1316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872170" y="4188538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en-US" sz="1600" dirty="0"/>
              <a:t>00001000.00001000.00000000.00000000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en-US" sz="1600" dirty="0"/>
              <a:t>1</a:t>
            </a:r>
            <a:r>
              <a:rPr lang="ru-RU" sz="1600" dirty="0"/>
              <a:t>01</a:t>
            </a:r>
            <a:r>
              <a:rPr lang="en-US" sz="1600" dirty="0"/>
              <a:t>0</a:t>
            </a:r>
            <a:r>
              <a:rPr lang="ru-RU" sz="1600" dirty="0"/>
              <a:t>110</a:t>
            </a:r>
            <a:r>
              <a:rPr lang="en-US" sz="1600" dirty="0"/>
              <a:t>0.</a:t>
            </a:r>
            <a:r>
              <a:rPr lang="ru-RU" sz="1600" dirty="0"/>
              <a:t>000101</a:t>
            </a:r>
            <a:r>
              <a:rPr lang="en-US" sz="1600" dirty="0"/>
              <a:t>00.</a:t>
            </a:r>
            <a:r>
              <a:rPr lang="ru-RU" sz="1600" dirty="0"/>
              <a:t>00010000.00000000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01011011.11100011</a:t>
            </a:r>
            <a:r>
              <a:rPr lang="ru-RU" sz="1600" dirty="0"/>
              <a:t>.</a:t>
            </a:r>
            <a:r>
              <a:rPr lang="en-US" sz="1600" dirty="0"/>
              <a:t>11101111</a:t>
            </a:r>
            <a:r>
              <a:rPr lang="ru-RU" sz="1600" dirty="0"/>
              <a:t>.11111111 – </a:t>
            </a:r>
            <a:r>
              <a:rPr lang="ru-RU" sz="1600" dirty="0">
                <a:solidFill>
                  <a:srgbClr val="C00000"/>
                </a:solidFill>
              </a:rPr>
              <a:t>нет совпадения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352847" y="260647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00001000.00001000.00001000.00001000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en-US" sz="1600" dirty="0"/>
              <a:t>11111111.11111111.1111</a:t>
            </a:r>
            <a:r>
              <a:rPr lang="ru-RU" sz="1600" dirty="0"/>
              <a:t>0000</a:t>
            </a:r>
            <a:r>
              <a:rPr lang="en-US" sz="1600" dirty="0"/>
              <a:t>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00001000.00001000.00000000</a:t>
            </a:r>
            <a:r>
              <a:rPr lang="ru-RU" sz="1600" dirty="0"/>
              <a:t>.00000000 – адрес сети назначения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641C9CF-B4B4-48C9-B18C-80BD544A113E}"/>
              </a:ext>
            </a:extLst>
          </p:cNvPr>
          <p:cNvSpPr/>
          <p:nvPr/>
        </p:nvSpPr>
        <p:spPr>
          <a:xfrm>
            <a:off x="4930587" y="5753450"/>
            <a:ext cx="528021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Продолжаем поиск со следующей строки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CD1095-2AD0-43CB-82B7-6804A8520F2A}"/>
              </a:ext>
            </a:extLst>
          </p:cNvPr>
          <p:cNvSpPr txBox="1"/>
          <p:nvPr/>
        </p:nvSpPr>
        <p:spPr>
          <a:xfrm>
            <a:off x="7183018" y="1016209"/>
            <a:ext cx="4437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</a:t>
            </a:r>
            <a:r>
              <a:rPr lang="en-US" sz="2400" dirty="0"/>
              <a:t> </a:t>
            </a:r>
            <a:r>
              <a:rPr lang="ru-RU" sz="2400" dirty="0"/>
              <a:t>со второй строчкой</a:t>
            </a:r>
          </a:p>
        </p:txBody>
      </p:sp>
    </p:spTree>
    <p:extLst>
      <p:ext uri="{BB962C8B-B14F-4D97-AF65-F5344CB8AC3E}">
        <p14:creationId xmlns:p14="http://schemas.microsoft.com/office/powerpoint/2010/main" val="1001491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ru-RU" dirty="0"/>
              <a:t>Поиск по таблице маршрутизации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/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255.255.255.0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On-Link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172.20.20.0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255.255.240.0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531798" y="1426577"/>
            <a:ext cx="979755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33" b="1" dirty="0"/>
              <a:t>8.8.8.8</a:t>
            </a:r>
            <a:endParaRPr lang="ru-RU" sz="2133" b="1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248400" y="1652280"/>
            <a:ext cx="2283397" cy="1316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724158" y="4179963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</a:t>
            </a:r>
            <a:r>
              <a:rPr lang="ru-RU" sz="1600" dirty="0"/>
              <a:t>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11111111</a:t>
            </a:r>
            <a:r>
              <a:rPr lang="en-US" sz="1600" dirty="0"/>
              <a:t>.</a:t>
            </a:r>
            <a:r>
              <a:rPr lang="ru-RU" sz="1600" dirty="0"/>
              <a:t>11111111.</a:t>
            </a:r>
            <a:r>
              <a:rPr lang="en-US" sz="1600" dirty="0"/>
              <a:t>111</a:t>
            </a:r>
            <a:r>
              <a:rPr lang="ru-RU" sz="1600" dirty="0"/>
              <a:t>1</a:t>
            </a:r>
            <a:r>
              <a:rPr lang="en-US" sz="1600" dirty="0"/>
              <a:t>1111</a:t>
            </a:r>
            <a:r>
              <a:rPr lang="ru-RU" sz="1600" dirty="0"/>
              <a:t>.11111111 – </a:t>
            </a:r>
            <a:r>
              <a:rPr lang="ru-RU" sz="1600" dirty="0">
                <a:solidFill>
                  <a:srgbClr val="00B050"/>
                </a:solidFill>
              </a:rPr>
              <a:t>есть полное совпадение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352847" y="260647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00001000.00001000.00001000.00001000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</a:t>
            </a:r>
            <a:r>
              <a:rPr lang="ru-RU" sz="1600" dirty="0"/>
              <a:t> – адрес сети назначения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CD1095-2AD0-43CB-82B7-6804A8520F2A}"/>
              </a:ext>
            </a:extLst>
          </p:cNvPr>
          <p:cNvSpPr txBox="1"/>
          <p:nvPr/>
        </p:nvSpPr>
        <p:spPr>
          <a:xfrm>
            <a:off x="7183018" y="1016209"/>
            <a:ext cx="43771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</a:t>
            </a:r>
            <a:r>
              <a:rPr lang="en-US" sz="2400" dirty="0"/>
              <a:t> </a:t>
            </a:r>
            <a:r>
              <a:rPr lang="ru-RU" sz="2400" dirty="0"/>
              <a:t>с третьей строчкой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1B17454-D8E7-48FB-842E-02D14724A80F}"/>
              </a:ext>
            </a:extLst>
          </p:cNvPr>
          <p:cNvSpPr/>
          <p:nvPr/>
        </p:nvSpPr>
        <p:spPr>
          <a:xfrm>
            <a:off x="4930587" y="5753450"/>
            <a:ext cx="528021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Адрес следующего перехода – 192</a:t>
            </a:r>
            <a:r>
              <a:rPr lang="en-US" sz="1600" b="1" dirty="0"/>
              <a:t>.168.10.1</a:t>
            </a:r>
            <a:endParaRPr lang="ru-RU" sz="1600" b="1" dirty="0"/>
          </a:p>
        </p:txBody>
      </p:sp>
    </p:spTree>
    <p:extLst>
      <p:ext uri="{BB962C8B-B14F-4D97-AF65-F5344CB8AC3E}">
        <p14:creationId xmlns:p14="http://schemas.microsoft.com/office/powerpoint/2010/main" val="20429669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en-US" dirty="0"/>
              <a:t>Longest Prefix Match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10.128.0.0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</a:t>
                      </a: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</a:t>
                      </a:r>
                      <a:r>
                        <a:rPr lang="ru-RU" sz="1700" b="1" dirty="0"/>
                        <a:t>2</a:t>
                      </a:r>
                      <a:r>
                        <a:rPr lang="en-US" sz="1700" b="1" dirty="0"/>
                        <a:t>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10.128.168.0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</a:t>
                      </a:r>
                      <a:r>
                        <a:rPr lang="ru-RU" sz="1700" b="1" dirty="0"/>
                        <a:t>240</a:t>
                      </a:r>
                      <a:r>
                        <a:rPr lang="en-US" sz="1700" b="1" dirty="0"/>
                        <a:t>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</a:t>
                      </a:r>
                      <a:r>
                        <a:rPr lang="ru-RU" sz="1700" b="1" dirty="0"/>
                        <a:t>3</a:t>
                      </a:r>
                      <a:r>
                        <a:rPr lang="en-US" sz="1700" b="1" dirty="0"/>
                        <a:t>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433186" y="1408384"/>
            <a:ext cx="1854995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133" b="1" dirty="0"/>
              <a:t>10</a:t>
            </a:r>
            <a:r>
              <a:rPr lang="en-US" sz="2133" b="1" dirty="0"/>
              <a:t>.128.</a:t>
            </a:r>
            <a:r>
              <a:rPr lang="ru-RU" sz="2133" b="1" dirty="0"/>
              <a:t>174</a:t>
            </a:r>
            <a:r>
              <a:rPr lang="en-US" sz="2133" b="1" dirty="0"/>
              <a:t>.10</a:t>
            </a:r>
            <a:endParaRPr lang="ru-RU" sz="2133" b="1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6212543" y="1408386"/>
            <a:ext cx="2220643" cy="225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872170" y="4188538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en-US" sz="1600" dirty="0"/>
              <a:t>00001010.10000000.00000000.00000000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en-US" sz="1600" dirty="0"/>
              <a:t>00001010.10000000.00000000.00000000</a:t>
            </a:r>
            <a:r>
              <a:rPr lang="ru-RU" sz="1600" dirty="0"/>
              <a:t>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11111111</a:t>
            </a:r>
            <a:r>
              <a:rPr lang="en-US" sz="1600" dirty="0"/>
              <a:t>.</a:t>
            </a:r>
            <a:r>
              <a:rPr lang="ru-RU" sz="1600" dirty="0"/>
              <a:t>11111111.</a:t>
            </a:r>
            <a:r>
              <a:rPr lang="en-US" sz="1600" dirty="0"/>
              <a:t>111</a:t>
            </a:r>
            <a:r>
              <a:rPr lang="ru-RU" sz="1600" dirty="0"/>
              <a:t>1</a:t>
            </a:r>
            <a:r>
              <a:rPr lang="en-US" sz="1600" dirty="0"/>
              <a:t>1111</a:t>
            </a:r>
            <a:r>
              <a:rPr lang="ru-RU" sz="1600" dirty="0"/>
              <a:t>.11111111 – </a:t>
            </a:r>
            <a:r>
              <a:rPr lang="ru-RU" sz="1600" dirty="0">
                <a:solidFill>
                  <a:srgbClr val="00B050"/>
                </a:solidFill>
              </a:rPr>
              <a:t>есть полное совпадение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352847" y="260647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00001010.10000000.</a:t>
            </a:r>
            <a:r>
              <a:rPr lang="ru-RU" sz="1600" dirty="0"/>
              <a:t>10101110</a:t>
            </a:r>
            <a:r>
              <a:rPr lang="en-US" sz="1600" dirty="0"/>
              <a:t>.00001010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en-US" sz="1600" dirty="0"/>
              <a:t>11111111.11111111.</a:t>
            </a:r>
            <a:r>
              <a:rPr lang="ru-RU" sz="1600" dirty="0"/>
              <a:t>0000</a:t>
            </a:r>
            <a:r>
              <a:rPr lang="en-US" sz="1600" dirty="0"/>
              <a:t>0000.00000000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00001010.10000000.00000000.00000000</a:t>
            </a:r>
            <a:r>
              <a:rPr lang="ru-RU" sz="1600" dirty="0"/>
              <a:t> – адрес сети назначения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35B5BD-1A0F-466D-91A1-0B726B801297}"/>
              </a:ext>
            </a:extLst>
          </p:cNvPr>
          <p:cNvSpPr txBox="1"/>
          <p:nvPr/>
        </p:nvSpPr>
        <p:spPr>
          <a:xfrm>
            <a:off x="7183018" y="1016209"/>
            <a:ext cx="4168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 с первой строкой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641C9CF-B4B4-48C9-B18C-80BD544A113E}"/>
              </a:ext>
            </a:extLst>
          </p:cNvPr>
          <p:cNvSpPr/>
          <p:nvPr/>
        </p:nvSpPr>
        <p:spPr>
          <a:xfrm>
            <a:off x="4930587" y="5753450"/>
            <a:ext cx="650837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Но мы всё равно продолжаем поиск со следующей строки</a:t>
            </a:r>
          </a:p>
        </p:txBody>
      </p:sp>
    </p:spTree>
    <p:extLst>
      <p:ext uri="{BB962C8B-B14F-4D97-AF65-F5344CB8AC3E}">
        <p14:creationId xmlns:p14="http://schemas.microsoft.com/office/powerpoint/2010/main" val="11896817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en-US" dirty="0"/>
              <a:t>Longest Prefix Match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10.128.0.0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</a:t>
                      </a: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</a:t>
                      </a:r>
                      <a:r>
                        <a:rPr lang="ru-RU" sz="1700" b="1" dirty="0"/>
                        <a:t>2</a:t>
                      </a:r>
                      <a:r>
                        <a:rPr lang="en-US" sz="1700" b="1" dirty="0"/>
                        <a:t>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10.128.168.0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</a:t>
                      </a:r>
                      <a:r>
                        <a:rPr lang="ru-RU" sz="1700" b="1" dirty="0"/>
                        <a:t>240</a:t>
                      </a:r>
                      <a:r>
                        <a:rPr lang="en-US" sz="1700" b="1" dirty="0"/>
                        <a:t>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</a:t>
                      </a:r>
                      <a:r>
                        <a:rPr lang="ru-RU" sz="1700" b="1" dirty="0"/>
                        <a:t>3</a:t>
                      </a:r>
                      <a:r>
                        <a:rPr lang="en-US" sz="1700" b="1" dirty="0"/>
                        <a:t>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433186" y="1408384"/>
            <a:ext cx="1854995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133" b="1" dirty="0"/>
              <a:t>10</a:t>
            </a:r>
            <a:r>
              <a:rPr lang="en-US" sz="2133" b="1" dirty="0"/>
              <a:t>.128.</a:t>
            </a:r>
            <a:r>
              <a:rPr lang="ru-RU" sz="2133" b="1" dirty="0"/>
              <a:t>174</a:t>
            </a:r>
            <a:r>
              <a:rPr lang="en-US" sz="2133" b="1" dirty="0"/>
              <a:t>.10</a:t>
            </a:r>
            <a:endParaRPr lang="ru-RU" sz="2133" b="1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239435" y="1634087"/>
            <a:ext cx="2193751" cy="1588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872170" y="4188538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en-US" sz="1600" dirty="0"/>
              <a:t>00001010.10000000.</a:t>
            </a:r>
            <a:r>
              <a:rPr lang="ru-RU" sz="1600" dirty="0"/>
              <a:t>1010</a:t>
            </a:r>
            <a:r>
              <a:rPr lang="en-US" sz="1600" dirty="0"/>
              <a:t>0000.00000000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en-US" sz="1600" dirty="0"/>
              <a:t>00001010.10000000.</a:t>
            </a:r>
            <a:r>
              <a:rPr lang="ru-RU" sz="1600" dirty="0"/>
              <a:t>1010</a:t>
            </a:r>
            <a:r>
              <a:rPr lang="en-US" sz="1600" dirty="0"/>
              <a:t>0000.00000000</a:t>
            </a:r>
            <a:r>
              <a:rPr lang="ru-RU" sz="1600" dirty="0"/>
              <a:t>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11111111</a:t>
            </a:r>
            <a:r>
              <a:rPr lang="en-US" sz="1600" dirty="0"/>
              <a:t>.</a:t>
            </a:r>
            <a:r>
              <a:rPr lang="ru-RU" sz="1600" dirty="0"/>
              <a:t>11111111.</a:t>
            </a:r>
            <a:r>
              <a:rPr lang="en-US" sz="1600" dirty="0"/>
              <a:t>111</a:t>
            </a:r>
            <a:r>
              <a:rPr lang="ru-RU" sz="1600" dirty="0"/>
              <a:t>1</a:t>
            </a:r>
            <a:r>
              <a:rPr lang="en-US" sz="1600" dirty="0"/>
              <a:t>1111</a:t>
            </a:r>
            <a:r>
              <a:rPr lang="ru-RU" sz="1600" dirty="0"/>
              <a:t>.11111111 – </a:t>
            </a:r>
            <a:r>
              <a:rPr lang="ru-RU" sz="1600" dirty="0">
                <a:solidFill>
                  <a:srgbClr val="00B050"/>
                </a:solidFill>
              </a:rPr>
              <a:t>есть полное совпадение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352847" y="260647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00001010.10000000.</a:t>
            </a:r>
            <a:r>
              <a:rPr lang="ru-RU" sz="1600" dirty="0"/>
              <a:t>10101110</a:t>
            </a:r>
            <a:r>
              <a:rPr lang="en-US" sz="1600" dirty="0"/>
              <a:t>.00001010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en-US" sz="1600" dirty="0"/>
              <a:t>11111111.11111111.1111</a:t>
            </a:r>
            <a:r>
              <a:rPr lang="ru-RU" sz="1600" dirty="0"/>
              <a:t>0000</a:t>
            </a:r>
            <a:r>
              <a:rPr lang="en-US" sz="1600" dirty="0"/>
              <a:t>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en-US" sz="1600" dirty="0"/>
              <a:t>00001010.10000000.</a:t>
            </a:r>
            <a:r>
              <a:rPr lang="ru-RU" sz="1600" dirty="0"/>
              <a:t>1010</a:t>
            </a:r>
            <a:r>
              <a:rPr lang="en-US" sz="1600" dirty="0"/>
              <a:t>0000.00000000</a:t>
            </a:r>
            <a:r>
              <a:rPr lang="ru-RU" sz="1600" dirty="0"/>
              <a:t> – адрес сети назначения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35B5BD-1A0F-466D-91A1-0B726B801297}"/>
              </a:ext>
            </a:extLst>
          </p:cNvPr>
          <p:cNvSpPr txBox="1"/>
          <p:nvPr/>
        </p:nvSpPr>
        <p:spPr>
          <a:xfrm>
            <a:off x="7183018" y="1016209"/>
            <a:ext cx="42931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 со второй строкой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641C9CF-B4B4-48C9-B18C-80BD544A113E}"/>
              </a:ext>
            </a:extLst>
          </p:cNvPr>
          <p:cNvSpPr/>
          <p:nvPr/>
        </p:nvSpPr>
        <p:spPr>
          <a:xfrm>
            <a:off x="4930587" y="5753450"/>
            <a:ext cx="650837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 Но мы всё равно продолжаем поиск со следующей строки</a:t>
            </a:r>
          </a:p>
        </p:txBody>
      </p:sp>
    </p:spTree>
    <p:extLst>
      <p:ext uri="{BB962C8B-B14F-4D97-AF65-F5344CB8AC3E}">
        <p14:creationId xmlns:p14="http://schemas.microsoft.com/office/powerpoint/2010/main" val="3772617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en-US" dirty="0"/>
              <a:t>Longest Prefix Match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415600" y="919884"/>
          <a:ext cx="5680400" cy="1412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10.128.0.0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</a:t>
                      </a: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</a:t>
                      </a:r>
                      <a:r>
                        <a:rPr lang="ru-RU" sz="1700" b="1" dirty="0"/>
                        <a:t>2</a:t>
                      </a:r>
                      <a:r>
                        <a:rPr lang="en-US" sz="1700" b="1" dirty="0"/>
                        <a:t>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10.128.168.0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</a:t>
                      </a:r>
                      <a:r>
                        <a:rPr lang="ru-RU" sz="1700" b="1" dirty="0"/>
                        <a:t>240</a:t>
                      </a:r>
                      <a:r>
                        <a:rPr lang="en-US" sz="1700" b="1" dirty="0"/>
                        <a:t>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</a:t>
                      </a:r>
                      <a:r>
                        <a:rPr lang="ru-RU" sz="1700" b="1" dirty="0"/>
                        <a:t>3</a:t>
                      </a:r>
                      <a:r>
                        <a:rPr lang="en-US" sz="1700" b="1" dirty="0"/>
                        <a:t>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B72AF8-8397-426A-9F8E-61872E3FBA61}"/>
              </a:ext>
            </a:extLst>
          </p:cNvPr>
          <p:cNvSpPr txBox="1"/>
          <p:nvPr/>
        </p:nvSpPr>
        <p:spPr>
          <a:xfrm>
            <a:off x="8433186" y="1408384"/>
            <a:ext cx="1854995" cy="420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133" b="1" dirty="0"/>
              <a:t>10</a:t>
            </a:r>
            <a:r>
              <a:rPr lang="en-US" sz="2133" b="1" dirty="0"/>
              <a:t>.128.</a:t>
            </a:r>
            <a:r>
              <a:rPr lang="ru-RU" sz="2133" b="1" dirty="0"/>
              <a:t>174</a:t>
            </a:r>
            <a:r>
              <a:rPr lang="en-US" sz="2133" b="1" dirty="0"/>
              <a:t>.10</a:t>
            </a:r>
            <a:endParaRPr lang="ru-RU" sz="2133" b="1" dirty="0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6257366" y="1634087"/>
            <a:ext cx="2175820" cy="526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700178-BF3E-4ADA-AB07-D2304435CC50}"/>
              </a:ext>
            </a:extLst>
          </p:cNvPr>
          <p:cNvSpPr txBox="1"/>
          <p:nvPr/>
        </p:nvSpPr>
        <p:spPr>
          <a:xfrm>
            <a:off x="2872170" y="4188538"/>
            <a:ext cx="67436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2) Находим адрес сети назначения и адрес сети из таблицы:</a:t>
            </a:r>
            <a:endParaRPr lang="ru-RU" sz="1600" dirty="0"/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 –</a:t>
            </a:r>
            <a:r>
              <a:rPr lang="ru-RU" sz="1600" dirty="0"/>
              <a:t> адрес сети назначения</a:t>
            </a:r>
            <a:endParaRPr lang="en-US" sz="1600" dirty="0"/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</a:t>
            </a:r>
            <a:r>
              <a:rPr lang="ru-RU" sz="1600" dirty="0"/>
              <a:t> – адрес сети из таблицы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11111111</a:t>
            </a:r>
            <a:r>
              <a:rPr lang="en-US" sz="1600" dirty="0"/>
              <a:t>.</a:t>
            </a:r>
            <a:r>
              <a:rPr lang="ru-RU" sz="1600" dirty="0"/>
              <a:t>11111111.</a:t>
            </a:r>
            <a:r>
              <a:rPr lang="en-US" sz="1600" dirty="0"/>
              <a:t>111</a:t>
            </a:r>
            <a:r>
              <a:rPr lang="ru-RU" sz="1600" dirty="0"/>
              <a:t>1</a:t>
            </a:r>
            <a:r>
              <a:rPr lang="en-US" sz="1600" dirty="0"/>
              <a:t>1111</a:t>
            </a:r>
            <a:r>
              <a:rPr lang="ru-RU" sz="1600" dirty="0"/>
              <a:t>.11111111 – </a:t>
            </a:r>
            <a:r>
              <a:rPr lang="ru-RU" sz="1600" dirty="0">
                <a:solidFill>
                  <a:srgbClr val="00B050"/>
                </a:solidFill>
              </a:rPr>
              <a:t>есть полное совпадение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352847" y="2606478"/>
            <a:ext cx="96749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1) Находим адрес сети назначения при помощи маски сети из таблицы:</a:t>
            </a:r>
            <a:endParaRPr lang="ru-RU" sz="1600" dirty="0"/>
          </a:p>
          <a:p>
            <a:r>
              <a:rPr lang="en-US" sz="1600" dirty="0"/>
              <a:t>00001010.10000000.</a:t>
            </a:r>
            <a:r>
              <a:rPr lang="ru-RU" sz="1600" dirty="0"/>
              <a:t>10101110</a:t>
            </a:r>
            <a:r>
              <a:rPr lang="en-US" sz="1600" dirty="0"/>
              <a:t>.00001010 –</a:t>
            </a:r>
            <a:r>
              <a:rPr lang="ru-RU" sz="1600" dirty="0"/>
              <a:t> адрес назначения</a:t>
            </a:r>
            <a:endParaRPr lang="en-US" sz="1600" dirty="0"/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</a:t>
            </a:r>
            <a:r>
              <a:rPr lang="ru-RU" sz="1600" dirty="0"/>
              <a:t> – маска сети</a:t>
            </a:r>
          </a:p>
          <a:p>
            <a:r>
              <a:rPr lang="ru-RU" sz="1600" dirty="0"/>
              <a:t>--------------------------------------------------------------------------------------</a:t>
            </a:r>
          </a:p>
          <a:p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</a:t>
            </a:r>
            <a:r>
              <a:rPr lang="ru-RU" sz="1600" dirty="0"/>
              <a:t>00000000</a:t>
            </a:r>
            <a:r>
              <a:rPr lang="en-US" sz="1600" dirty="0"/>
              <a:t>.00000000</a:t>
            </a:r>
            <a:r>
              <a:rPr lang="ru-RU" sz="1600" dirty="0"/>
              <a:t> – адрес сети назначения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35B5BD-1A0F-466D-91A1-0B726B801297}"/>
              </a:ext>
            </a:extLst>
          </p:cNvPr>
          <p:cNvSpPr txBox="1"/>
          <p:nvPr/>
        </p:nvSpPr>
        <p:spPr>
          <a:xfrm>
            <a:off x="7183018" y="1016209"/>
            <a:ext cx="42328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Сравниваем с третьей строкой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641C9CF-B4B4-48C9-B18C-80BD544A113E}"/>
              </a:ext>
            </a:extLst>
          </p:cNvPr>
          <p:cNvSpPr/>
          <p:nvPr/>
        </p:nvSpPr>
        <p:spPr>
          <a:xfrm>
            <a:off x="4930587" y="5753450"/>
            <a:ext cx="650837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/>
              <a:t>3)</a:t>
            </a:r>
            <a:r>
              <a:rPr lang="en-US" sz="1600" b="1" dirty="0"/>
              <a:t> </a:t>
            </a:r>
            <a:r>
              <a:rPr lang="ru-RU" sz="1600" b="1" dirty="0"/>
              <a:t>Что делаем дальше?</a:t>
            </a:r>
          </a:p>
        </p:txBody>
      </p:sp>
    </p:spTree>
    <p:extLst>
      <p:ext uri="{BB962C8B-B14F-4D97-AF65-F5344CB8AC3E}">
        <p14:creationId xmlns:p14="http://schemas.microsoft.com/office/powerpoint/2010/main" val="9651779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2EDBAD-BEC5-4984-9260-8E5E4226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172520"/>
            <a:ext cx="11360800" cy="763600"/>
          </a:xfrm>
        </p:spPr>
        <p:txBody>
          <a:bodyPr>
            <a:normAutofit/>
          </a:bodyPr>
          <a:lstStyle/>
          <a:p>
            <a:r>
              <a:rPr lang="en-US" dirty="0"/>
              <a:t>Longest Prefix Match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761777" y="2963838"/>
          <a:ext cx="8668444" cy="2188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956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2893744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2893744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542037">
                <a:tc>
                  <a:txBody>
                    <a:bodyPr/>
                    <a:lstStyle/>
                    <a:p>
                      <a:r>
                        <a:rPr lang="ru-RU" sz="2700" b="1" dirty="0"/>
                        <a:t>Адрес сети</a:t>
                      </a:r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r>
                        <a:rPr lang="ru-RU" sz="2700" b="1" dirty="0"/>
                        <a:t>Маска сети</a:t>
                      </a:r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r>
                        <a:rPr lang="ru-RU" sz="2700" b="1" dirty="0"/>
                        <a:t>Шлюз</a:t>
                      </a:r>
                    </a:p>
                  </a:txBody>
                  <a:tcPr marL="135640" marR="135640" marT="67819" marB="67819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542037">
                <a:tc>
                  <a:txBody>
                    <a:bodyPr/>
                    <a:lstStyle/>
                    <a:p>
                      <a:r>
                        <a:rPr lang="ru-RU" sz="2700" b="1" dirty="0"/>
                        <a:t>10.128.0.0</a:t>
                      </a:r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r>
                        <a:rPr lang="en-US" sz="2700" b="1" dirty="0"/>
                        <a:t>255.255.</a:t>
                      </a:r>
                      <a:r>
                        <a:rPr lang="ru-RU" sz="2700" b="1" dirty="0"/>
                        <a:t>0</a:t>
                      </a:r>
                      <a:r>
                        <a:rPr lang="en-US" sz="2700" b="1" dirty="0"/>
                        <a:t>.0</a:t>
                      </a:r>
                      <a:endParaRPr lang="ru-RU" sz="2700" b="1" dirty="0"/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r>
                        <a:rPr lang="en-US" sz="27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192.168.</a:t>
                      </a:r>
                      <a:r>
                        <a:rPr lang="ru-RU" sz="27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2</a:t>
                      </a:r>
                      <a:r>
                        <a:rPr lang="en-US" sz="27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0.1</a:t>
                      </a:r>
                      <a:endParaRPr lang="ru-RU" sz="2700" b="1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542037">
                <a:tc>
                  <a:txBody>
                    <a:bodyPr/>
                    <a:lstStyle/>
                    <a:p>
                      <a:r>
                        <a:rPr lang="ru-RU" sz="2700" b="1" dirty="0"/>
                        <a:t>10.128.168.0</a:t>
                      </a:r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r>
                        <a:rPr lang="en-US" sz="2700" b="1" dirty="0"/>
                        <a:t>255.255.</a:t>
                      </a:r>
                      <a:r>
                        <a:rPr lang="ru-RU" sz="2700" b="1" dirty="0"/>
                        <a:t>240</a:t>
                      </a:r>
                      <a:r>
                        <a:rPr lang="en-US" sz="2700" b="1" dirty="0"/>
                        <a:t>.0</a:t>
                      </a:r>
                      <a:endParaRPr lang="ru-RU" sz="2700" b="1" dirty="0"/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r>
                        <a:rPr lang="en-US" sz="27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192.168.</a:t>
                      </a:r>
                      <a:r>
                        <a:rPr lang="ru-RU" sz="27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3</a:t>
                      </a:r>
                      <a:r>
                        <a:rPr lang="en-US" sz="27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0.1</a:t>
                      </a:r>
                      <a:endParaRPr lang="ru-RU" sz="2700" b="1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542037">
                <a:tc>
                  <a:txBody>
                    <a:bodyPr/>
                    <a:lstStyle/>
                    <a:p>
                      <a:r>
                        <a:rPr lang="ru-RU" sz="2700" b="1" dirty="0"/>
                        <a:t>0</a:t>
                      </a:r>
                      <a:r>
                        <a:rPr lang="en-US" sz="2700" b="1" dirty="0"/>
                        <a:t>.0.0.0</a:t>
                      </a:r>
                      <a:endParaRPr lang="ru-RU" sz="2700" b="1" dirty="0"/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2700" b="1" dirty="0"/>
                        <a:t>0</a:t>
                      </a:r>
                      <a:r>
                        <a:rPr lang="en-US" sz="2700" b="1" dirty="0"/>
                        <a:t>.0.0.0</a:t>
                      </a:r>
                      <a:endParaRPr lang="ru-RU" sz="2700" b="1" dirty="0"/>
                    </a:p>
                  </a:txBody>
                  <a:tcPr marL="135640" marR="135640" marT="67819" marB="6781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7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192.168.10.1</a:t>
                      </a:r>
                      <a:endParaRPr lang="ru-RU" sz="2700" b="1" i="0" u="none" strike="noStrike" cap="none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1BDEFE8D-D6F6-422C-B71F-746BA374ABEB}"/>
              </a:ext>
            </a:extLst>
          </p:cNvPr>
          <p:cNvSpPr txBox="1"/>
          <p:nvPr/>
        </p:nvSpPr>
        <p:spPr>
          <a:xfrm>
            <a:off x="1258544" y="1557153"/>
            <a:ext cx="9674909" cy="913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667" b="1" dirty="0"/>
              <a:t>Из всех подошедших маршрутов выбирается маршрут с самой длинной маской</a:t>
            </a:r>
            <a:endParaRPr lang="ru-RU" sz="2667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Рукописный ввод 13">
                <a:extLst>
                  <a:ext uri="{FF2B5EF4-FFF2-40B4-BE49-F238E27FC236}">
                    <a16:creationId xmlns:a16="http://schemas.microsoft.com/office/drawing/2014/main" id="{1E65A2C6-1FF4-400B-A657-46CA41D27D1D}"/>
                  </a:ext>
                </a:extLst>
              </p14:cNvPr>
              <p14:cNvContentPartPr/>
              <p14:nvPr/>
            </p14:nvContentPartPr>
            <p14:xfrm>
              <a:off x="9798480" y="3638951"/>
              <a:ext cx="300960" cy="306240"/>
            </p14:xfrm>
          </p:contentPart>
        </mc:Choice>
        <mc:Fallback xmlns="">
          <p:pic>
            <p:nvPicPr>
              <p:cNvPr id="14" name="Рукописный ввод 13">
                <a:extLst>
                  <a:ext uri="{FF2B5EF4-FFF2-40B4-BE49-F238E27FC236}">
                    <a16:creationId xmlns:a16="http://schemas.microsoft.com/office/drawing/2014/main" id="{1E65A2C6-1FF4-400B-A657-46CA41D27D1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789480" y="3629955"/>
                <a:ext cx="318960" cy="3242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" name="Рукописный ввод 16">
                <a:extLst>
                  <a:ext uri="{FF2B5EF4-FFF2-40B4-BE49-F238E27FC236}">
                    <a16:creationId xmlns:a16="http://schemas.microsoft.com/office/drawing/2014/main" id="{9A9D8DFD-E9CF-41B0-97F3-FAB1D673D480}"/>
                  </a:ext>
                </a:extLst>
              </p14:cNvPr>
              <p14:cNvContentPartPr/>
              <p14:nvPr/>
            </p14:nvContentPartPr>
            <p14:xfrm>
              <a:off x="9798480" y="4777991"/>
              <a:ext cx="251520" cy="242880"/>
            </p14:xfrm>
          </p:contentPart>
        </mc:Choice>
        <mc:Fallback xmlns="">
          <p:pic>
            <p:nvPicPr>
              <p:cNvPr id="17" name="Рукописный ввод 16">
                <a:extLst>
                  <a:ext uri="{FF2B5EF4-FFF2-40B4-BE49-F238E27FC236}">
                    <a16:creationId xmlns:a16="http://schemas.microsoft.com/office/drawing/2014/main" id="{9A9D8DFD-E9CF-41B0-97F3-FAB1D673D48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789484" y="4768995"/>
                <a:ext cx="269511" cy="26087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Рукописный ввод 17">
                <a:extLst>
                  <a:ext uri="{FF2B5EF4-FFF2-40B4-BE49-F238E27FC236}">
                    <a16:creationId xmlns:a16="http://schemas.microsoft.com/office/drawing/2014/main" id="{4DC1D4F7-5136-4E55-B39F-2C052837DD60}"/>
                  </a:ext>
                </a:extLst>
              </p14:cNvPr>
              <p14:cNvContentPartPr/>
              <p14:nvPr/>
            </p14:nvContentPartPr>
            <p14:xfrm>
              <a:off x="9789360" y="4203431"/>
              <a:ext cx="385920" cy="324000"/>
            </p14:xfrm>
          </p:contentPart>
        </mc:Choice>
        <mc:Fallback xmlns="">
          <p:pic>
            <p:nvPicPr>
              <p:cNvPr id="18" name="Рукописный ввод 17">
                <a:extLst>
                  <a:ext uri="{FF2B5EF4-FFF2-40B4-BE49-F238E27FC236}">
                    <a16:creationId xmlns:a16="http://schemas.microsoft.com/office/drawing/2014/main" id="{4DC1D4F7-5136-4E55-B39F-2C052837DD6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780360" y="4194431"/>
                <a:ext cx="403920" cy="34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25820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Рекурсивная маршрутизация</a:t>
            </a:r>
            <a:endParaRPr lang="ru-RU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0EA89000-41E3-4BAE-9E14-C9E85237F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208118"/>
              </p:ext>
            </p:extLst>
          </p:nvPr>
        </p:nvGraphicFramePr>
        <p:xfrm>
          <a:off x="415600" y="1465007"/>
          <a:ext cx="5680400" cy="17652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880">
                  <a:extLst>
                    <a:ext uri="{9D8B030D-6E8A-4147-A177-3AD203B41FA5}">
                      <a16:colId xmlns:a16="http://schemas.microsoft.com/office/drawing/2014/main" val="3472456190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984340672"/>
                    </a:ext>
                  </a:extLst>
                </a:gridCol>
                <a:gridCol w="1896260">
                  <a:extLst>
                    <a:ext uri="{9D8B030D-6E8A-4147-A177-3AD203B41FA5}">
                      <a16:colId xmlns:a16="http://schemas.microsoft.com/office/drawing/2014/main" val="4087065278"/>
                    </a:ext>
                  </a:extLst>
                </a:gridCol>
              </a:tblGrid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Адрес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Маска сети</a:t>
                      </a:r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ru-RU" sz="1700" b="1" dirty="0"/>
                        <a:t>Шлюз</a:t>
                      </a:r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6922305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 smtClean="0"/>
                        <a:t>10.10.10.1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 smtClean="0"/>
                        <a:t>255.255.255.255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b="1" dirty="0" smtClean="0"/>
                        <a:t>192.168.10.1</a:t>
                      </a:r>
                      <a:endParaRPr lang="ru-RU" sz="1700" b="1" dirty="0" smtClean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4204986752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192.168.10.0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255.255.255.0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On-Link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1294112736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en-US" sz="1700" b="1" dirty="0"/>
                        <a:t>172.20.20.0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255.255.240.0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r>
                        <a:rPr lang="en-US" sz="1700" b="1" dirty="0" smtClean="0"/>
                        <a:t>10.10.10.1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945439413"/>
                  </a:ext>
                </a:extLst>
              </a:tr>
              <a:tr h="353043">
                <a:tc>
                  <a:txBody>
                    <a:bodyPr/>
                    <a:lstStyle/>
                    <a:p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700" b="1" dirty="0"/>
                        <a:t>0</a:t>
                      </a:r>
                      <a:r>
                        <a:rPr lang="en-US" sz="1700" b="1" dirty="0"/>
                        <a:t>.0.0.0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700" b="1" dirty="0"/>
                        <a:t>192.168.10.1</a:t>
                      </a:r>
                      <a:endParaRPr lang="ru-RU" sz="1700" b="1" dirty="0"/>
                    </a:p>
                  </a:txBody>
                  <a:tcPr marL="88884" marR="88884" marT="44441" marB="44441"/>
                </a:tc>
                <a:extLst>
                  <a:ext uri="{0D108BD9-81ED-4DB2-BD59-A6C34878D82A}">
                    <a16:rowId xmlns:a16="http://schemas.microsoft.com/office/drawing/2014/main" val="335296058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ACD1095-2AD0-43CB-82B7-6804A8520F2A}"/>
              </a:ext>
            </a:extLst>
          </p:cNvPr>
          <p:cNvSpPr txBox="1"/>
          <p:nvPr/>
        </p:nvSpPr>
        <p:spPr>
          <a:xfrm>
            <a:off x="6796455" y="1375296"/>
            <a:ext cx="497994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AutoNum type="arabicParenR"/>
            </a:pPr>
            <a:r>
              <a:rPr lang="ru-RU" sz="2400" dirty="0" smtClean="0"/>
              <a:t>Поиск для </a:t>
            </a:r>
            <a:r>
              <a:rPr lang="ru-RU" sz="2400" b="1" dirty="0"/>
              <a:t>172</a:t>
            </a:r>
            <a:r>
              <a:rPr lang="en-US" sz="2400" b="1" dirty="0" smtClean="0"/>
              <a:t>.20.20.201</a:t>
            </a:r>
            <a:r>
              <a:rPr lang="ru-RU" sz="2400" b="1" dirty="0" smtClean="0"/>
              <a:t>. </a:t>
            </a:r>
            <a:r>
              <a:rPr lang="ru-RU" sz="2400" dirty="0" smtClean="0"/>
              <a:t>Находим подходящую строк, адрес </a:t>
            </a:r>
            <a:r>
              <a:rPr lang="ru-RU" sz="2400" dirty="0" smtClean="0"/>
              <a:t>следующего перехода – </a:t>
            </a:r>
            <a:r>
              <a:rPr lang="ru-RU" sz="2400" b="1" dirty="0" smtClean="0"/>
              <a:t>10.10.10.1</a:t>
            </a:r>
            <a:endParaRPr lang="ru-RU" sz="2400" b="1" dirty="0"/>
          </a:p>
        </p:txBody>
      </p:sp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</p:cNvCxnSpPr>
          <p:nvPr/>
        </p:nvCxnSpPr>
        <p:spPr>
          <a:xfrm flipH="1">
            <a:off x="5874727" y="1828948"/>
            <a:ext cx="921727" cy="888415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ACD1095-2AD0-43CB-82B7-6804A8520F2A}"/>
              </a:ext>
            </a:extLst>
          </p:cNvPr>
          <p:cNvSpPr txBox="1"/>
          <p:nvPr/>
        </p:nvSpPr>
        <p:spPr>
          <a:xfrm>
            <a:off x="6653580" y="4125457"/>
            <a:ext cx="52656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</a:t>
            </a:r>
            <a:r>
              <a:rPr lang="ru-RU" sz="2400" dirty="0" smtClean="0"/>
              <a:t>) Снова поиск – теперь для </a:t>
            </a:r>
            <a:r>
              <a:rPr lang="ru-RU" sz="2400" b="1" dirty="0" smtClean="0"/>
              <a:t>10.10.10.1</a:t>
            </a:r>
            <a:r>
              <a:rPr lang="ru-RU" sz="2400" dirty="0" smtClean="0"/>
              <a:t>. Подходящий маршрут через </a:t>
            </a:r>
            <a:r>
              <a:rPr lang="ru-RU" sz="2400" b="1" dirty="0" smtClean="0"/>
              <a:t>192.168.10.1</a:t>
            </a:r>
            <a:endParaRPr lang="ru-RU" sz="2400" b="1" dirty="0"/>
          </a:p>
        </p:txBody>
      </p: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</p:cNvCxnSpPr>
          <p:nvPr/>
        </p:nvCxnSpPr>
        <p:spPr>
          <a:xfrm flipH="1" flipV="1">
            <a:off x="6224954" y="1986539"/>
            <a:ext cx="571500" cy="20491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ACD1095-2AD0-43CB-82B7-6804A8520F2A}"/>
              </a:ext>
            </a:extLst>
          </p:cNvPr>
          <p:cNvSpPr txBox="1"/>
          <p:nvPr/>
        </p:nvSpPr>
        <p:spPr>
          <a:xfrm>
            <a:off x="959258" y="4125457"/>
            <a:ext cx="526569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3) Теперь поиск для </a:t>
            </a:r>
            <a:r>
              <a:rPr lang="ru-RU" sz="2400" b="1" dirty="0" smtClean="0"/>
              <a:t>192.168.10.1</a:t>
            </a:r>
            <a:r>
              <a:rPr lang="ru-RU" sz="2400" dirty="0" smtClean="0"/>
              <a:t>. Подходящий маршрут ведет в интерфейс. Завершение рекурсивного поиска.</a:t>
            </a:r>
            <a:endParaRPr lang="ru-RU" sz="2400" dirty="0"/>
          </a:p>
        </p:txBody>
      </p: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6AD62E56-A1E2-4CC3-A06F-FACE00E7056B}"/>
              </a:ext>
            </a:extLst>
          </p:cNvPr>
          <p:cNvCxnSpPr>
            <a:cxnSpLocks/>
          </p:cNvCxnSpPr>
          <p:nvPr/>
        </p:nvCxnSpPr>
        <p:spPr>
          <a:xfrm flipH="1" flipV="1">
            <a:off x="5548495" y="2373923"/>
            <a:ext cx="176396" cy="1661746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0748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Агрегация маршрутов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57666" y="1845041"/>
            <a:ext cx="7673491" cy="4577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5904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Статическая маршрутизация</a:t>
            </a:r>
            <a:endParaRPr lang="ru-RU" dirty="0"/>
          </a:p>
        </p:txBody>
      </p:sp>
      <p:pic>
        <p:nvPicPr>
          <p:cNvPr id="6" name="Объект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9441" y="3429000"/>
            <a:ext cx="6724650" cy="3352800"/>
          </a:xfrm>
          <a:prstGeom prst="rect">
            <a:avLst/>
          </a:prstGeom>
        </p:spPr>
      </p:pic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67711" y="1658144"/>
            <a:ext cx="7666268" cy="3045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89577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Динамическая маршрутизация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44398" y="2249488"/>
            <a:ext cx="6500029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46674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ARP (Связка L3 и L2</a:t>
            </a:r>
            <a:r>
              <a:rPr lang="ru-RU" b="1" dirty="0" smtClean="0"/>
              <a:t>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4896" y="2249488"/>
            <a:ext cx="9239034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2331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ARP (Связка L3 и L2</a:t>
            </a:r>
            <a:r>
              <a:rPr lang="ru-RU" b="1" dirty="0" smtClean="0"/>
              <a:t>)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6628" y="2249488"/>
            <a:ext cx="8675569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7371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ARP (Связка L3 и L2</a:t>
            </a:r>
            <a:r>
              <a:rPr lang="ru-RU" b="1" dirty="0" smtClean="0"/>
              <a:t>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7670" y="2249488"/>
            <a:ext cx="8673485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937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ARP (Связка L3 и L2</a:t>
            </a:r>
            <a:r>
              <a:rPr lang="ru-RU" b="1" dirty="0" smtClean="0"/>
              <a:t>)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8612" y="2249488"/>
            <a:ext cx="8691602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64472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ARP (Связка L3 и L2)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98676" y="2012096"/>
            <a:ext cx="6991472" cy="423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7530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ARP (Связка L3 и L2)</a:t>
            </a:r>
            <a:endParaRPr lang="ru-RU" dirty="0"/>
          </a:p>
        </p:txBody>
      </p:sp>
      <p:pic>
        <p:nvPicPr>
          <p:cNvPr id="1026" name="Picture 2" descr="ARP (Address Resolution Protocol) explained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8828" y="1724452"/>
            <a:ext cx="4954344" cy="4725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04661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ARP (Связка L3 и L2)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1653" y="2029680"/>
            <a:ext cx="5528693" cy="4424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75179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/>
              <a:t>Gratuitous </a:t>
            </a:r>
            <a:r>
              <a:rPr lang="af-ZA" b="1" dirty="0" smtClean="0"/>
              <a:t>ARP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ля </a:t>
            </a:r>
            <a:r>
              <a:rPr lang="ru-RU" dirty="0"/>
              <a:t>проверки дублирования адресов в сети. </a:t>
            </a:r>
            <a:endParaRPr lang="ru-RU" dirty="0" smtClean="0"/>
          </a:p>
          <a:p>
            <a:r>
              <a:rPr lang="ru-RU" dirty="0" smtClean="0"/>
              <a:t>Чтобы </a:t>
            </a:r>
            <a:r>
              <a:rPr lang="ru-RU" dirty="0"/>
              <a:t>объявить свой новый идентификатор канальной среды. </a:t>
            </a:r>
            <a:endParaRPr lang="ru-RU" dirty="0" smtClean="0"/>
          </a:p>
          <a:p>
            <a:r>
              <a:rPr lang="ru-RU" dirty="0" err="1" smtClean="0"/>
              <a:t>Hot</a:t>
            </a:r>
            <a:r>
              <a:rPr lang="ru-RU" dirty="0" smtClean="0"/>
              <a:t> </a:t>
            </a:r>
            <a:r>
              <a:rPr lang="ru-RU" dirty="0" err="1"/>
              <a:t>Standby</a:t>
            </a:r>
            <a:r>
              <a:rPr lang="ru-RU" dirty="0"/>
              <a:t> </a:t>
            </a:r>
            <a:r>
              <a:rPr lang="ru-RU" dirty="0" err="1"/>
              <a:t>Router</a:t>
            </a:r>
            <a:r>
              <a:rPr lang="ru-RU" dirty="0"/>
              <a:t> </a:t>
            </a:r>
            <a:r>
              <a:rPr lang="ru-RU" dirty="0" err="1"/>
              <a:t>Protocol</a:t>
            </a:r>
            <a:r>
              <a:rPr lang="ru-RU" dirty="0"/>
              <a:t> (HSRP).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143969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ICMP и утилиты </a:t>
            </a:r>
            <a:r>
              <a:rPr lang="ru-RU" b="1" dirty="0" smtClean="0"/>
              <a:t>диагностики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13599" y="2534811"/>
            <a:ext cx="6564801" cy="385752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141412" y="1669618"/>
            <a:ext cx="896094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Роль: обратная связь, сообщения об ошибках сетевого уровня (</a:t>
            </a:r>
            <a:r>
              <a:rPr lang="ru-RU" dirty="0" err="1"/>
              <a:t>Destination</a:t>
            </a:r>
            <a:r>
              <a:rPr lang="ru-RU" dirty="0"/>
              <a:t> </a:t>
            </a:r>
            <a:r>
              <a:rPr lang="ru-RU" dirty="0" err="1"/>
              <a:t>Unreachable</a:t>
            </a:r>
            <a:r>
              <a:rPr lang="ru-RU" dirty="0"/>
              <a:t>, TTL </a:t>
            </a:r>
            <a:r>
              <a:rPr lang="ru-RU" dirty="0" err="1"/>
              <a:t>Expired</a:t>
            </a:r>
            <a:r>
              <a:rPr lang="ru-RU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9369094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ICMP и утилиты диагностики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29437" y="2003303"/>
            <a:ext cx="7933126" cy="4537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68924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 ICMP и утилиты диагностики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8814" y="1851207"/>
            <a:ext cx="6734297" cy="3955297"/>
          </a:xfrm>
          <a:prstGeom prst="rect">
            <a:avLst/>
          </a:prstGeom>
        </p:spPr>
      </p:pic>
      <p:pic>
        <p:nvPicPr>
          <p:cNvPr id="2050" name="Picture 2" descr="Мониторинг хостов в сети с помощью ICMP-пинга - Мониторинг пингом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26" y="4249826"/>
            <a:ext cx="4926378" cy="1975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24429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41410" y="627310"/>
            <a:ext cx="9905998" cy="1478570"/>
          </a:xfrm>
        </p:spPr>
        <p:txBody>
          <a:bodyPr/>
          <a:lstStyle/>
          <a:p>
            <a:r>
              <a:rPr lang="ru-RU" b="1" dirty="0"/>
              <a:t>Конфигурация </a:t>
            </a:r>
            <a:r>
              <a:rPr lang="af-ZA" b="1" dirty="0"/>
              <a:t>IP-</a:t>
            </a:r>
            <a:r>
              <a:rPr lang="ru-RU" b="1" dirty="0" smtClean="0"/>
              <a:t>адресов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Статическая:</a:t>
            </a:r>
          </a:p>
          <a:p>
            <a:r>
              <a:rPr lang="ru-RU" dirty="0" smtClean="0"/>
              <a:t>Серверы</a:t>
            </a:r>
          </a:p>
          <a:p>
            <a:r>
              <a:rPr lang="ru-RU" dirty="0" smtClean="0"/>
              <a:t>Маршрутизаторы и коммутаторы</a:t>
            </a:r>
          </a:p>
          <a:p>
            <a:r>
              <a:rPr lang="ru-RU" dirty="0" smtClean="0"/>
              <a:t>Принтеры, МФУ.</a:t>
            </a:r>
          </a:p>
          <a:p>
            <a:r>
              <a:rPr lang="en-US" dirty="0" smtClean="0"/>
              <a:t>IP</a:t>
            </a:r>
            <a:r>
              <a:rPr lang="ru-RU" dirty="0" smtClean="0"/>
              <a:t>-камеры, системы видеонаблюдения, датчики.</a:t>
            </a: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Динамическая:</a:t>
            </a:r>
          </a:p>
          <a:p>
            <a:r>
              <a:rPr lang="ru-RU" dirty="0" smtClean="0"/>
              <a:t>Ноутбуки и смартфоны сотрудников.</a:t>
            </a:r>
          </a:p>
          <a:p>
            <a:r>
              <a:rPr lang="ru-RU" dirty="0" smtClean="0"/>
              <a:t>Домашние ПК и планшеты. </a:t>
            </a:r>
          </a:p>
          <a:p>
            <a:r>
              <a:rPr lang="ru-RU" dirty="0" smtClean="0"/>
              <a:t>Гостевые сети.</a:t>
            </a:r>
          </a:p>
          <a:p>
            <a:r>
              <a:rPr lang="ru-RU" dirty="0" smtClean="0"/>
              <a:t>Временные подключения.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261427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Автоматическая настройка: Протокол </a:t>
            </a:r>
            <a:r>
              <a:rPr lang="af-ZA" b="1" dirty="0" smtClean="0"/>
              <a:t>DHCP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smtClean="0"/>
              <a:t>Динамическая конфигурация узла.</a:t>
            </a:r>
          </a:p>
          <a:p>
            <a:r>
              <a:rPr lang="ru-RU" dirty="0" smtClean="0"/>
              <a:t>Широковещательные запросы.</a:t>
            </a:r>
          </a:p>
          <a:p>
            <a:r>
              <a:rPr lang="ru-RU" dirty="0" smtClean="0"/>
              <a:t>Клиент-серверная модель. </a:t>
            </a:r>
          </a:p>
          <a:p>
            <a:r>
              <a:rPr lang="en-US" dirty="0" smtClean="0"/>
              <a:t>UDP</a:t>
            </a:r>
            <a:r>
              <a:rPr lang="ru-RU" dirty="0" smtClean="0"/>
              <a:t>, порт 67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 smtClean="0"/>
              <a:t>Типы распределения адресов:</a:t>
            </a:r>
          </a:p>
          <a:p>
            <a:r>
              <a:rPr lang="ru-RU" dirty="0" smtClean="0"/>
              <a:t>Ручное —</a:t>
            </a:r>
            <a:r>
              <a:rPr lang="ru-RU" dirty="0"/>
              <a:t> </a:t>
            </a:r>
            <a:r>
              <a:rPr lang="en-US" dirty="0" smtClean="0"/>
              <a:t>MAC </a:t>
            </a:r>
            <a:r>
              <a:rPr lang="ru-RU" dirty="0" smtClean="0"/>
              <a:t>вручную привязываются к </a:t>
            </a:r>
            <a:r>
              <a:rPr lang="en-US" dirty="0" smtClean="0"/>
              <a:t>IP </a:t>
            </a:r>
            <a:r>
              <a:rPr lang="ru-RU" dirty="0" smtClean="0"/>
              <a:t>на сервере.</a:t>
            </a:r>
          </a:p>
          <a:p>
            <a:r>
              <a:rPr lang="ru-RU" dirty="0" smtClean="0"/>
              <a:t>Автоматическое – </a:t>
            </a:r>
            <a:r>
              <a:rPr lang="en-US" dirty="0" smtClean="0"/>
              <a:t>DHCP</a:t>
            </a:r>
            <a:r>
              <a:rPr lang="ru-RU" dirty="0" smtClean="0"/>
              <a:t> сервер присваивает устройство постоянный адрес, понятие аренды отсутствует.</a:t>
            </a:r>
          </a:p>
          <a:p>
            <a:r>
              <a:rPr lang="ru-RU" dirty="0" smtClean="0"/>
              <a:t>Динамическое – </a:t>
            </a:r>
            <a:r>
              <a:rPr lang="en-US" dirty="0" smtClean="0"/>
              <a:t>DHCP </a:t>
            </a:r>
            <a:r>
              <a:rPr lang="ru-RU" dirty="0" smtClean="0"/>
              <a:t>сервер выдаёт адрес устройствам на время.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68857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DCHP</a:t>
            </a:r>
            <a:r>
              <a:rPr lang="ru-RU" dirty="0" smtClean="0"/>
              <a:t>: получение адреса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41413" y="2313947"/>
            <a:ext cx="4878387" cy="3412794"/>
          </a:xfrm>
          <a:prstGeom prst="rect">
            <a:avLst/>
          </a:prstGeom>
        </p:spPr>
      </p:pic>
      <p:pic>
        <p:nvPicPr>
          <p:cNvPr id="6" name="Объект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321533"/>
            <a:ext cx="4875213" cy="3397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89135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DCHP</a:t>
            </a:r>
            <a:r>
              <a:rPr lang="ru-RU" dirty="0" smtClean="0"/>
              <a:t>: получение адреса</a:t>
            </a:r>
            <a:endParaRPr lang="ru-RU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41413" y="2326228"/>
            <a:ext cx="4878387" cy="3388231"/>
          </a:xfrm>
          <a:prstGeom prst="rect">
            <a:avLst/>
          </a:prstGeom>
        </p:spPr>
      </p:pic>
      <p:pic>
        <p:nvPicPr>
          <p:cNvPr id="9" name="Объект 8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318383"/>
            <a:ext cx="4875213" cy="3403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0337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143001" y="0"/>
            <a:ext cx="9905998" cy="1478570"/>
          </a:xfrm>
        </p:spPr>
        <p:txBody>
          <a:bodyPr/>
          <a:lstStyle/>
          <a:p>
            <a:r>
              <a:rPr lang="en-US" dirty="0" smtClean="0"/>
              <a:t>DHCP:</a:t>
            </a:r>
            <a:r>
              <a:rPr lang="ru-RU" dirty="0" smtClean="0"/>
              <a:t> формат сообщения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33400" y="1160310"/>
            <a:ext cx="5725200" cy="5521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84578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DHCP: timers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DHCP-адрес выдаётся сроком на </a:t>
            </a:r>
            <a:r>
              <a:rPr lang="ru-RU" dirty="0" err="1"/>
              <a:t>Lease</a:t>
            </a:r>
            <a:r>
              <a:rPr lang="ru-RU" dirty="0"/>
              <a:t> </a:t>
            </a:r>
            <a:r>
              <a:rPr lang="ru-RU" dirty="0" err="1"/>
              <a:t>Time</a:t>
            </a:r>
            <a:r>
              <a:rPr lang="ru-RU" dirty="0"/>
              <a:t> (время аренды). От этого значения рассчитываются два таймера: T1 и T2. T1 (</a:t>
            </a:r>
            <a:r>
              <a:rPr lang="ru-RU" dirty="0" err="1"/>
              <a:t>Renewal</a:t>
            </a:r>
            <a:r>
              <a:rPr lang="ru-RU" dirty="0"/>
              <a:t>) — 50% от времени аренды; по истечении T1 устройство отправляет DHCPREQUEST именно тому серверу, который выдал адрес. T2 (</a:t>
            </a:r>
            <a:r>
              <a:rPr lang="ru-RU" dirty="0" err="1"/>
              <a:t>Rebinding</a:t>
            </a:r>
            <a:r>
              <a:rPr lang="ru-RU" dirty="0"/>
              <a:t>) — 7/8 от времени аренды; если первый сервер не ответил, устройство рассылает широковещательный запрос, чтобы продлить аренду или получить новый адрес. Если </a:t>
            </a:r>
            <a:r>
              <a:rPr lang="ru-RU" dirty="0" err="1"/>
              <a:t>Lease</a:t>
            </a:r>
            <a:r>
              <a:rPr lang="ru-RU" dirty="0"/>
              <a:t> </a:t>
            </a:r>
            <a:r>
              <a:rPr lang="ru-RU" dirty="0" err="1"/>
              <a:t>Time</a:t>
            </a:r>
            <a:r>
              <a:rPr lang="ru-RU" dirty="0"/>
              <a:t> истёк и никто не продлил адрес, устройство отказывается от него и начинает процедуру получения нового с нуля.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263602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Фрагментация </a:t>
            </a:r>
            <a:r>
              <a:rPr lang="af-ZA" b="1" dirty="0"/>
              <a:t>IPv4-</a:t>
            </a:r>
            <a:r>
              <a:rPr lang="ru-RU" b="1" dirty="0" smtClean="0"/>
              <a:t>пакетов</a:t>
            </a:r>
            <a:endParaRPr lang="ru-RU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5570" y="2319827"/>
            <a:ext cx="7331662" cy="3541712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7957039" y="2936521"/>
            <a:ext cx="400929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Identification</a:t>
            </a:r>
            <a:r>
              <a:rPr lang="ru-RU" dirty="0"/>
              <a:t> — ID пакета.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DF-флаг (</a:t>
            </a:r>
            <a:r>
              <a:rPr lang="ru-RU" dirty="0" err="1"/>
              <a:t>Do</a:t>
            </a:r>
            <a:r>
              <a:rPr lang="ru-RU" dirty="0"/>
              <a:t> </a:t>
            </a:r>
            <a:r>
              <a:rPr lang="ru-RU" dirty="0" err="1"/>
              <a:t>Not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) — если 1, пакет сбрасывается при превышении MTU.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MF-флаг (</a:t>
            </a:r>
            <a:r>
              <a:rPr lang="ru-RU" dirty="0" err="1"/>
              <a:t>More</a:t>
            </a:r>
            <a:r>
              <a:rPr lang="ru-RU" dirty="0"/>
              <a:t> </a:t>
            </a:r>
            <a:r>
              <a:rPr lang="ru-RU" dirty="0" err="1"/>
              <a:t>Fragments</a:t>
            </a:r>
            <a:r>
              <a:rPr lang="ru-RU" dirty="0"/>
              <a:t>) — 1 для всех частей, кроме последней.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Fragment</a:t>
            </a:r>
            <a:r>
              <a:rPr lang="ru-RU" dirty="0"/>
              <a:t> </a:t>
            </a:r>
            <a:r>
              <a:rPr lang="ru-RU" dirty="0" err="1"/>
              <a:t>Offset</a:t>
            </a:r>
            <a:r>
              <a:rPr lang="ru-RU" dirty="0"/>
              <a:t> — смещение данных блока (кратно 8 байтам).</a:t>
            </a:r>
          </a:p>
        </p:txBody>
      </p:sp>
    </p:spTree>
    <p:extLst>
      <p:ext uri="{BB962C8B-B14F-4D97-AF65-F5344CB8AC3E}">
        <p14:creationId xmlns:p14="http://schemas.microsoft.com/office/powerpoint/2010/main" val="134646950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Контур</Template>
  <TotalTime>508</TotalTime>
  <Words>1964</Words>
  <Application>Microsoft Office PowerPoint</Application>
  <PresentationFormat>Широкоэкранный</PresentationFormat>
  <Paragraphs>444</Paragraphs>
  <Slides>70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70</vt:i4>
      </vt:variant>
    </vt:vector>
  </HeadingPairs>
  <TitlesOfParts>
    <vt:vector size="75" baseType="lpstr">
      <vt:lpstr>Arial</vt:lpstr>
      <vt:lpstr>Calibri</vt:lpstr>
      <vt:lpstr>Trebuchet MS</vt:lpstr>
      <vt:lpstr>Tw Cen MT</vt:lpstr>
      <vt:lpstr>Контур</vt:lpstr>
      <vt:lpstr>Сетевой уровень (L3): Протокол IP, Маршрутизация и адресация</vt:lpstr>
      <vt:lpstr>Проблемы канального уровня (Зачем нужен L3?)</vt:lpstr>
      <vt:lpstr>Функции сетевого уровня</vt:lpstr>
      <vt:lpstr>IP — Internet Protocol</vt:lpstr>
      <vt:lpstr>Инкапсуляция IP</vt:lpstr>
      <vt:lpstr>Инкапсуляция IP</vt:lpstr>
      <vt:lpstr>Инкапсуляция IP</vt:lpstr>
      <vt:lpstr>Модель обслуживания IP – best effort</vt:lpstr>
      <vt:lpstr>Формат IP-пакета</vt:lpstr>
      <vt:lpstr>Структура IPv4-адреса</vt:lpstr>
      <vt:lpstr>Из двоичной в десятичную</vt:lpstr>
      <vt:lpstr>Из десятичной в двоичную</vt:lpstr>
      <vt:lpstr>Классовая адресация</vt:lpstr>
      <vt:lpstr>Недостатки классовой адресации</vt:lpstr>
      <vt:lpstr>CIDR (Classless Inter-Domain Routing)</vt:lpstr>
      <vt:lpstr>Связь адреса IPv4 с маской подсети</vt:lpstr>
      <vt:lpstr>использование масок подсети фиксированной длины</vt:lpstr>
      <vt:lpstr>использование масок подсети фиксированной длины</vt:lpstr>
      <vt:lpstr>Маски подсети переменной длины</vt:lpstr>
      <vt:lpstr>Маски подсети переменной длины</vt:lpstr>
      <vt:lpstr>Маски подсети переменной длины</vt:lpstr>
      <vt:lpstr>Маски подсети переменной длины</vt:lpstr>
      <vt:lpstr>Презентация PowerPoint</vt:lpstr>
      <vt:lpstr>Презентация PowerPoint</vt:lpstr>
      <vt:lpstr>Презентация PowerPoint</vt:lpstr>
      <vt:lpstr>Презентация PowerPoint</vt:lpstr>
      <vt:lpstr>Прямая и косвенная доставка</vt:lpstr>
      <vt:lpstr>Маршрутизация и пересылка</vt:lpstr>
      <vt:lpstr>TTL – Time to live</vt:lpstr>
      <vt:lpstr>Таблица маршрутизации</vt:lpstr>
      <vt:lpstr>Таблица маршрутизации</vt:lpstr>
      <vt:lpstr>Использование сетевой маски для определения принадлежности узла к сети</vt:lpstr>
      <vt:lpstr>Использование сетевой маски для определения принадлежности узла к сети</vt:lpstr>
      <vt:lpstr>Логическое И</vt:lpstr>
      <vt:lpstr>Использование сетевой маски для определения принадлежности узла к сети</vt:lpstr>
      <vt:lpstr>Исключающее или не</vt:lpstr>
      <vt:lpstr>Использование сетевой маски для определения принадлежности узла к сети</vt:lpstr>
      <vt:lpstr>Поиск по таблице маршрутизации</vt:lpstr>
      <vt:lpstr>Поиск по таблице маршрутизации</vt:lpstr>
      <vt:lpstr>Поиск по таблице маршрутизации</vt:lpstr>
      <vt:lpstr>Поиск по таблице маршрутизации</vt:lpstr>
      <vt:lpstr>Поиск по таблице маршрутизации</vt:lpstr>
      <vt:lpstr>Поиск по таблице маршрутизации</vt:lpstr>
      <vt:lpstr>Поиск по таблице маршрутизации</vt:lpstr>
      <vt:lpstr>Longest Prefix Match</vt:lpstr>
      <vt:lpstr>Longest Prefix Match</vt:lpstr>
      <vt:lpstr>Longest Prefix Match</vt:lpstr>
      <vt:lpstr>Longest Prefix Match</vt:lpstr>
      <vt:lpstr>Рекурсивная маршрутизация</vt:lpstr>
      <vt:lpstr>Агрегация маршрутов</vt:lpstr>
      <vt:lpstr>Статическая маршрутизация</vt:lpstr>
      <vt:lpstr>Динамическая маршрутизация</vt:lpstr>
      <vt:lpstr>Протокол ARP (Связка L3 и L2)</vt:lpstr>
      <vt:lpstr>Протокол ARP (Связка L3 и L2)</vt:lpstr>
      <vt:lpstr>Протокол ARP (Связка L3 и L2)</vt:lpstr>
      <vt:lpstr>Протокол ARP (Связка L3 и L2)</vt:lpstr>
      <vt:lpstr>Протокол ARP (Связка L3 и L2)</vt:lpstr>
      <vt:lpstr>Протокол ARP (Связка L3 и L2)</vt:lpstr>
      <vt:lpstr>Протокол ARP (Связка L3 и L2)</vt:lpstr>
      <vt:lpstr>Gratuitous ARP</vt:lpstr>
      <vt:lpstr>Протокол ICMP и утилиты диагностики</vt:lpstr>
      <vt:lpstr>Протокол ICMP и утилиты диагностики</vt:lpstr>
      <vt:lpstr>Протокол ICMP и утилиты диагностики</vt:lpstr>
      <vt:lpstr>Конфигурация IP-адресов</vt:lpstr>
      <vt:lpstr>Автоматическая настройка: Протокол DHCP</vt:lpstr>
      <vt:lpstr>DCHP: получение адреса</vt:lpstr>
      <vt:lpstr>DCHP: получение адреса</vt:lpstr>
      <vt:lpstr>DHCP: формат сообщения</vt:lpstr>
      <vt:lpstr>DHCP: timers</vt:lpstr>
      <vt:lpstr>Фрагментация IPv4-пакетов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Сетевой уровень (L3): Протокол IP, Маршрутизация и адресация</dc:title>
  <dc:creator>Тимур А. Нахтигаль</dc:creator>
  <cp:lastModifiedBy>Тимур А. Нахтигаль</cp:lastModifiedBy>
  <cp:revision>38</cp:revision>
  <dcterms:created xsi:type="dcterms:W3CDTF">2026-08-28T07:22:13Z</dcterms:created>
  <dcterms:modified xsi:type="dcterms:W3CDTF">2026-08-28T15:52:06Z</dcterms:modified>
</cp:coreProperties>
</file>