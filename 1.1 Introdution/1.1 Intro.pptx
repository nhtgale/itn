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78" r:id="rId9"/>
    <p:sldId id="279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2" d="100"/>
          <a:sy n="42" d="100"/>
        </p:scale>
        <p:origin x="6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764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474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823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38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872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64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573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62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994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422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413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0E38E48-C2A3-4581-BEEE-BDFDC959DF33}" type="datetimeFigureOut">
              <a:rPr lang="ru-RU" smtClean="0"/>
              <a:t>31.08.2026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68503D8A-A125-4373-B586-5011F3A914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51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Введение в компьютерные сети</a:t>
            </a:r>
          </a:p>
        </p:txBody>
      </p:sp>
    </p:spTree>
    <p:extLst>
      <p:ext uri="{BB962C8B-B14F-4D97-AF65-F5344CB8AC3E}">
        <p14:creationId xmlns:p14="http://schemas.microsoft.com/office/powerpoint/2010/main" val="3503734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Компьютерная сеть и её главное свойство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6657" y="2011680"/>
            <a:ext cx="10753342" cy="1589649"/>
          </a:xfrm>
        </p:spPr>
        <p:txBody>
          <a:bodyPr>
            <a:normAutofit/>
          </a:bodyPr>
          <a:lstStyle/>
          <a:p>
            <a:r>
              <a:rPr lang="ru-RU" sz="3200" b="1" dirty="0"/>
              <a:t>Компьютерная сеть — совокупность независимых вычислительных устройств, соединённых каналами связи</a:t>
            </a:r>
            <a:r>
              <a:rPr lang="ru-RU" sz="3200" b="1" dirty="0" smtClean="0"/>
              <a:t>.</a:t>
            </a:r>
            <a:endParaRPr lang="en-US" sz="3200" b="1" dirty="0" smtClean="0"/>
          </a:p>
          <a:p>
            <a:endParaRPr lang="ru-RU" sz="36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65" y="3209639"/>
            <a:ext cx="5535461" cy="327677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626" y="3226777"/>
            <a:ext cx="6022820" cy="324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8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Элементы сети: Узлы и Каналы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6656" y="2011681"/>
            <a:ext cx="9575175" cy="1030458"/>
          </a:xfrm>
        </p:spPr>
        <p:txBody>
          <a:bodyPr/>
          <a:lstStyle/>
          <a:p>
            <a:r>
              <a:rPr lang="ru-RU" dirty="0" smtClean="0"/>
              <a:t>- Узел (</a:t>
            </a:r>
            <a:r>
              <a:rPr lang="en-US" dirty="0" smtClean="0"/>
              <a:t>Node) – </a:t>
            </a:r>
            <a:r>
              <a:rPr lang="ru-RU" dirty="0" smtClean="0"/>
              <a:t>любой активный участник сети.</a:t>
            </a:r>
          </a:p>
          <a:p>
            <a:r>
              <a:rPr lang="ru-RU" dirty="0" smtClean="0"/>
              <a:t>- Канал (</a:t>
            </a:r>
            <a:r>
              <a:rPr lang="en-US" dirty="0" smtClean="0"/>
              <a:t>Link) – </a:t>
            </a:r>
            <a:r>
              <a:rPr lang="ru-RU" dirty="0" smtClean="0"/>
              <a:t>среда передачи сигналов (кабель, оптоволокно, радио)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255" y="3042139"/>
            <a:ext cx="7568712" cy="358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2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Коммутация каналов </a:t>
            </a:r>
            <a:r>
              <a:rPr lang="ru-RU" dirty="0" err="1"/>
              <a:t>vs</a:t>
            </a:r>
            <a:r>
              <a:rPr lang="ru-RU" dirty="0"/>
              <a:t> Коммутация пакетов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7224" y="2240280"/>
            <a:ext cx="5092945" cy="3766185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 smtClean="0"/>
              <a:t>Коммутация каналов: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Монопольный физический канал на время сеанса</a:t>
            </a:r>
            <a:r>
              <a:rPr lang="ru-RU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 smtClean="0"/>
              <a:t>Ресурсы простаивают при отсутствии активности.</a:t>
            </a:r>
          </a:p>
          <a:p>
            <a:pPr marL="0" indent="0">
              <a:buNone/>
            </a:pPr>
            <a:r>
              <a:rPr lang="ru-RU" sz="1800" dirty="0" smtClean="0"/>
              <a:t>Коммутация пакетов: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 smtClean="0"/>
              <a:t>Данные разбиваются на блоки.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 smtClean="0"/>
              <a:t>Динамическое разделение полосы пропускания.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Принцип **</a:t>
            </a:r>
            <a:r>
              <a:rPr lang="ru-RU" sz="1800" dirty="0" err="1"/>
              <a:t>Store-and-Forward</a:t>
            </a:r>
            <a:r>
              <a:rPr lang="ru-RU" sz="1800" dirty="0"/>
              <a:t>** (сохрани и перешли).</a:t>
            </a:r>
            <a:endParaRPr lang="ru-RU" sz="1800" dirty="0" smtClean="0"/>
          </a:p>
          <a:p>
            <a:pPr marL="0" indent="0">
              <a:buNone/>
            </a:pPr>
            <a:endParaRPr lang="ru-RU" dirty="0" smtClean="0"/>
          </a:p>
        </p:txBody>
      </p:sp>
      <p:pic>
        <p:nvPicPr>
          <p:cNvPr id="1026" name="Picture 2" descr="Коммутация каналов и пакетов в сетях передачи данных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866" y="1328632"/>
            <a:ext cx="3349868" cy="2636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866" y="3965040"/>
            <a:ext cx="3673966" cy="266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84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сети: Оконечные и транзитные узлы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5762244" cy="4155016"/>
          </a:xfrm>
        </p:spPr>
        <p:txBody>
          <a:bodyPr>
            <a:normAutofit/>
          </a:bodyPr>
          <a:lstStyle/>
          <a:p>
            <a:r>
              <a:rPr lang="ru-RU" dirty="0" smtClean="0"/>
              <a:t>Хосты (Оконечные узлы):</a:t>
            </a:r>
          </a:p>
          <a:p>
            <a:r>
              <a:rPr lang="ru-RU" dirty="0" smtClean="0"/>
              <a:t>- Клиенты и серверы (ПК, смартфоны, </a:t>
            </a:r>
            <a:r>
              <a:rPr lang="en-US" dirty="0" err="1" smtClean="0"/>
              <a:t>IoT</a:t>
            </a:r>
            <a:r>
              <a:rPr lang="en-US" dirty="0" smtClean="0"/>
              <a:t> </a:t>
            </a:r>
            <a:r>
              <a:rPr lang="ru-RU" dirty="0" smtClean="0"/>
              <a:t>и т.д.)</a:t>
            </a:r>
          </a:p>
          <a:p>
            <a:r>
              <a:rPr lang="ru-RU" dirty="0" smtClean="0"/>
              <a:t>- Расположены на границе сети.</a:t>
            </a:r>
          </a:p>
          <a:p>
            <a:r>
              <a:rPr lang="ru-RU" dirty="0" smtClean="0"/>
              <a:t>Промежуточные узлы (транзит):</a:t>
            </a:r>
          </a:p>
          <a:p>
            <a:r>
              <a:rPr lang="ru-RU" dirty="0" smtClean="0"/>
              <a:t>- Коммутаторы (</a:t>
            </a:r>
            <a:r>
              <a:rPr lang="en-US" dirty="0" smtClean="0"/>
              <a:t>Switch) – </a:t>
            </a:r>
            <a:r>
              <a:rPr lang="ru-RU" dirty="0" smtClean="0"/>
              <a:t>передача внутри локальной сети.</a:t>
            </a:r>
          </a:p>
          <a:p>
            <a:r>
              <a:rPr lang="ru-RU" dirty="0" smtClean="0"/>
              <a:t>- Маршрутизаторы (</a:t>
            </a:r>
            <a:r>
              <a:rPr lang="en-US" dirty="0" smtClean="0"/>
              <a:t>Router) –</a:t>
            </a:r>
            <a:r>
              <a:rPr lang="ru-RU" dirty="0" smtClean="0"/>
              <a:t> объединение разнородных сетей в </a:t>
            </a:r>
            <a:r>
              <a:rPr lang="ru-RU" b="1" dirty="0" smtClean="0"/>
              <a:t>интерсеть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7710" y="1998325"/>
            <a:ext cx="4145143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0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Адресация и маршрутизация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10858120" cy="1697566"/>
          </a:xfrm>
        </p:spPr>
        <p:txBody>
          <a:bodyPr/>
          <a:lstStyle/>
          <a:p>
            <a:r>
              <a:rPr lang="ru-RU" dirty="0" smtClean="0"/>
              <a:t>Сетевой </a:t>
            </a:r>
            <a:r>
              <a:rPr lang="ru-RU" dirty="0"/>
              <a:t>адрес</a:t>
            </a:r>
            <a:r>
              <a:rPr lang="ru-RU" dirty="0" smtClean="0"/>
              <a:t>: </a:t>
            </a:r>
            <a:r>
              <a:rPr lang="ru-RU" dirty="0"/>
              <a:t>Уникальный идентификатор устройства (например, IPv4 / IPv6 / MAC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Маршрутизация </a:t>
            </a:r>
            <a:r>
              <a:rPr lang="ru-RU" dirty="0"/>
              <a:t>(</a:t>
            </a:r>
            <a:r>
              <a:rPr lang="ru-RU" dirty="0" err="1"/>
              <a:t>Routing</a:t>
            </a:r>
            <a:r>
              <a:rPr lang="ru-RU" dirty="0" smtClean="0"/>
              <a:t>): Алгоритмический </a:t>
            </a:r>
            <a:r>
              <a:rPr lang="ru-RU" dirty="0"/>
              <a:t>процесс выбора оптимального маршрута через промежуточные узлы.</a:t>
            </a:r>
          </a:p>
        </p:txBody>
      </p:sp>
      <p:pic>
        <p:nvPicPr>
          <p:cNvPr id="2050" name="Picture 2" descr="IP-адресация - КОМПЬЮТЕРНЫЕ СЕТИ И ТЕЛЕКОММУНИКАЦИИ. МАРШРУТИЗАЦИЯ В  IP-СЕТЯХ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441" y="3656332"/>
            <a:ext cx="5670550" cy="292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6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Всемирная паутина </a:t>
            </a:r>
            <a:r>
              <a:rPr lang="en-US" dirty="0"/>
              <a:t>(World Wide Web)</a:t>
            </a:r>
            <a:endParaRPr lang="ru-RU" dirty="0"/>
          </a:p>
        </p:txBody>
      </p:sp>
      <p:pic>
        <p:nvPicPr>
          <p:cNvPr id="1026" name="Picture 2" descr="What is WWW? Difference between WWW and Interne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2550092"/>
            <a:ext cx="4662487" cy="26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he web was born: WWW turns 25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2133203"/>
            <a:ext cx="4664075" cy="349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53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Потоковое аудио и видео</a:t>
            </a:r>
            <a:endParaRPr lang="ru-RU" dirty="0"/>
          </a:p>
        </p:txBody>
      </p:sp>
      <p:pic>
        <p:nvPicPr>
          <p:cNvPr id="2050" name="Picture 2" descr="Потоковое видео: что это такое | РБК Компании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2327540"/>
            <a:ext cx="4664075" cy="3109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Программы для потокового видео / Программное обеспечение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965" y="1998663"/>
            <a:ext cx="3494283" cy="3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657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Видео\аудио в реальном времени</a:t>
            </a:r>
            <a:endParaRPr lang="ru-RU" dirty="0"/>
          </a:p>
        </p:txBody>
      </p:sp>
      <p:pic>
        <p:nvPicPr>
          <p:cNvPr id="3074" name="Picture 2" descr="Teleport | Online Video Conferencing Software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2052625"/>
            <a:ext cx="4664075" cy="365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icroSIP - Reliable SIP Softphone for Windows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171" y="1998663"/>
            <a:ext cx="2169870" cy="3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034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архитектуре компьютерных сетей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497058"/>
          </a:xfrm>
        </p:spPr>
        <p:txBody>
          <a:bodyPr>
            <a:normAutofit/>
          </a:bodyPr>
          <a:lstStyle/>
          <a:p>
            <a:endParaRPr lang="ru-RU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Зачем формулировать требования?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Три взгляда на одну систему: Пользователь, Разработчик, Оператор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/>
              <a:t>Сеть как система архитектурных компромиссов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1026" name="Picture 2" descr="Проектирование локальных вычислительных сетей (ЛВС) предприятия - на  zwsoft.r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528" y="2603296"/>
            <a:ext cx="6291528" cy="289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91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Взгляд пользователя: Производительность </a:t>
            </a:r>
            <a:r>
              <a:rPr lang="ru-RU" dirty="0" smtClean="0"/>
              <a:t>сети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20942" y="3010585"/>
            <a:ext cx="11045338" cy="2018615"/>
          </a:xfrm>
        </p:spPr>
        <p:txBody>
          <a:bodyPr/>
          <a:lstStyle/>
          <a:p>
            <a:r>
              <a:rPr lang="ru-RU" dirty="0" err="1"/>
              <a:t>Bandwidth</a:t>
            </a:r>
            <a:r>
              <a:rPr lang="ru-RU" dirty="0"/>
              <a:t> (Пропускная </a:t>
            </a:r>
            <a:r>
              <a:rPr lang="ru-RU" dirty="0" smtClean="0"/>
              <a:t>способность) - объем </a:t>
            </a:r>
            <a:r>
              <a:rPr lang="ru-RU" dirty="0"/>
              <a:t>данных, передаваемый в единицу времени (измеряется в битах в секунду, бит/с).</a:t>
            </a:r>
          </a:p>
          <a:p>
            <a:pPr lvl="1"/>
            <a:endParaRPr lang="ru-RU" dirty="0"/>
          </a:p>
          <a:p>
            <a:r>
              <a:rPr lang="ru-RU" dirty="0" err="1"/>
              <a:t>Latency</a:t>
            </a:r>
            <a:r>
              <a:rPr lang="ru-RU" dirty="0"/>
              <a:t> (Задержка</a:t>
            </a:r>
            <a:r>
              <a:rPr lang="ru-RU" dirty="0" smtClean="0"/>
              <a:t>) - </a:t>
            </a:r>
            <a:r>
              <a:rPr lang="ru-RU" dirty="0"/>
              <a:t>время, которое требуется одному биту данных, чтобы пройти от отправителя до получателя (измеряется в миллисекундах, </a:t>
            </a:r>
            <a:r>
              <a:rPr lang="ru-RU" dirty="0" err="1"/>
              <a:t>мс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4879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Взгляд пользователя: Надёжность и Экономика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20942" y="3010585"/>
            <a:ext cx="11045338" cy="2018615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Надёжность (</a:t>
            </a:r>
            <a:r>
              <a:rPr lang="ru-RU" b="1" dirty="0" err="1"/>
              <a:t>Reliability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Скрытие сбоев физического уровня.</a:t>
            </a:r>
          </a:p>
          <a:p>
            <a:pPr lvl="1"/>
            <a:r>
              <a:rPr lang="ru-RU" dirty="0"/>
              <a:t>Автоматическая маршрутизация в обход аварийных узлов.</a:t>
            </a:r>
          </a:p>
          <a:p>
            <a:r>
              <a:rPr lang="ru-RU" b="1" dirty="0"/>
              <a:t>Стоимость (</a:t>
            </a:r>
            <a:r>
              <a:rPr lang="ru-RU" b="1" dirty="0" err="1"/>
              <a:t>Cost</a:t>
            </a:r>
            <a:r>
              <a:rPr lang="ru-RU" b="1" dirty="0"/>
              <a:t> </a:t>
            </a:r>
            <a:r>
              <a:rPr lang="ru-RU" b="1" dirty="0" err="1"/>
              <a:t>Efficiency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Эффект масштаба: совместное использование ресурсов (</a:t>
            </a:r>
            <a:r>
              <a:rPr lang="ru-RU" dirty="0" err="1"/>
              <a:t>Statistical</a:t>
            </a:r>
            <a:r>
              <a:rPr lang="ru-RU" dirty="0"/>
              <a:t> </a:t>
            </a:r>
            <a:r>
              <a:rPr lang="ru-RU" dirty="0" err="1"/>
              <a:t>Multiplexing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Минимизация стоимости владения и подключения.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1711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разработчика: Абстракция канала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57224" y="2226735"/>
            <a:ext cx="11212391" cy="3752036"/>
          </a:xfrm>
        </p:spPr>
        <p:txBody>
          <a:bodyPr>
            <a:normAutofit/>
          </a:bodyPr>
          <a:lstStyle/>
          <a:p>
            <a:r>
              <a:rPr lang="ru-RU" dirty="0" smtClean="0"/>
              <a:t>Абстракция</a:t>
            </a:r>
            <a:r>
              <a:rPr lang="ru-RU" dirty="0"/>
              <a:t>.</a:t>
            </a:r>
            <a:r>
              <a:rPr lang="ru-RU" dirty="0" smtClean="0"/>
              <a:t> </a:t>
            </a:r>
            <a:r>
              <a:rPr lang="ru-RU" dirty="0"/>
              <a:t>Изоляция от «железа» и физики среды.</a:t>
            </a:r>
          </a:p>
          <a:p>
            <a:r>
              <a:rPr lang="ru-RU" dirty="0" smtClean="0"/>
              <a:t>Разные </a:t>
            </a:r>
            <a:r>
              <a:rPr lang="ru-RU" dirty="0"/>
              <a:t>типы каналов: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/>
              <a:t>Канал типа «запрос-ответ»:</a:t>
            </a:r>
            <a:r>
              <a:rPr lang="ru-RU" dirty="0"/>
              <a:t> используется приложениями, которые работают по принципу «клиент-сервер» (например, веб-браузер, запрашивающий страницу).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1" dirty="0"/>
              <a:t>Потоковый канал</a:t>
            </a:r>
            <a:r>
              <a:rPr lang="ru-RU" dirty="0"/>
              <a:t> используется приложениями, передающими непрерывные потоки данных (например, аудио или видео в реальном времени).</a:t>
            </a:r>
          </a:p>
          <a:p>
            <a:r>
              <a:rPr lang="ru-RU" dirty="0" smtClean="0"/>
              <a:t>Гибкость и универсальность: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 err="1"/>
              <a:t>End-to-End</a:t>
            </a:r>
            <a:r>
              <a:rPr lang="ru-RU" dirty="0"/>
              <a:t> </a:t>
            </a:r>
            <a:r>
              <a:rPr lang="ru-RU" dirty="0" err="1"/>
              <a:t>Principle</a:t>
            </a:r>
            <a:r>
              <a:rPr lang="ru-RU" dirty="0"/>
              <a:t> (Сквозной принцип): интеллект на хостах, простота внутри сети.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dirty="0" err="1"/>
              <a:t>Hourglass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(«Песочные часы» IP): единый тонкий межсетевой уровень для любого «железа» и любых программ.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3131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Взгляд оператора: Эксплуатация сети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57224" y="1725571"/>
            <a:ext cx="11080507" cy="3479475"/>
          </a:xfrm>
        </p:spPr>
        <p:txBody>
          <a:bodyPr>
            <a:noAutofit/>
          </a:bodyPr>
          <a:lstStyle/>
          <a:p>
            <a:r>
              <a:rPr lang="ru-RU" sz="2800" dirty="0"/>
              <a:t>Масштабируемость (</a:t>
            </a:r>
            <a:r>
              <a:rPr lang="ru-RU" sz="2800" dirty="0" err="1"/>
              <a:t>Scalability</a:t>
            </a:r>
            <a:r>
              <a:rPr lang="ru-RU" sz="2800" dirty="0"/>
              <a:t>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Стабильность метрик при росте </a:t>
            </a:r>
            <a:r>
              <a:rPr lang="ru-RU" sz="2400" dirty="0" smtClean="0"/>
              <a:t>сети.</a:t>
            </a:r>
          </a:p>
          <a:p>
            <a:r>
              <a:rPr lang="ru-RU" sz="2800" dirty="0" smtClean="0"/>
              <a:t>Простота </a:t>
            </a:r>
            <a:r>
              <a:rPr lang="ru-RU" sz="2800" dirty="0"/>
              <a:t>управления (</a:t>
            </a:r>
            <a:r>
              <a:rPr lang="ru-RU" sz="2800" dirty="0" err="1"/>
              <a:t>Ease</a:t>
            </a:r>
            <a:r>
              <a:rPr lang="ru-RU" sz="2800" dirty="0"/>
              <a:t> </a:t>
            </a:r>
            <a:r>
              <a:rPr lang="ru-RU" sz="2800" dirty="0" err="1"/>
              <a:t>of</a:t>
            </a:r>
            <a:r>
              <a:rPr lang="ru-RU" sz="2800" dirty="0"/>
              <a:t> </a:t>
            </a:r>
            <a:r>
              <a:rPr lang="ru-RU" sz="2800" dirty="0" err="1"/>
              <a:t>Management</a:t>
            </a:r>
            <a:r>
              <a:rPr lang="ru-RU" sz="2800" dirty="0"/>
              <a:t>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Централизованный и распределенный мониторинг.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Быстрая локализация инцидентов и автоматизация конфигураций</a:t>
            </a:r>
            <a:r>
              <a:rPr lang="ru-RU" sz="2400" dirty="0" smtClean="0"/>
              <a:t>.</a:t>
            </a:r>
          </a:p>
          <a:p>
            <a:r>
              <a:rPr lang="ru-RU" sz="2800" dirty="0"/>
              <a:t>Безопасность (</a:t>
            </a:r>
            <a:r>
              <a:rPr lang="ru-RU" sz="2800" dirty="0" err="1"/>
              <a:t>Security</a:t>
            </a:r>
            <a:r>
              <a:rPr lang="ru-RU" sz="2800" dirty="0"/>
              <a:t>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800" dirty="0"/>
              <a:t>Разграничение доступа (AAA).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800" dirty="0"/>
              <a:t>Защита инфраструктуры от </a:t>
            </a:r>
            <a:r>
              <a:rPr lang="ru-RU" sz="2800" dirty="0" err="1"/>
              <a:t>DDoS</a:t>
            </a:r>
            <a:r>
              <a:rPr lang="ru-RU" sz="2800" dirty="0"/>
              <a:t> и атак на протоколы маршрутизации.</a:t>
            </a:r>
          </a:p>
          <a:p>
            <a:r>
              <a:rPr lang="ru-RU" sz="2800" dirty="0"/>
              <a:t>Адаптивность (</a:t>
            </a:r>
            <a:r>
              <a:rPr lang="ru-RU" sz="2800" dirty="0" err="1"/>
              <a:t>Evolvability</a:t>
            </a:r>
            <a:r>
              <a:rPr lang="ru-RU" sz="2800" dirty="0"/>
              <a:t>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800" dirty="0"/>
              <a:t>Замена узлов и стандартов без остановки сети (</a:t>
            </a:r>
            <a:r>
              <a:rPr lang="ru-RU" sz="2800" dirty="0" err="1"/>
              <a:t>backward</a:t>
            </a:r>
            <a:r>
              <a:rPr lang="ru-RU" sz="2800" dirty="0"/>
              <a:t> </a:t>
            </a:r>
            <a:r>
              <a:rPr lang="ru-RU" sz="2800" dirty="0" err="1"/>
              <a:t>compatibility</a:t>
            </a:r>
            <a:r>
              <a:rPr lang="ru-RU" sz="2800" dirty="0"/>
              <a:t>).</a:t>
            </a:r>
          </a:p>
          <a:p>
            <a:pPr marL="4572" lvl="1" indent="0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824875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353437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 чём главное отличие современных компьютерных сетей от классических сетей узкого назначения (например, старых телефонных или кабельного ТВ)?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657224" y="3822895"/>
            <a:ext cx="10753725" cy="2463605"/>
          </a:xfrm>
        </p:spPr>
        <p:txBody>
          <a:bodyPr/>
          <a:lstStyle/>
          <a:p>
            <a:r>
              <a:rPr lang="ru-RU" b="1" dirty="0"/>
              <a:t>А)</a:t>
            </a:r>
            <a:r>
              <a:rPr lang="ru-RU" dirty="0"/>
              <a:t> Компьютерные сети работают исключительно без проводов.</a:t>
            </a:r>
          </a:p>
          <a:p>
            <a:r>
              <a:rPr lang="ru-RU" b="1" dirty="0"/>
              <a:t>Б)</a:t>
            </a:r>
            <a:r>
              <a:rPr lang="ru-RU" dirty="0"/>
              <a:t> Компьютерные сети универсальны и могут передавать множество различных типов данных для любых приложений.</a:t>
            </a:r>
          </a:p>
          <a:p>
            <a:r>
              <a:rPr lang="ru-RU" b="1" dirty="0"/>
              <a:t>В)</a:t>
            </a:r>
            <a:r>
              <a:rPr lang="ru-RU" dirty="0"/>
              <a:t> В компьютерных сетях каждый компьютер соединён со всеми остальными напрямую отдельным проводом.</a:t>
            </a:r>
          </a:p>
          <a:p>
            <a:r>
              <a:rPr lang="ru-RU" b="1" dirty="0"/>
              <a:t>Г)</a:t>
            </a:r>
            <a:r>
              <a:rPr lang="ru-RU" dirty="0"/>
              <a:t> Компьютерные сети оптимизированы только под передачу текста.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8645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7224" y="1194125"/>
            <a:ext cx="10772775" cy="165819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Какой принцип передачи данных используется в подавляющем большинстве современных компьютерных сетей?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7224" y="3559126"/>
            <a:ext cx="10753725" cy="2270174"/>
          </a:xfrm>
        </p:spPr>
        <p:txBody>
          <a:bodyPr/>
          <a:lstStyle/>
          <a:p>
            <a:r>
              <a:rPr lang="ru-RU" b="1" dirty="0"/>
              <a:t>А)</a:t>
            </a:r>
            <a:r>
              <a:rPr lang="ru-RU" dirty="0"/>
              <a:t> Коммутация каналов (выделение и блокировка всей физической линии на всё время сеанса).</a:t>
            </a:r>
          </a:p>
          <a:p>
            <a:r>
              <a:rPr lang="ru-RU" b="1" dirty="0"/>
              <a:t>Б)</a:t>
            </a:r>
            <a:r>
              <a:rPr lang="ru-RU" dirty="0"/>
              <a:t> Коммутация пакетов со стратегией «</a:t>
            </a:r>
            <a:r>
              <a:rPr lang="ru-RU" dirty="0" err="1"/>
              <a:t>store-and-forward</a:t>
            </a:r>
            <a:r>
              <a:rPr lang="ru-RU" dirty="0"/>
              <a:t>» (сохрани и перешли).</a:t>
            </a:r>
          </a:p>
          <a:p>
            <a:r>
              <a:rPr lang="ru-RU" b="1" dirty="0"/>
              <a:t>В)</a:t>
            </a:r>
            <a:r>
              <a:rPr lang="ru-RU" dirty="0"/>
              <a:t> Передача единого непрерывного аналогового потока без разбиения.</a:t>
            </a:r>
          </a:p>
          <a:p>
            <a:r>
              <a:rPr lang="ru-RU" b="1" dirty="0"/>
              <a:t>Г)</a:t>
            </a:r>
            <a:r>
              <a:rPr lang="ru-RU" dirty="0"/>
              <a:t> Прямая трансляция без использования промежуточных узлов.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4283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7224" y="1220503"/>
            <a:ext cx="10772775" cy="165819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Представьте устройство, которое объединяет между собой две или более независимые сети (разные «облака») и пересылает пакеты из одной сети в другую. Как оно называется?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7224" y="3963573"/>
            <a:ext cx="10753725" cy="2032782"/>
          </a:xfrm>
        </p:spPr>
        <p:txBody>
          <a:bodyPr/>
          <a:lstStyle/>
          <a:p>
            <a:r>
              <a:rPr lang="ru-RU" b="1" dirty="0"/>
              <a:t>А)</a:t>
            </a:r>
            <a:r>
              <a:rPr lang="ru-RU" dirty="0"/>
              <a:t> Хост (оконечный узел)</a:t>
            </a:r>
          </a:p>
          <a:p>
            <a:r>
              <a:rPr lang="ru-RU" b="1" dirty="0"/>
              <a:t>Б)</a:t>
            </a:r>
            <a:r>
              <a:rPr lang="ru-RU" dirty="0"/>
              <a:t> Маршрутизатор (шлюз)</a:t>
            </a:r>
          </a:p>
          <a:p>
            <a:r>
              <a:rPr lang="ru-RU" b="1" dirty="0"/>
              <a:t>В)</a:t>
            </a:r>
            <a:r>
              <a:rPr lang="ru-RU" dirty="0"/>
              <a:t> Сетевой кабель</a:t>
            </a:r>
          </a:p>
          <a:p>
            <a:r>
              <a:rPr lang="ru-RU" b="1" dirty="0"/>
              <a:t>Г)</a:t>
            </a:r>
            <a:r>
              <a:rPr lang="ru-RU" dirty="0"/>
              <a:t> Периферийное устройство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9661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7224" y="1352387"/>
            <a:ext cx="10772775" cy="165819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Как называется процесс определения промежуточными узлами оптимального пути для пересылки сообщения получателю на основе его сетевого адреса?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7224" y="4086665"/>
            <a:ext cx="10753725" cy="1962443"/>
          </a:xfrm>
        </p:spPr>
        <p:txBody>
          <a:bodyPr/>
          <a:lstStyle/>
          <a:p>
            <a:r>
              <a:rPr lang="ru-RU" b="1" dirty="0"/>
              <a:t>А)</a:t>
            </a:r>
            <a:r>
              <a:rPr lang="ru-RU" dirty="0"/>
              <a:t> </a:t>
            </a:r>
            <a:r>
              <a:rPr lang="ru-RU" dirty="0" err="1"/>
              <a:t>Стриминг</a:t>
            </a:r>
            <a:endParaRPr lang="ru-RU" dirty="0"/>
          </a:p>
          <a:p>
            <a:r>
              <a:rPr lang="ru-RU" b="1" dirty="0"/>
              <a:t>Б)</a:t>
            </a:r>
            <a:r>
              <a:rPr lang="ru-RU" dirty="0"/>
              <a:t> Буферизация</a:t>
            </a:r>
          </a:p>
          <a:p>
            <a:r>
              <a:rPr lang="ru-RU" b="1" dirty="0"/>
              <a:t>В)</a:t>
            </a:r>
            <a:r>
              <a:rPr lang="ru-RU" dirty="0"/>
              <a:t> Маршрутизация</a:t>
            </a:r>
          </a:p>
          <a:p>
            <a:r>
              <a:rPr lang="ru-RU" b="1" dirty="0"/>
              <a:t>Г)</a:t>
            </a:r>
            <a:r>
              <a:rPr lang="ru-RU" dirty="0"/>
              <a:t> Коммутация каналов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880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7224" y="1071033"/>
            <a:ext cx="10772775" cy="165819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Какое главное архитектурное различие существует между </a:t>
            </a:r>
            <a:r>
              <a:rPr lang="ru-RU" b="1" i="1" dirty="0"/>
              <a:t>видео по запросу</a:t>
            </a:r>
            <a:r>
              <a:rPr lang="ru-RU" b="1" dirty="0"/>
              <a:t> (потоковое видео) и </a:t>
            </a:r>
            <a:r>
              <a:rPr lang="ru-RU" b="1" i="1" dirty="0"/>
              <a:t>видеоконференциями</a:t>
            </a:r>
            <a:r>
              <a:rPr lang="ru-RU" b="1" dirty="0"/>
              <a:t> (приложения реального времени)?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7224" y="3585504"/>
            <a:ext cx="10753725" cy="2894428"/>
          </a:xfrm>
        </p:spPr>
        <p:txBody>
          <a:bodyPr/>
          <a:lstStyle/>
          <a:p>
            <a:r>
              <a:rPr lang="ru-RU" b="1" dirty="0"/>
              <a:t>А)</a:t>
            </a:r>
            <a:r>
              <a:rPr lang="ru-RU" dirty="0"/>
              <a:t> Приложения реального времени требуют двунаправленной передачи и крайне чувствительны к задержкам (задержка даже в пару секунд делает разговор невозможным).</a:t>
            </a:r>
          </a:p>
          <a:p>
            <a:r>
              <a:rPr lang="ru-RU" b="1" dirty="0"/>
              <a:t>Б)</a:t>
            </a:r>
            <a:r>
              <a:rPr lang="ru-RU" dirty="0"/>
              <a:t> Видео по запросу требует обязательной предварительной загрузки всего файла целиком перед просмотром.</a:t>
            </a:r>
          </a:p>
          <a:p>
            <a:r>
              <a:rPr lang="ru-RU" b="1" dirty="0"/>
              <a:t>В)</a:t>
            </a:r>
            <a:r>
              <a:rPr lang="ru-RU" dirty="0"/>
              <a:t> Видеоконференции передают данные только в одном направлении.</a:t>
            </a:r>
          </a:p>
          <a:p>
            <a:r>
              <a:rPr lang="ru-RU" b="1" dirty="0"/>
              <a:t>Г)</a:t>
            </a:r>
            <a:r>
              <a:rPr lang="ru-RU" dirty="0"/>
              <a:t> Веб-страницы и видео по запросу работают без сетевых адресов.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5183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Соотнесите заинтересованную группу с её главным фокусом: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3740874"/>
              </p:ext>
            </p:extLst>
          </p:nvPr>
        </p:nvGraphicFramePr>
        <p:xfrm>
          <a:off x="676275" y="2744311"/>
          <a:ext cx="10753724" cy="2301240"/>
        </p:xfrm>
        <a:graphic>
          <a:graphicData uri="http://schemas.openxmlformats.org/drawingml/2006/table">
            <a:tbl>
              <a:tblPr/>
              <a:tblGrid>
                <a:gridCol w="5376862">
                  <a:extLst>
                    <a:ext uri="{9D8B030D-6E8A-4147-A177-3AD203B41FA5}">
                      <a16:colId xmlns:a16="http://schemas.microsoft.com/office/drawing/2014/main" val="1156714002"/>
                    </a:ext>
                  </a:extLst>
                </a:gridCol>
                <a:gridCol w="5376862">
                  <a:extLst>
                    <a:ext uri="{9D8B030D-6E8A-4147-A177-3AD203B41FA5}">
                      <a16:colId xmlns:a16="http://schemas.microsoft.com/office/drawing/2014/main" val="4141271321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Заинтересованная группа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Главное требование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096929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1. Конечный пользователь</a:t>
                      </a:r>
                      <a:endParaRPr lang="ru-RU" sz="1800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А)</a:t>
                      </a:r>
                      <a:r>
                        <a:rPr lang="ru-RU" sz="1800">
                          <a:effectLst/>
                        </a:rPr>
                        <a:t> Абстракция («канал») и независимость сети от типа приложения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935504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2. Разработчик приложений</a:t>
                      </a:r>
                      <a:endParaRPr lang="ru-RU" sz="1800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Б)</a:t>
                      </a:r>
                      <a:r>
                        <a:rPr lang="ru-RU" sz="1800" dirty="0">
                          <a:effectLst/>
                        </a:rPr>
                        <a:t> Масштабируемость, простота мониторинга и безопасность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904046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3. Оператор сети</a:t>
                      </a:r>
                      <a:endParaRPr lang="ru-RU" sz="180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В)</a:t>
                      </a:r>
                      <a:r>
                        <a:rPr lang="ru-RU" sz="1800" dirty="0">
                          <a:effectLst/>
                        </a:rPr>
                        <a:t> Высокая скорость (</a:t>
                      </a:r>
                      <a:r>
                        <a:rPr lang="ru-RU" sz="1800" dirty="0" err="1">
                          <a:effectLst/>
                        </a:rPr>
                        <a:t>Bandwidth</a:t>
                      </a:r>
                      <a:r>
                        <a:rPr lang="ru-RU" sz="1800" dirty="0">
                          <a:effectLst/>
                        </a:rPr>
                        <a:t>), минимальная задержка (</a:t>
                      </a:r>
                      <a:r>
                        <a:rPr lang="ru-RU" sz="1800" dirty="0" err="1">
                          <a:effectLst/>
                        </a:rPr>
                        <a:t>Latency</a:t>
                      </a:r>
                      <a:r>
                        <a:rPr lang="ru-RU" sz="1800" dirty="0">
                          <a:effectLst/>
                        </a:rPr>
                        <a:t>) и низкая цена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90293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004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Н</a:t>
            </a:r>
            <a:r>
              <a:rPr lang="ru-RU" i="1" dirty="0" smtClean="0"/>
              <a:t>айдите </a:t>
            </a:r>
            <a:r>
              <a:rPr lang="ru-RU" i="1" dirty="0"/>
              <a:t>ошибку в определениях двух ключевых метрик.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7224" y="3091816"/>
            <a:ext cx="10753725" cy="2315454"/>
          </a:xfrm>
        </p:spPr>
        <p:txBody>
          <a:bodyPr/>
          <a:lstStyle/>
          <a:p>
            <a:r>
              <a:rPr lang="ru-RU" b="1" dirty="0"/>
              <a:t>Определение А:</a:t>
            </a:r>
            <a:r>
              <a:rPr lang="ru-RU" dirty="0"/>
              <a:t> </a:t>
            </a:r>
            <a:r>
              <a:rPr lang="ru-RU" i="1" dirty="0"/>
              <a:t>«Задержка (</a:t>
            </a:r>
            <a:r>
              <a:rPr lang="ru-RU" i="1" dirty="0" err="1"/>
              <a:t>Latency</a:t>
            </a:r>
            <a:r>
              <a:rPr lang="ru-RU" i="1" dirty="0"/>
              <a:t>) — это объем данных, передаваемый по сети за одну секунду, измеряется в Мбит/с</a:t>
            </a:r>
            <a:r>
              <a:rPr lang="ru-RU" i="1" dirty="0" smtClean="0"/>
              <a:t>».</a:t>
            </a:r>
          </a:p>
          <a:p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Определение Б:</a:t>
            </a:r>
            <a:r>
              <a:rPr lang="ru-RU" dirty="0"/>
              <a:t> </a:t>
            </a:r>
            <a:r>
              <a:rPr lang="ru-RU" i="1" dirty="0"/>
              <a:t>«Пропускная способность (</a:t>
            </a:r>
            <a:r>
              <a:rPr lang="ru-RU" i="1" dirty="0" err="1"/>
              <a:t>Bandwidth</a:t>
            </a:r>
            <a:r>
              <a:rPr lang="ru-RU" i="1" dirty="0"/>
              <a:t>) — это время в миллисекундах, за которое один бит доходит от отправителя к получателю».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1724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6656" y="1053448"/>
            <a:ext cx="10772775" cy="1658198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Разработчик создаёт два разных сервиса. Какой тип абстракции канала (</a:t>
            </a:r>
            <a:r>
              <a:rPr lang="ru-RU" b="1" dirty="0"/>
              <a:t>«Запрос — ответ»</a:t>
            </a:r>
            <a:r>
              <a:rPr lang="ru-RU" dirty="0"/>
              <a:t> или </a:t>
            </a:r>
            <a:r>
              <a:rPr lang="ru-RU" b="1" dirty="0"/>
              <a:t>«Потоковый канал»</a:t>
            </a:r>
            <a:r>
              <a:rPr lang="ru-RU" dirty="0"/>
              <a:t>) лучше подходит для каждого случая?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6656" y="3822896"/>
            <a:ext cx="10753725" cy="118872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b="1" dirty="0"/>
              <a:t>Сервис онлайн-банкинга:</a:t>
            </a:r>
            <a:r>
              <a:rPr lang="ru-RU" dirty="0"/>
              <a:t> проверка баланса по карте и подтверждение перевода.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Сервис видеонаблюдения:</a:t>
            </a:r>
            <a:r>
              <a:rPr lang="ru-RU" dirty="0"/>
              <a:t> передача живого видео с камеры на пульт охраны.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5218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Правда или Миф</a:t>
            </a:r>
            <a:r>
              <a:rPr lang="ru-RU" b="1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7224" y="3321734"/>
            <a:ext cx="10753725" cy="1628335"/>
          </a:xfrm>
        </p:spPr>
        <p:txBody>
          <a:bodyPr/>
          <a:lstStyle/>
          <a:p>
            <a:r>
              <a:rPr lang="ru-RU" i="1" dirty="0"/>
              <a:t>«Чтобы сеть была максимально гибкой и универсальной, маршрутизаторы внутри сети должны детально знать особенности каждого приложения (например, понимать правила игры в сетевой </a:t>
            </a:r>
            <a:r>
              <a:rPr lang="ru-RU" i="1" dirty="0" err="1"/>
              <a:t>шутер</a:t>
            </a:r>
            <a:r>
              <a:rPr lang="ru-RU" i="1" dirty="0"/>
              <a:t> или структуру веб-страницы).»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48289"/>
      </p:ext>
    </p:extLst>
  </p:cSld>
  <p:clrMapOvr>
    <a:masterClrMapping/>
  </p:clrMapOvr>
</p:sld>
</file>

<file path=ppt/theme/theme1.xml><?xml version="1.0" encoding="utf-8"?>
<a:theme xmlns:a="http://schemas.openxmlformats.org/drawingml/2006/main" name="Метрополия">
  <a:themeElements>
    <a:clrScheme name="Метрополия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Метрополи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Метрополи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TM03457491[[fn=Метрополия]]</Template>
  <TotalTime>62</TotalTime>
  <Words>1029</Words>
  <Application>Microsoft Office PowerPoint</Application>
  <PresentationFormat>Широкоэкранный</PresentationFormat>
  <Paragraphs>106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6" baseType="lpstr">
      <vt:lpstr>Arial</vt:lpstr>
      <vt:lpstr>Calibri Light</vt:lpstr>
      <vt:lpstr>Метрополия</vt:lpstr>
      <vt:lpstr>Введение в компьютерные сети</vt:lpstr>
      <vt:lpstr>Компьютерная сеть и её главное свойство</vt:lpstr>
      <vt:lpstr>Элементы сети: Узлы и Каналы</vt:lpstr>
      <vt:lpstr>Коммутация каналов vs Коммутация пакетов</vt:lpstr>
      <vt:lpstr>Структура сети: Оконечные и транзитные узлы</vt:lpstr>
      <vt:lpstr>Адресация и маршрутизация</vt:lpstr>
      <vt:lpstr>Всемирная паутина (World Wide Web)</vt:lpstr>
      <vt:lpstr>Потоковое аудио и видео</vt:lpstr>
      <vt:lpstr>Видео\аудио в реальном времени</vt:lpstr>
      <vt:lpstr>Требования к архитектуре компьютерных сетей</vt:lpstr>
      <vt:lpstr>Взгляд пользователя: Производительность сети </vt:lpstr>
      <vt:lpstr>Взгляд пользователя: Надёжность и Экономика </vt:lpstr>
      <vt:lpstr>Требования разработчика: Абстракция канала</vt:lpstr>
      <vt:lpstr>Взгляд оператора: Эксплуатация сети</vt:lpstr>
      <vt:lpstr>В чём главное отличие современных компьютерных сетей от классических сетей узкого назначения (например, старых телефонных или кабельного ТВ)?</vt:lpstr>
      <vt:lpstr>Какой принцип передачи данных используется в подавляющем большинстве современных компьютерных сетей?</vt:lpstr>
      <vt:lpstr>Представьте устройство, которое объединяет между собой две или более независимые сети (разные «облака») и пересылает пакеты из одной сети в другую. Как оно называется?</vt:lpstr>
      <vt:lpstr>Как называется процесс определения промежуточными узлами оптимального пути для пересылки сообщения получателю на основе его сетевого адреса?</vt:lpstr>
      <vt:lpstr>Какое главное архитектурное различие существует между видео по запросу (потоковое видео) и видеоконференциями (приложения реального времени)?</vt:lpstr>
      <vt:lpstr>Соотнесите заинтересованную группу с её главным фокусом:</vt:lpstr>
      <vt:lpstr>Найдите ошибку в определениях двух ключевых метрик.</vt:lpstr>
      <vt:lpstr>Разработчик создаёт два разных сервиса. Какой тип абстракции канала («Запрос — ответ» или «Потоковый канал») лучше подходит для каждого случая?</vt:lpstr>
      <vt:lpstr>Правда или Миф?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компьютерные сети</dc:title>
  <dc:creator>Тимур А. Нахтигаль</dc:creator>
  <cp:lastModifiedBy>Microsoft Office</cp:lastModifiedBy>
  <cp:revision>21</cp:revision>
  <dcterms:created xsi:type="dcterms:W3CDTF">2026-08-27T10:39:06Z</dcterms:created>
  <dcterms:modified xsi:type="dcterms:W3CDTF">2026-08-31T20:24:31Z</dcterms:modified>
</cp:coreProperties>
</file>