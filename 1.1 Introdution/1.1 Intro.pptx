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howGuides="1">
      <p:cViewPr varScale="1">
        <p:scale>
          <a:sx n="109" d="100"/>
          <a:sy n="109" d="100"/>
        </p:scale>
        <p:origin x="636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03504" y="770467"/>
            <a:ext cx="10782300" cy="3352800"/>
          </a:xfrm>
        </p:spPr>
        <p:txBody>
          <a:bodyPr anchor="b">
            <a:noAutofit/>
          </a:bodyPr>
          <a:lstStyle>
            <a:lvl1pPr algn="l">
              <a:lnSpc>
                <a:spcPct val="80000"/>
              </a:lnSpc>
              <a:defRPr sz="8800" spc="-120" baseline="0">
                <a:solidFill>
                  <a:srgbClr val="FFFFFF"/>
                </a:solidFill>
              </a:defRPr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67512" y="4206876"/>
            <a:ext cx="9228201" cy="1645920"/>
          </a:xfrm>
        </p:spPr>
        <p:txBody>
          <a:bodyPr>
            <a:normAutofit/>
          </a:bodyPr>
          <a:lstStyle>
            <a:lvl1pPr marL="0" indent="0" algn="l">
              <a:buNone/>
              <a:defRPr sz="3200">
                <a:solidFill>
                  <a:schemeClr val="bg1"/>
                </a:solidFill>
                <a:latin typeface="+mj-lt"/>
              </a:defRPr>
            </a:lvl1pPr>
            <a:lvl2pPr marL="457200" indent="0" algn="ctr">
              <a:buNone/>
              <a:defRPr sz="28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ru-RU" smtClean="0"/>
              <a:t>Образец подзаголовка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80000"/>
                  </a:srgbClr>
                </a:solidFill>
              </a:defRPr>
            </a:lvl1pPr>
          </a:lstStyle>
          <a:p>
            <a:fld id="{80E38E48-C2A3-4581-BEEE-BDFDC959DF33}" type="datetimeFigureOut">
              <a:rPr lang="ru-RU" smtClean="0"/>
              <a:t>27.08.2026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80000"/>
                  </a:srgbClr>
                </a:solidFill>
              </a:defRPr>
            </a:lvl1pPr>
          </a:lstStyle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25000"/>
                  </a:srgbClr>
                </a:solidFill>
              </a:defRPr>
            </a:lvl1pPr>
          </a:lstStyle>
          <a:p>
            <a:fld id="{68503D8A-A125-4373-B586-5011F3A914C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3376457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E38E48-C2A3-4581-BEEE-BDFDC959DF33}" type="datetimeFigureOut">
              <a:rPr lang="ru-RU" smtClean="0"/>
              <a:t>27.08.2026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503D8A-A125-4373-B586-5011F3A914C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0447471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3504" y="767419"/>
            <a:ext cx="10780776" cy="3355848"/>
          </a:xfrm>
        </p:spPr>
        <p:txBody>
          <a:bodyPr anchor="b">
            <a:normAutofit/>
          </a:bodyPr>
          <a:lstStyle>
            <a:lvl1pPr>
              <a:lnSpc>
                <a:spcPct val="80000"/>
              </a:lnSpc>
              <a:defRPr sz="8800" b="0" baseline="0">
                <a:solidFill>
                  <a:schemeClr val="accent1"/>
                </a:solidFill>
              </a:defRPr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67512" y="4204209"/>
            <a:ext cx="9226296" cy="1645920"/>
          </a:xfrm>
        </p:spPr>
        <p:txBody>
          <a:bodyPr anchor="t">
            <a:normAutofit/>
          </a:bodyPr>
          <a:lstStyle>
            <a:lvl1pPr marL="0" indent="0">
              <a:buNone/>
              <a:defRPr sz="3200">
                <a:solidFill>
                  <a:schemeClr val="tx1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E38E48-C2A3-4581-BEEE-BDFDC959DF33}" type="datetimeFigureOut">
              <a:rPr lang="ru-RU" smtClean="0"/>
              <a:t>27.08.2026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503D8A-A125-4373-B586-5011F3A914C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5982371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6656" y="1998134"/>
            <a:ext cx="4663440" cy="376732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11330" y="1998134"/>
            <a:ext cx="4663440" cy="376732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E38E48-C2A3-4581-BEEE-BDFDC959DF33}" type="datetimeFigureOut">
              <a:rPr lang="ru-RU" smtClean="0"/>
              <a:t>27.08.2026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503D8A-A125-4373-B586-5011F3A914C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0638960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6656" y="2040467"/>
            <a:ext cx="4663440" cy="723400"/>
          </a:xfrm>
        </p:spPr>
        <p:txBody>
          <a:bodyPr anchor="ctr">
            <a:normAutofit/>
          </a:bodyPr>
          <a:lstStyle>
            <a:lvl1pPr marL="0" indent="0">
              <a:buNone/>
              <a:defRPr sz="2200" b="0" cap="all" baseline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6656" y="2753084"/>
            <a:ext cx="4663440" cy="3200400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007608" y="2038435"/>
            <a:ext cx="4663440" cy="722376"/>
          </a:xfrm>
        </p:spPr>
        <p:txBody>
          <a:bodyPr anchor="ctr">
            <a:normAutofit/>
          </a:bodyPr>
          <a:lstStyle>
            <a:lvl1pPr marL="0" indent="0">
              <a:buNone/>
              <a:defRPr sz="2200" b="0" cap="all" baseline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007608" y="2750990"/>
            <a:ext cx="4663440" cy="3200400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E38E48-C2A3-4581-BEEE-BDFDC959DF33}" type="datetimeFigureOut">
              <a:rPr lang="ru-RU" smtClean="0"/>
              <a:t>27.08.2026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503D8A-A125-4373-B586-5011F3A914C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5287231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E38E48-C2A3-4581-BEEE-BDFDC959DF33}" type="datetimeFigureOut">
              <a:rPr lang="ru-RU" smtClean="0"/>
              <a:t>27.08.2026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503D8A-A125-4373-B586-5011F3A914C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5364800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E38E48-C2A3-4581-BEEE-BDFDC959DF33}" type="datetimeFigureOut">
              <a:rPr lang="ru-RU" smtClean="0"/>
              <a:t>27.08.2026</a:t>
            </a:fld>
            <a:endParaRPr lang="ru-R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503D8A-A125-4373-B586-5011F3A914C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4157339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7620000" y="0"/>
            <a:ext cx="457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Title 8"/>
          <p:cNvSpPr>
            <a:spLocks noGrp="1"/>
          </p:cNvSpPr>
          <p:nvPr>
            <p:ph type="title"/>
          </p:nvPr>
        </p:nvSpPr>
        <p:spPr>
          <a:xfrm>
            <a:off x="8261404" y="542282"/>
            <a:ext cx="3383280" cy="1920240"/>
          </a:xfrm>
        </p:spPr>
        <p:txBody>
          <a:bodyPr anchor="b">
            <a:noAutofit/>
          </a:bodyPr>
          <a:lstStyle>
            <a:lvl1pPr>
              <a:lnSpc>
                <a:spcPct val="85000"/>
              </a:lnSpc>
              <a:defRPr sz="4000">
                <a:solidFill>
                  <a:srgbClr val="FFFFFF"/>
                </a:solidFill>
              </a:defRPr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62000" y="762000"/>
            <a:ext cx="6096000" cy="4572000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275982" y="2511813"/>
            <a:ext cx="3398520" cy="3126987"/>
          </a:xfrm>
        </p:spPr>
        <p:txBody>
          <a:bodyPr>
            <a:norm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800">
                <a:solidFill>
                  <a:srgbClr val="262626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4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mtClean="0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E38E48-C2A3-4581-BEEE-BDFDC959DF33}" type="datetimeFigureOut">
              <a:rPr lang="ru-RU" smtClean="0"/>
              <a:t>27.08.2026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20000"/>
                  </a:srgbClr>
                </a:solidFill>
              </a:defRPr>
            </a:lvl1pPr>
          </a:lstStyle>
          <a:p>
            <a:fld id="{68503D8A-A125-4373-B586-5011F3A914C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2162266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9224" y="5418667"/>
            <a:ext cx="10780776" cy="613283"/>
          </a:xfrm>
        </p:spPr>
        <p:txBody>
          <a:bodyPr anchor="b">
            <a:normAutofit/>
          </a:bodyPr>
          <a:lstStyle>
            <a:lvl1pPr>
              <a:defRPr sz="3200" b="0">
                <a:solidFill>
                  <a:srgbClr val="FFFFFF"/>
                </a:solidFill>
              </a:defRPr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0" y="0"/>
            <a:ext cx="12192000" cy="5330952"/>
          </a:xfrm>
          <a:solidFill>
            <a:schemeClr val="accent1">
              <a:lumMod val="40000"/>
              <a:lumOff val="60000"/>
            </a:schemeClr>
          </a:solidFill>
        </p:spPr>
        <p:txBody>
          <a:bodyPr anchor="t"/>
          <a:lstStyle>
            <a:lvl1pPr marL="0" indent="0" algn="ctr">
              <a:spcBef>
                <a:spcPts val="800"/>
              </a:spcBef>
              <a:buNone/>
              <a:defRPr sz="3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ru-RU" smtClean="0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6656" y="5909735"/>
            <a:ext cx="9229344" cy="533400"/>
          </a:xfrm>
        </p:spPr>
        <p:txBody>
          <a:bodyPr>
            <a:normAutofit/>
          </a:bodyPr>
          <a:lstStyle>
            <a:lvl1pPr marL="0" indent="0">
              <a:lnSpc>
                <a:spcPct val="90000"/>
              </a:lnSpc>
              <a:buNone/>
              <a:defRPr sz="1400">
                <a:solidFill>
                  <a:srgbClr val="262626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12" name="Date Placeholder 11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80000"/>
                  </a:srgbClr>
                </a:solidFill>
              </a:defRPr>
            </a:lvl1pPr>
          </a:lstStyle>
          <a:p>
            <a:fld id="{80E38E48-C2A3-4581-BEEE-BDFDC959DF33}" type="datetimeFigureOut">
              <a:rPr lang="ru-RU" smtClean="0"/>
              <a:t>27.08.2026</a:t>
            </a:fld>
            <a:endParaRPr lang="ru-RU"/>
          </a:p>
        </p:txBody>
      </p:sp>
      <p:sp>
        <p:nvSpPr>
          <p:cNvPr id="13" name="Footer Placeholder 1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80000"/>
                  </a:srgbClr>
                </a:solidFill>
              </a:defRPr>
            </a:lvl1pPr>
          </a:lstStyle>
          <a:p>
            <a:endParaRPr lang="ru-RU"/>
          </a:p>
        </p:txBody>
      </p:sp>
      <p:sp>
        <p:nvSpPr>
          <p:cNvPr id="14" name="Slide Number Placeholder 1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25000"/>
                  </a:srgbClr>
                </a:solidFill>
              </a:defRPr>
            </a:lvl1pPr>
          </a:lstStyle>
          <a:p>
            <a:fld id="{68503D8A-A125-4373-B586-5011F3A914C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0599429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E38E48-C2A3-4581-BEEE-BDFDC959DF33}" type="datetimeFigureOut">
              <a:rPr lang="ru-RU" smtClean="0"/>
              <a:t>27.08.2026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503D8A-A125-4373-B586-5011F3A914C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0442251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43950" y="695325"/>
            <a:ext cx="2628900" cy="4800600"/>
          </a:xfrm>
        </p:spPr>
        <p:txBody>
          <a:bodyPr vert="eaVert"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71525" y="714375"/>
            <a:ext cx="7734300" cy="5400675"/>
          </a:xfrm>
        </p:spPr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E38E48-C2A3-4581-BEEE-BDFDC959DF33}" type="datetimeFigureOut">
              <a:rPr lang="ru-RU" smtClean="0"/>
              <a:t>27.08.2026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503D8A-A125-4373-B586-5011F3A914C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5941317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57224" y="499533"/>
            <a:ext cx="10772775" cy="165819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6656" y="2011680"/>
            <a:ext cx="10753725" cy="376618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5800" y="6412447"/>
            <a:ext cx="4114800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50">
                <a:solidFill>
                  <a:schemeClr val="tx1">
                    <a:alpha val="80000"/>
                  </a:schemeClr>
                </a:solidFill>
              </a:defRPr>
            </a:lvl1pPr>
          </a:lstStyle>
          <a:p>
            <a:fld id="{80E38E48-C2A3-4581-BEEE-BDFDC959DF33}" type="datetimeFigureOut">
              <a:rPr lang="ru-RU" smtClean="0"/>
              <a:t>27.08.2026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85800" y="6554697"/>
            <a:ext cx="5029200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50" cap="all" baseline="0">
                <a:solidFill>
                  <a:schemeClr val="tx1">
                    <a:alpha val="80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63926" y="5876412"/>
            <a:ext cx="2926080" cy="1397039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0300" b="0">
                <a:ln>
                  <a:noFill/>
                </a:ln>
                <a:solidFill>
                  <a:schemeClr val="accent1">
                    <a:alpha val="25000"/>
                  </a:schemeClr>
                </a:solidFill>
                <a:latin typeface="+mj-lt"/>
              </a:defRPr>
            </a:lvl1pPr>
          </a:lstStyle>
          <a:p>
            <a:fld id="{68503D8A-A125-4373-B586-5011F3A914C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155139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5400" kern="1200" spc="-120" baseline="0">
          <a:solidFill>
            <a:schemeClr val="accent1"/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85000"/>
        </a:lnSpc>
        <a:spcBef>
          <a:spcPts val="1300"/>
        </a:spcBef>
        <a:buFont typeface="Arial" pitchFamily="34" charset="0"/>
        <a:buChar char=" "/>
        <a:defRPr sz="2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1pPr>
      <a:lvl2pPr marL="347472" indent="-342900" algn="l" defTabSz="914400" rtl="0" eaLnBrk="1" latinLnBrk="0" hangingPunct="1">
        <a:lnSpc>
          <a:spcPct val="85000"/>
        </a:lnSpc>
        <a:spcBef>
          <a:spcPts val="600"/>
        </a:spcBef>
        <a:buFont typeface="Arial" pitchFamily="34" charset="0"/>
        <a:buChar char=" "/>
        <a:defRPr sz="2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2pPr>
      <a:lvl3pPr marL="548640" indent="-548640" algn="l" defTabSz="914400" rtl="0" eaLnBrk="1" latinLnBrk="0" hangingPunct="1">
        <a:lnSpc>
          <a:spcPct val="85000"/>
        </a:lnSpc>
        <a:spcBef>
          <a:spcPts val="600"/>
        </a:spcBef>
        <a:buFont typeface="Arial" pitchFamily="34" charset="0"/>
        <a:buChar char=" "/>
        <a:defRPr sz="2000" i="1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3pPr>
      <a:lvl4pPr marL="822960" indent="-822960" algn="l" defTabSz="914400" rtl="0" eaLnBrk="1" latinLnBrk="0" hangingPunct="1">
        <a:lnSpc>
          <a:spcPct val="85000"/>
        </a:lnSpc>
        <a:spcBef>
          <a:spcPts val="600"/>
        </a:spcBef>
        <a:buFont typeface="Arial" pitchFamily="34" charset="0"/>
        <a:buChar char=" "/>
        <a:defRPr sz="18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4pPr>
      <a:lvl5pPr marL="1097280" indent="-1097280" algn="l" defTabSz="914400" rtl="0" eaLnBrk="1" latinLnBrk="0" hangingPunct="1">
        <a:lnSpc>
          <a:spcPct val="85000"/>
        </a:lnSpc>
        <a:spcBef>
          <a:spcPts val="600"/>
        </a:spcBef>
        <a:buFont typeface="Arial" pitchFamily="34" charset="0"/>
        <a:buChar char=" "/>
        <a:defRPr sz="18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5pPr>
      <a:lvl6pPr marL="1200000" indent="-228600" algn="l" defTabSz="914400" rtl="0" eaLnBrk="1" latinLnBrk="0" hangingPunct="1">
        <a:lnSpc>
          <a:spcPct val="85000"/>
        </a:lnSpc>
        <a:spcBef>
          <a:spcPts val="600"/>
        </a:spcBef>
        <a:buFont typeface="Arial" pitchFamily="34" charset="0"/>
        <a:buChar char=" "/>
        <a:defRPr sz="18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6pPr>
      <a:lvl7pPr marL="1400000" indent="-228600" algn="l" defTabSz="914400" rtl="0" eaLnBrk="1" latinLnBrk="0" hangingPunct="1">
        <a:lnSpc>
          <a:spcPct val="85000"/>
        </a:lnSpc>
        <a:spcBef>
          <a:spcPts val="600"/>
        </a:spcBef>
        <a:buFont typeface="Arial" pitchFamily="34" charset="0"/>
        <a:buChar char=" "/>
        <a:defRPr sz="18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7pPr>
      <a:lvl8pPr marL="1600000" indent="-228600" algn="l" defTabSz="914400" rtl="0" eaLnBrk="1" latinLnBrk="0" hangingPunct="1">
        <a:lnSpc>
          <a:spcPct val="85000"/>
        </a:lnSpc>
        <a:spcBef>
          <a:spcPts val="600"/>
        </a:spcBef>
        <a:buFont typeface="Arial" pitchFamily="34" charset="0"/>
        <a:buChar char=" "/>
        <a:defRPr sz="18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8pPr>
      <a:lvl9pPr marL="1800000" indent="-228600" algn="l" defTabSz="914400" rtl="0" eaLnBrk="1" latinLnBrk="0" hangingPunct="1">
        <a:lnSpc>
          <a:spcPct val="85000"/>
        </a:lnSpc>
        <a:spcBef>
          <a:spcPts val="600"/>
        </a:spcBef>
        <a:buFont typeface="Arial" pitchFamily="34" charset="0"/>
        <a:buChar char=" "/>
        <a:defRPr sz="18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ru-RU" dirty="0"/>
              <a:t>Введение в компьютерные сети</a:t>
            </a:r>
          </a:p>
        </p:txBody>
      </p:sp>
    </p:spTree>
    <p:extLst>
      <p:ext uri="{BB962C8B-B14F-4D97-AF65-F5344CB8AC3E}">
        <p14:creationId xmlns:p14="http://schemas.microsoft.com/office/powerpoint/2010/main" val="350373420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Компьютерная сеть и её главное свойство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676657" y="2011680"/>
            <a:ext cx="10753342" cy="1589649"/>
          </a:xfrm>
        </p:spPr>
        <p:txBody>
          <a:bodyPr>
            <a:normAutofit/>
          </a:bodyPr>
          <a:lstStyle/>
          <a:p>
            <a:r>
              <a:rPr lang="ru-RU" sz="3200" b="1" dirty="0"/>
              <a:t>Компьютерная сеть — совокупность независимых вычислительных устройств, соединённых каналами связи</a:t>
            </a:r>
            <a:r>
              <a:rPr lang="ru-RU" sz="3200" b="1" dirty="0" smtClean="0"/>
              <a:t>.</a:t>
            </a:r>
            <a:endParaRPr lang="en-US" sz="3200" b="1" dirty="0" smtClean="0"/>
          </a:p>
          <a:p>
            <a:endParaRPr lang="ru-RU" sz="3600" b="1" dirty="0"/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6165" y="3209639"/>
            <a:ext cx="5535461" cy="3276777"/>
          </a:xfrm>
          <a:prstGeom prst="rect">
            <a:avLst/>
          </a:prstGeom>
        </p:spPr>
      </p:pic>
      <p:pic>
        <p:nvPicPr>
          <p:cNvPr id="5" name="Рисунок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11626" y="3226777"/>
            <a:ext cx="6022820" cy="32425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5008520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Элементы сети: Узлы и Каналы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676656" y="2011681"/>
            <a:ext cx="9575175" cy="1030458"/>
          </a:xfrm>
        </p:spPr>
        <p:txBody>
          <a:bodyPr/>
          <a:lstStyle/>
          <a:p>
            <a:r>
              <a:rPr lang="ru-RU" dirty="0" smtClean="0"/>
              <a:t>- Узел (</a:t>
            </a:r>
            <a:r>
              <a:rPr lang="en-US" dirty="0" smtClean="0"/>
              <a:t>Node) – </a:t>
            </a:r>
            <a:r>
              <a:rPr lang="ru-RU" dirty="0" smtClean="0"/>
              <a:t>любой активный участник сети.</a:t>
            </a:r>
          </a:p>
          <a:p>
            <a:r>
              <a:rPr lang="ru-RU" dirty="0" smtClean="0"/>
              <a:t>- Канал (</a:t>
            </a:r>
            <a:r>
              <a:rPr lang="en-US" dirty="0" smtClean="0"/>
              <a:t>Link) – </a:t>
            </a:r>
            <a:r>
              <a:rPr lang="ru-RU" dirty="0" smtClean="0"/>
              <a:t>среда передачи сигналов (кабель, оптоволокно, радио)</a:t>
            </a:r>
            <a:endParaRPr lang="ru-RU" dirty="0"/>
          </a:p>
        </p:txBody>
      </p:sp>
      <p:pic>
        <p:nvPicPr>
          <p:cNvPr id="5" name="Рисунок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59255" y="3042139"/>
            <a:ext cx="7568712" cy="35831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1312423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Коммутация каналов </a:t>
            </a:r>
            <a:r>
              <a:rPr lang="ru-RU" dirty="0" err="1"/>
              <a:t>vs</a:t>
            </a:r>
            <a:r>
              <a:rPr lang="ru-RU" dirty="0"/>
              <a:t> Коммутация пакетов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657224" y="2240280"/>
            <a:ext cx="5092945" cy="3766185"/>
          </a:xfrm>
        </p:spPr>
        <p:txBody>
          <a:bodyPr/>
          <a:lstStyle/>
          <a:p>
            <a:pPr marL="0" indent="0">
              <a:buNone/>
            </a:pPr>
            <a:r>
              <a:rPr lang="ru-RU" sz="1800" dirty="0" smtClean="0"/>
              <a:t>Коммутация каналов: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ru-RU" sz="1800" dirty="0"/>
              <a:t>Монопольный физический канал на время сеанса</a:t>
            </a:r>
            <a:r>
              <a:rPr lang="ru-RU" sz="1800" dirty="0" smtClean="0"/>
              <a:t>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ru-RU" sz="1800" dirty="0" smtClean="0"/>
              <a:t>Ресурсы простаивают при отсутствии активности.</a:t>
            </a:r>
          </a:p>
          <a:p>
            <a:pPr marL="0" indent="0">
              <a:buNone/>
            </a:pPr>
            <a:r>
              <a:rPr lang="ru-RU" sz="1800" dirty="0" smtClean="0"/>
              <a:t>Коммутация пакетов: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ru-RU" sz="1800" dirty="0" smtClean="0"/>
              <a:t>Данные разбиваются на блоки.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ru-RU" sz="1800" dirty="0" smtClean="0"/>
              <a:t>Динамическое разделение полосы пропускания.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ru-RU" sz="1800" dirty="0"/>
              <a:t>Принцип **</a:t>
            </a:r>
            <a:r>
              <a:rPr lang="ru-RU" sz="1800" dirty="0" err="1"/>
              <a:t>Store-and-Forward</a:t>
            </a:r>
            <a:r>
              <a:rPr lang="ru-RU" sz="1800" dirty="0"/>
              <a:t>** (сохрани и перешли).</a:t>
            </a:r>
            <a:endParaRPr lang="ru-RU" sz="1800" dirty="0" smtClean="0"/>
          </a:p>
          <a:p>
            <a:pPr marL="0" indent="0">
              <a:buNone/>
            </a:pPr>
            <a:endParaRPr lang="ru-RU" dirty="0" smtClean="0"/>
          </a:p>
        </p:txBody>
      </p:sp>
      <p:pic>
        <p:nvPicPr>
          <p:cNvPr id="1026" name="Picture 2" descr="Коммутация каналов и пакетов в сетях передачи данных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49866" y="1328632"/>
            <a:ext cx="3349868" cy="26364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Рисунок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49866" y="3965040"/>
            <a:ext cx="3673966" cy="26649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1418465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Структура сети: Оконечные и транзитные узлы</a:t>
            </a:r>
          </a:p>
        </p:txBody>
      </p:sp>
      <p:sp>
        <p:nvSpPr>
          <p:cNvPr id="5" name="Объект 4"/>
          <p:cNvSpPr>
            <a:spLocks noGrp="1"/>
          </p:cNvSpPr>
          <p:nvPr>
            <p:ph sz="half" idx="1"/>
          </p:nvPr>
        </p:nvSpPr>
        <p:spPr>
          <a:xfrm>
            <a:off x="676656" y="1998134"/>
            <a:ext cx="5762244" cy="4155016"/>
          </a:xfrm>
        </p:spPr>
        <p:txBody>
          <a:bodyPr>
            <a:normAutofit/>
          </a:bodyPr>
          <a:lstStyle/>
          <a:p>
            <a:r>
              <a:rPr lang="ru-RU" dirty="0" smtClean="0"/>
              <a:t>Хосты (Оконечные узлы):</a:t>
            </a:r>
          </a:p>
          <a:p>
            <a:r>
              <a:rPr lang="ru-RU" dirty="0" smtClean="0"/>
              <a:t>- Клиенты и серверы (ПК, смартфоны, </a:t>
            </a:r>
            <a:r>
              <a:rPr lang="en-US" dirty="0" err="1" smtClean="0"/>
              <a:t>IoT</a:t>
            </a:r>
            <a:r>
              <a:rPr lang="en-US" dirty="0" smtClean="0"/>
              <a:t> </a:t>
            </a:r>
            <a:r>
              <a:rPr lang="ru-RU" dirty="0" smtClean="0"/>
              <a:t>и т.д.)</a:t>
            </a:r>
          </a:p>
          <a:p>
            <a:r>
              <a:rPr lang="ru-RU" dirty="0" smtClean="0"/>
              <a:t>- Расположены на границе сети.</a:t>
            </a:r>
          </a:p>
          <a:p>
            <a:r>
              <a:rPr lang="ru-RU" dirty="0" smtClean="0"/>
              <a:t>Промежуточные узлы (транзит):</a:t>
            </a:r>
          </a:p>
          <a:p>
            <a:r>
              <a:rPr lang="ru-RU" dirty="0" smtClean="0"/>
              <a:t>- Коммутаторы (</a:t>
            </a:r>
            <a:r>
              <a:rPr lang="en-US" dirty="0" smtClean="0"/>
              <a:t>Switch) – </a:t>
            </a:r>
            <a:r>
              <a:rPr lang="ru-RU" dirty="0" smtClean="0"/>
              <a:t>передача внутри локальной сети.</a:t>
            </a:r>
          </a:p>
          <a:p>
            <a:r>
              <a:rPr lang="ru-RU" dirty="0" smtClean="0"/>
              <a:t>- Маршрутизаторы (</a:t>
            </a:r>
            <a:r>
              <a:rPr lang="en-US" dirty="0" smtClean="0"/>
              <a:t>Router) –</a:t>
            </a:r>
            <a:r>
              <a:rPr lang="ru-RU" dirty="0" smtClean="0"/>
              <a:t> объединение разнородных сетей в </a:t>
            </a:r>
            <a:r>
              <a:rPr lang="ru-RU" b="1" dirty="0" smtClean="0"/>
              <a:t>интерсеть</a:t>
            </a:r>
            <a:r>
              <a:rPr lang="ru-RU" dirty="0" smtClean="0"/>
              <a:t>.</a:t>
            </a:r>
            <a:endParaRPr lang="ru-RU" dirty="0"/>
          </a:p>
        </p:txBody>
      </p:sp>
      <p:pic>
        <p:nvPicPr>
          <p:cNvPr id="7" name="Объект 6"/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6527710" y="1998325"/>
            <a:ext cx="4145143" cy="37671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203072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Адресация и маршрутизация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>
          <a:xfrm>
            <a:off x="676656" y="1998134"/>
            <a:ext cx="10858120" cy="1697566"/>
          </a:xfrm>
        </p:spPr>
        <p:txBody>
          <a:bodyPr/>
          <a:lstStyle/>
          <a:p>
            <a:r>
              <a:rPr lang="ru-RU" dirty="0" smtClean="0"/>
              <a:t>Сетевой </a:t>
            </a:r>
            <a:r>
              <a:rPr lang="ru-RU" dirty="0"/>
              <a:t>адрес</a:t>
            </a:r>
            <a:r>
              <a:rPr lang="ru-RU" dirty="0" smtClean="0"/>
              <a:t>: </a:t>
            </a:r>
            <a:r>
              <a:rPr lang="ru-RU" dirty="0"/>
              <a:t>Уникальный идентификатор устройства (например, IPv4 / IPv6 / MAC</a:t>
            </a:r>
            <a:r>
              <a:rPr lang="ru-RU" dirty="0" smtClean="0"/>
              <a:t>).</a:t>
            </a:r>
          </a:p>
          <a:p>
            <a:r>
              <a:rPr lang="ru-RU" dirty="0" smtClean="0"/>
              <a:t>Маршрутизация </a:t>
            </a:r>
            <a:r>
              <a:rPr lang="ru-RU" dirty="0"/>
              <a:t>(</a:t>
            </a:r>
            <a:r>
              <a:rPr lang="ru-RU" dirty="0" err="1"/>
              <a:t>Routing</a:t>
            </a:r>
            <a:r>
              <a:rPr lang="ru-RU" dirty="0" smtClean="0"/>
              <a:t>): Алгоритмический </a:t>
            </a:r>
            <a:r>
              <a:rPr lang="ru-RU" dirty="0"/>
              <a:t>процесс выбора оптимального маршрута через промежуточные узлы.</a:t>
            </a:r>
          </a:p>
        </p:txBody>
      </p:sp>
      <p:pic>
        <p:nvPicPr>
          <p:cNvPr id="2050" name="Picture 2" descr="IP-адресация - КОМПЬЮТЕРНЫЕ СЕТИ И ТЕЛЕКОММУНИКАЦИИ. МАРШРУТИЗАЦИЯ В  IP-СЕТЯХ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70441" y="3656332"/>
            <a:ext cx="5670550" cy="29228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994693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Классы сетевых приложений и требования к сети</a:t>
            </a:r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>
          <a:xfrm>
            <a:off x="571880" y="2157730"/>
            <a:ext cx="11067670" cy="4262119"/>
          </a:xfrm>
        </p:spPr>
        <p:txBody>
          <a:bodyPr>
            <a:normAutofit fontScale="92500" lnSpcReduction="10000"/>
          </a:bodyPr>
          <a:lstStyle/>
          <a:p>
            <a:r>
              <a:rPr lang="ru-RU" dirty="0"/>
              <a:t>1. Передача данных / </a:t>
            </a:r>
            <a:r>
              <a:rPr lang="ru-RU" dirty="0" err="1"/>
              <a:t>Web</a:t>
            </a:r>
            <a:r>
              <a:rPr lang="ru-RU" dirty="0"/>
              <a:t> (HTTP/HTTPS):</a:t>
            </a:r>
          </a:p>
          <a:p>
            <a:r>
              <a:rPr lang="ru-RU" dirty="0"/>
              <a:t>Требование: 100% надёжность (потери недопустимы).</a:t>
            </a:r>
          </a:p>
          <a:p>
            <a:r>
              <a:rPr lang="ru-RU" dirty="0"/>
              <a:t>Чувствительность к задержкам: низкая/средняя.</a:t>
            </a:r>
          </a:p>
          <a:p>
            <a:r>
              <a:rPr lang="ru-RU" dirty="0"/>
              <a:t>2. Потоковое вещание (</a:t>
            </a:r>
            <a:r>
              <a:rPr lang="ru-RU" dirty="0" err="1"/>
              <a:t>Streaming</a:t>
            </a:r>
            <a:r>
              <a:rPr lang="ru-RU" dirty="0"/>
              <a:t> </a:t>
            </a:r>
            <a:r>
              <a:rPr lang="ru-RU" dirty="0" err="1"/>
              <a:t>Audio</a:t>
            </a:r>
            <a:r>
              <a:rPr lang="ru-RU" dirty="0"/>
              <a:t>/</a:t>
            </a:r>
            <a:r>
              <a:rPr lang="ru-RU" dirty="0" err="1"/>
              <a:t>Video</a:t>
            </a:r>
            <a:r>
              <a:rPr lang="ru-RU" dirty="0"/>
              <a:t>):</a:t>
            </a:r>
          </a:p>
          <a:p>
            <a:r>
              <a:rPr lang="ru-RU" dirty="0"/>
              <a:t>Специфика: однонаправленный поток, буферизация.</a:t>
            </a:r>
          </a:p>
          <a:p>
            <a:r>
              <a:rPr lang="ru-RU" dirty="0"/>
              <a:t>Чувствительность к задержке старта: допустимо несколько секунд.</a:t>
            </a:r>
          </a:p>
          <a:p>
            <a:r>
              <a:rPr lang="ru-RU" dirty="0"/>
              <a:t>3. Интерактивные системы реального времени (</a:t>
            </a:r>
            <a:r>
              <a:rPr lang="ru-RU" dirty="0" err="1"/>
              <a:t>VoIP</a:t>
            </a:r>
            <a:r>
              <a:rPr lang="ru-RU" dirty="0"/>
              <a:t>, видеосвязь):</a:t>
            </a:r>
          </a:p>
          <a:p>
            <a:r>
              <a:rPr lang="ru-RU" dirty="0"/>
              <a:t>Специфика: двунаправленный поток.</a:t>
            </a:r>
          </a:p>
          <a:p>
            <a:r>
              <a:rPr lang="ru-RU" dirty="0"/>
              <a:t>Требование: минимальная задержка (до 150 </a:t>
            </a:r>
            <a:r>
              <a:rPr lang="ru-RU" dirty="0" err="1"/>
              <a:t>мс</a:t>
            </a:r>
            <a:r>
              <a:rPr lang="ru-RU" dirty="0"/>
              <a:t>), устойчивость к </a:t>
            </a:r>
            <a:r>
              <a:rPr lang="ru-RU" dirty="0" err="1"/>
              <a:t>джиттеру</a:t>
            </a:r>
            <a:r>
              <a:rPr lang="ru-RU" dirty="0"/>
              <a:t>; частичные потери пакетов допустимы.</a:t>
            </a:r>
          </a:p>
        </p:txBody>
      </p:sp>
    </p:spTree>
    <p:extLst>
      <p:ext uri="{BB962C8B-B14F-4D97-AF65-F5344CB8AC3E}">
        <p14:creationId xmlns:p14="http://schemas.microsoft.com/office/powerpoint/2010/main" val="51421811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Требования к архитектуре компьютерных сетей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>
          <a:xfrm>
            <a:off x="676656" y="1998134"/>
            <a:ext cx="4663440" cy="3497058"/>
          </a:xfrm>
        </p:spPr>
        <p:txBody>
          <a:bodyPr>
            <a:normAutofit/>
          </a:bodyPr>
          <a:lstStyle/>
          <a:p>
            <a:endParaRPr lang="ru-RU" dirty="0"/>
          </a:p>
          <a:p>
            <a:pPr lvl="1">
              <a:buFont typeface="Arial" panose="020B0604020202020204" pitchFamily="34" charset="0"/>
              <a:buChar char="•"/>
            </a:pPr>
            <a:r>
              <a:rPr lang="ru-RU" dirty="0"/>
              <a:t>Зачем формулировать требования?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ru-RU" dirty="0"/>
              <a:t>Три взгляда на одну систему: Пользователь, Разработчик, Оператор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ru-RU" dirty="0"/>
              <a:t>Сеть как система архитектурных компромиссов</a:t>
            </a:r>
          </a:p>
          <a:p>
            <a:r>
              <a:rPr lang="ru-RU" dirty="0"/>
              <a:t/>
            </a:r>
            <a:br>
              <a:rPr lang="ru-RU" dirty="0"/>
            </a:br>
            <a:endParaRPr lang="ru-RU" dirty="0"/>
          </a:p>
        </p:txBody>
      </p:sp>
      <p:pic>
        <p:nvPicPr>
          <p:cNvPr id="1026" name="Picture 2" descr="Проектирование локальных вычислительных сетей (ЛВС) предприятия - на  zwsoft.ru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59528" y="2603296"/>
            <a:ext cx="6291528" cy="28918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3691137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/>
              <a:t>Взгляд пользователя: Производительность </a:t>
            </a:r>
            <a:r>
              <a:rPr lang="ru-RU" dirty="0" smtClean="0"/>
              <a:t>сети</a:t>
            </a:r>
            <a:r>
              <a:rPr lang="ru-RU" b="1" dirty="0"/>
              <a:t/>
            </a:r>
            <a:br>
              <a:rPr lang="ru-RU" b="1" dirty="0"/>
            </a:b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>
          <a:xfrm>
            <a:off x="520942" y="3010585"/>
            <a:ext cx="11045338" cy="2018615"/>
          </a:xfrm>
        </p:spPr>
        <p:txBody>
          <a:bodyPr/>
          <a:lstStyle/>
          <a:p>
            <a:r>
              <a:rPr lang="ru-RU" dirty="0" err="1"/>
              <a:t>Bandwidth</a:t>
            </a:r>
            <a:r>
              <a:rPr lang="ru-RU" dirty="0"/>
              <a:t> (Пропускная </a:t>
            </a:r>
            <a:r>
              <a:rPr lang="ru-RU" dirty="0" smtClean="0"/>
              <a:t>способность) - объем </a:t>
            </a:r>
            <a:r>
              <a:rPr lang="ru-RU" dirty="0"/>
              <a:t>данных, передаваемый в единицу времени (измеряется в битах в секунду, бит/с).</a:t>
            </a:r>
          </a:p>
          <a:p>
            <a:pPr lvl="1"/>
            <a:endParaRPr lang="ru-RU" dirty="0"/>
          </a:p>
          <a:p>
            <a:r>
              <a:rPr lang="ru-RU" dirty="0" err="1"/>
              <a:t>Latency</a:t>
            </a:r>
            <a:r>
              <a:rPr lang="ru-RU" dirty="0"/>
              <a:t> (Задержка</a:t>
            </a:r>
            <a:r>
              <a:rPr lang="ru-RU" dirty="0" smtClean="0"/>
              <a:t>) - </a:t>
            </a:r>
            <a:r>
              <a:rPr lang="ru-RU" dirty="0"/>
              <a:t>время, которое требуется одному биту данных, чтобы пройти от отправителя до получателя (измеряется в миллисекундах, </a:t>
            </a:r>
            <a:r>
              <a:rPr lang="ru-RU" dirty="0" err="1"/>
              <a:t>мс</a:t>
            </a:r>
            <a:r>
              <a:rPr lang="ru-RU" dirty="0"/>
              <a:t>).</a:t>
            </a:r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90487931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/>
              <a:t>Взгляд пользователя: Надёжность и Экономика</a:t>
            </a:r>
            <a:r>
              <a:rPr lang="ru-RU" b="1" dirty="0"/>
              <a:t/>
            </a:r>
            <a:br>
              <a:rPr lang="ru-RU" b="1" dirty="0"/>
            </a:b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>
          <a:xfrm>
            <a:off x="520942" y="3010585"/>
            <a:ext cx="11045338" cy="2018615"/>
          </a:xfrm>
        </p:spPr>
        <p:txBody>
          <a:bodyPr>
            <a:normAutofit fontScale="92500" lnSpcReduction="10000"/>
          </a:bodyPr>
          <a:lstStyle/>
          <a:p>
            <a:r>
              <a:rPr lang="ru-RU" b="1" dirty="0"/>
              <a:t>Надёжность (</a:t>
            </a:r>
            <a:r>
              <a:rPr lang="ru-RU" b="1" dirty="0" err="1"/>
              <a:t>Reliability</a:t>
            </a:r>
            <a:r>
              <a:rPr lang="ru-RU" b="1" dirty="0"/>
              <a:t>):</a:t>
            </a:r>
            <a:endParaRPr lang="ru-RU" dirty="0"/>
          </a:p>
          <a:p>
            <a:pPr lvl="1"/>
            <a:r>
              <a:rPr lang="ru-RU" dirty="0"/>
              <a:t>Скрытие сбоев физического уровня.</a:t>
            </a:r>
          </a:p>
          <a:p>
            <a:pPr lvl="1"/>
            <a:r>
              <a:rPr lang="ru-RU" dirty="0"/>
              <a:t>Автоматическая маршрутизация в обход аварийных узлов.</a:t>
            </a:r>
          </a:p>
          <a:p>
            <a:r>
              <a:rPr lang="ru-RU" b="1" dirty="0"/>
              <a:t>Стоимость (</a:t>
            </a:r>
            <a:r>
              <a:rPr lang="ru-RU" b="1" dirty="0" err="1"/>
              <a:t>Cost</a:t>
            </a:r>
            <a:r>
              <a:rPr lang="ru-RU" b="1" dirty="0"/>
              <a:t> </a:t>
            </a:r>
            <a:r>
              <a:rPr lang="ru-RU" b="1" dirty="0" err="1"/>
              <a:t>Efficiency</a:t>
            </a:r>
            <a:r>
              <a:rPr lang="ru-RU" b="1" dirty="0"/>
              <a:t>):</a:t>
            </a:r>
            <a:endParaRPr lang="ru-RU" dirty="0"/>
          </a:p>
          <a:p>
            <a:pPr lvl="1"/>
            <a:r>
              <a:rPr lang="ru-RU" dirty="0"/>
              <a:t>Эффект масштаба: совместное использование ресурсов (</a:t>
            </a:r>
            <a:r>
              <a:rPr lang="ru-RU" dirty="0" err="1"/>
              <a:t>Statistical</a:t>
            </a:r>
            <a:r>
              <a:rPr lang="ru-RU" dirty="0"/>
              <a:t> </a:t>
            </a:r>
            <a:r>
              <a:rPr lang="ru-RU" dirty="0" err="1"/>
              <a:t>Multiplexing</a:t>
            </a:r>
            <a:r>
              <a:rPr lang="ru-RU" dirty="0"/>
              <a:t>).</a:t>
            </a:r>
          </a:p>
          <a:p>
            <a:pPr lvl="1"/>
            <a:r>
              <a:rPr lang="ru-RU" dirty="0"/>
              <a:t>Минимизация стоимости владения и подключения.</a:t>
            </a:r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58171180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Требования разработчика: Абстракция канала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>
          <a:xfrm>
            <a:off x="657224" y="2226735"/>
            <a:ext cx="11212391" cy="3752036"/>
          </a:xfrm>
        </p:spPr>
        <p:txBody>
          <a:bodyPr>
            <a:normAutofit/>
          </a:bodyPr>
          <a:lstStyle/>
          <a:p>
            <a:r>
              <a:rPr lang="ru-RU" dirty="0" smtClean="0"/>
              <a:t>Абстракция</a:t>
            </a:r>
            <a:r>
              <a:rPr lang="ru-RU" dirty="0"/>
              <a:t>.</a:t>
            </a:r>
            <a:r>
              <a:rPr lang="ru-RU" dirty="0" smtClean="0"/>
              <a:t> </a:t>
            </a:r>
            <a:r>
              <a:rPr lang="ru-RU" dirty="0"/>
              <a:t>Изоляция от «железа» и физики среды.</a:t>
            </a:r>
          </a:p>
          <a:p>
            <a:r>
              <a:rPr lang="ru-RU" dirty="0" smtClean="0"/>
              <a:t>Разные </a:t>
            </a:r>
            <a:r>
              <a:rPr lang="ru-RU" dirty="0"/>
              <a:t>типы каналов: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ru-RU" b="1" dirty="0"/>
              <a:t>Канал типа «запрос-ответ»:</a:t>
            </a:r>
            <a:r>
              <a:rPr lang="ru-RU" dirty="0"/>
              <a:t> используется приложениями, которые работают по принципу «клиент-сервер» (например, веб-браузер, запрашивающий страницу).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ru-RU" b="1" dirty="0"/>
              <a:t>Потоковый канал</a:t>
            </a:r>
            <a:r>
              <a:rPr lang="ru-RU" dirty="0"/>
              <a:t> используется приложениями, передающими непрерывные потоки данных (например, аудио или видео в реальном времени).</a:t>
            </a:r>
          </a:p>
          <a:p>
            <a:r>
              <a:rPr lang="ru-RU" dirty="0" smtClean="0"/>
              <a:t>Гибкость и универсальность: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ru-RU" dirty="0" err="1"/>
              <a:t>End-to-End</a:t>
            </a:r>
            <a:r>
              <a:rPr lang="ru-RU" dirty="0"/>
              <a:t> </a:t>
            </a:r>
            <a:r>
              <a:rPr lang="ru-RU" dirty="0" err="1"/>
              <a:t>Principle</a:t>
            </a:r>
            <a:r>
              <a:rPr lang="ru-RU" dirty="0"/>
              <a:t> (Сквозной принцип): интеллект на хостах, простота внутри сети.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ru-RU" dirty="0" err="1"/>
              <a:t>Hourglass</a:t>
            </a:r>
            <a:r>
              <a:rPr lang="ru-RU" dirty="0"/>
              <a:t> </a:t>
            </a:r>
            <a:r>
              <a:rPr lang="ru-RU" dirty="0" err="1"/>
              <a:t>Model</a:t>
            </a:r>
            <a:r>
              <a:rPr lang="ru-RU" dirty="0"/>
              <a:t> («Песочные часы» IP): единый тонкий межсетевой уровень для любого «железа» и любых программ.</a:t>
            </a:r>
          </a:p>
          <a:p>
            <a:endParaRPr lang="ru-RU" dirty="0" smtClean="0"/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7313145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Взгляд оператора: Эксплуатация сети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>
          <a:xfrm>
            <a:off x="657224" y="1725571"/>
            <a:ext cx="11080507" cy="3479475"/>
          </a:xfrm>
        </p:spPr>
        <p:txBody>
          <a:bodyPr>
            <a:noAutofit/>
          </a:bodyPr>
          <a:lstStyle/>
          <a:p>
            <a:r>
              <a:rPr lang="ru-RU" sz="2800" dirty="0"/>
              <a:t>Масштабируемость (</a:t>
            </a:r>
            <a:r>
              <a:rPr lang="ru-RU" sz="2800" dirty="0" err="1"/>
              <a:t>Scalability</a:t>
            </a:r>
            <a:r>
              <a:rPr lang="ru-RU" sz="2800" dirty="0"/>
              <a:t>):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ru-RU" sz="2400" dirty="0"/>
              <a:t>Стабильность метрик при росте </a:t>
            </a:r>
            <a:r>
              <a:rPr lang="ru-RU" sz="2400" dirty="0" smtClean="0"/>
              <a:t>сети.</a:t>
            </a:r>
          </a:p>
          <a:p>
            <a:r>
              <a:rPr lang="ru-RU" sz="2800" dirty="0" smtClean="0"/>
              <a:t>Простота </a:t>
            </a:r>
            <a:r>
              <a:rPr lang="ru-RU" sz="2800" dirty="0"/>
              <a:t>управления (</a:t>
            </a:r>
            <a:r>
              <a:rPr lang="ru-RU" sz="2800" dirty="0" err="1"/>
              <a:t>Ease</a:t>
            </a:r>
            <a:r>
              <a:rPr lang="ru-RU" sz="2800" dirty="0"/>
              <a:t> </a:t>
            </a:r>
            <a:r>
              <a:rPr lang="ru-RU" sz="2800" dirty="0" err="1"/>
              <a:t>of</a:t>
            </a:r>
            <a:r>
              <a:rPr lang="ru-RU" sz="2800" dirty="0"/>
              <a:t> </a:t>
            </a:r>
            <a:r>
              <a:rPr lang="ru-RU" sz="2800" dirty="0" err="1"/>
              <a:t>Management</a:t>
            </a:r>
            <a:r>
              <a:rPr lang="ru-RU" sz="2800" dirty="0"/>
              <a:t>):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ru-RU" sz="2400" dirty="0"/>
              <a:t>Централизованный и распределенный мониторинг.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ru-RU" sz="2400" dirty="0"/>
              <a:t>Быстрая локализация инцидентов и автоматизация конфигураций</a:t>
            </a:r>
            <a:r>
              <a:rPr lang="ru-RU" sz="2400" dirty="0" smtClean="0"/>
              <a:t>.</a:t>
            </a:r>
          </a:p>
          <a:p>
            <a:r>
              <a:rPr lang="ru-RU" sz="2800" dirty="0"/>
              <a:t>Безопасность (</a:t>
            </a:r>
            <a:r>
              <a:rPr lang="ru-RU" sz="2800" dirty="0" err="1"/>
              <a:t>Security</a:t>
            </a:r>
            <a:r>
              <a:rPr lang="ru-RU" sz="2800" dirty="0"/>
              <a:t>):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ru-RU" sz="2800" dirty="0"/>
              <a:t>Разграничение доступа (AAA).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ru-RU" sz="2800" dirty="0"/>
              <a:t>Защита инфраструктуры от </a:t>
            </a:r>
            <a:r>
              <a:rPr lang="ru-RU" sz="2800" dirty="0" err="1"/>
              <a:t>DDoS</a:t>
            </a:r>
            <a:r>
              <a:rPr lang="ru-RU" sz="2800" dirty="0"/>
              <a:t> и атак на протоколы маршрутизации.</a:t>
            </a:r>
          </a:p>
          <a:p>
            <a:r>
              <a:rPr lang="ru-RU" sz="2800" dirty="0"/>
              <a:t>Адаптивность (</a:t>
            </a:r>
            <a:r>
              <a:rPr lang="ru-RU" sz="2800" dirty="0" err="1"/>
              <a:t>Evolvability</a:t>
            </a:r>
            <a:r>
              <a:rPr lang="ru-RU" sz="2800" dirty="0"/>
              <a:t>):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ru-RU" sz="2800" dirty="0"/>
              <a:t>Замена узлов и стандартов без остановки сети (</a:t>
            </a:r>
            <a:r>
              <a:rPr lang="ru-RU" sz="2800" dirty="0" err="1"/>
              <a:t>backward</a:t>
            </a:r>
            <a:r>
              <a:rPr lang="ru-RU" sz="2800" dirty="0"/>
              <a:t> </a:t>
            </a:r>
            <a:r>
              <a:rPr lang="ru-RU" sz="2800" dirty="0" err="1"/>
              <a:t>compatibility</a:t>
            </a:r>
            <a:r>
              <a:rPr lang="ru-RU" sz="2800" dirty="0"/>
              <a:t>).</a:t>
            </a:r>
          </a:p>
          <a:p>
            <a:pPr marL="4572" lvl="1" indent="0">
              <a:buNone/>
            </a:pPr>
            <a:endParaRPr lang="ru-RU" sz="3200" dirty="0"/>
          </a:p>
        </p:txBody>
      </p:sp>
    </p:spTree>
    <p:extLst>
      <p:ext uri="{BB962C8B-B14F-4D97-AF65-F5344CB8AC3E}">
        <p14:creationId xmlns:p14="http://schemas.microsoft.com/office/powerpoint/2010/main" val="824875538"/>
      </p:ext>
    </p:extLst>
  </p:cSld>
  <p:clrMapOvr>
    <a:masterClrMapping/>
  </p:clrMapOvr>
</p:sld>
</file>

<file path=ppt/theme/theme1.xml><?xml version="1.0" encoding="utf-8"?>
<a:theme xmlns:a="http://schemas.openxmlformats.org/drawingml/2006/main" name="Метрополия">
  <a:themeElements>
    <a:clrScheme name="Метрополия">
      <a:dk1>
        <a:sysClr val="windowText" lastClr="000000"/>
      </a:dk1>
      <a:lt1>
        <a:sysClr val="window" lastClr="FFFFFF"/>
      </a:lt1>
      <a:dk2>
        <a:srgbClr val="162F33"/>
      </a:dk2>
      <a:lt2>
        <a:srgbClr val="EAF0E0"/>
      </a:lt2>
      <a:accent1>
        <a:srgbClr val="50B4C8"/>
      </a:accent1>
      <a:accent2>
        <a:srgbClr val="A8B97F"/>
      </a:accent2>
      <a:accent3>
        <a:srgbClr val="9B9256"/>
      </a:accent3>
      <a:accent4>
        <a:srgbClr val="657689"/>
      </a:accent4>
      <a:accent5>
        <a:srgbClr val="7A855D"/>
      </a:accent5>
      <a:accent6>
        <a:srgbClr val="84AC9D"/>
      </a:accent6>
      <a:hlink>
        <a:srgbClr val="2370CD"/>
      </a:hlink>
      <a:folHlink>
        <a:srgbClr val="877589"/>
      </a:folHlink>
    </a:clrScheme>
    <a:fontScheme name="Метрополия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inorFont>
    </a:fontScheme>
    <a:fmtScheme name="Метрополия">
      <a:fillStyleLst>
        <a:solidFill>
          <a:schemeClr val="phClr"/>
        </a:solidFill>
        <a:gradFill rotWithShape="1">
          <a:gsLst>
            <a:gs pos="0">
              <a:schemeClr val="phClr">
                <a:tint val="70000"/>
                <a:satMod val="100000"/>
                <a:lumMod val="110000"/>
              </a:schemeClr>
            </a:gs>
            <a:gs pos="50000">
              <a:schemeClr val="phClr">
                <a:tint val="75000"/>
                <a:satMod val="101000"/>
                <a:lumMod val="105000"/>
              </a:schemeClr>
            </a:gs>
            <a:gs pos="100000">
              <a:schemeClr val="phClr">
                <a:tint val="82000"/>
                <a:satMod val="104000"/>
                <a:lumMod val="105000"/>
              </a:schemeClr>
            </a:gs>
          </a:gsLst>
          <a:lin ang="2700000" scaled="0"/>
        </a:gradFill>
        <a:gradFill rotWithShape="1">
          <a:gsLst>
            <a:gs pos="0">
              <a:schemeClr val="phClr">
                <a:tint val="97000"/>
                <a:satMod val="100000"/>
                <a:lumMod val="102000"/>
              </a:schemeClr>
            </a:gs>
            <a:gs pos="50000">
              <a:schemeClr val="phClr">
                <a:shade val="100000"/>
                <a:satMod val="100000"/>
                <a:lumMod val="100000"/>
              </a:schemeClr>
            </a:gs>
            <a:gs pos="100000">
              <a:schemeClr val="phClr">
                <a:shade val="80000"/>
                <a:satMod val="100000"/>
                <a:lumMod val="99000"/>
              </a:schemeClr>
            </a:gs>
          </a:gsLst>
          <a:lin ang="27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solidFill>
          <a:schemeClr val="phClr">
            <a:shade val="95000"/>
            <a:satMod val="170000"/>
          </a:schemeClr>
        </a:soli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Metropolitan" id="{4C5440D6-04D2-4954-96CF-F251137069B2}" vid="{79CFCA13-9412-4290-BB4B-85112F88857B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TM03457491[[fn=Метрополия]]</Template>
  <TotalTime>29</TotalTime>
  <Words>491</Words>
  <Application>Microsoft Office PowerPoint</Application>
  <PresentationFormat>Широкоэкранный</PresentationFormat>
  <Paragraphs>70</Paragraphs>
  <Slides>12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2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12</vt:i4>
      </vt:variant>
    </vt:vector>
  </HeadingPairs>
  <TitlesOfParts>
    <vt:vector size="15" baseType="lpstr">
      <vt:lpstr>Arial</vt:lpstr>
      <vt:lpstr>Calibri Light</vt:lpstr>
      <vt:lpstr>Метрополия</vt:lpstr>
      <vt:lpstr>Введение в компьютерные сети</vt:lpstr>
      <vt:lpstr>Компьютерная сеть и её главное свойство</vt:lpstr>
      <vt:lpstr>Элементы сети: Узлы и Каналы</vt:lpstr>
      <vt:lpstr>Коммутация каналов vs Коммутация пакетов</vt:lpstr>
      <vt:lpstr>Структура сети: Оконечные и транзитные узлы</vt:lpstr>
      <vt:lpstr>Адресация и маршрутизация</vt:lpstr>
      <vt:lpstr>Классы сетевых приложений и требования к сети</vt:lpstr>
      <vt:lpstr>Требования к архитектуре компьютерных сетей</vt:lpstr>
      <vt:lpstr>Взгляд пользователя: Производительность сети </vt:lpstr>
      <vt:lpstr>Взгляд пользователя: Надёжность и Экономика </vt:lpstr>
      <vt:lpstr>Требования разработчика: Абстракция канала</vt:lpstr>
      <vt:lpstr>Взгляд оператора: Эксплуатация сети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Введение в компьютерные сети</dc:title>
  <dc:creator>Тимур А. Нахтигаль</dc:creator>
  <cp:lastModifiedBy>Тимур А. Нахтигаль</cp:lastModifiedBy>
  <cp:revision>11</cp:revision>
  <dcterms:created xsi:type="dcterms:W3CDTF">2026-08-27T10:39:06Z</dcterms:created>
  <dcterms:modified xsi:type="dcterms:W3CDTF">2026-08-27T11:09:36Z</dcterms:modified>
</cp:coreProperties>
</file>