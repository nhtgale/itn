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1914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6656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470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7774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7170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69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032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5143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0158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96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05324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4685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15755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93134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16745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074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40913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130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3FA0C-5CD8-4683-A8F2-458893B3FD08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1E40B-B81C-4918-875C-1A5E3FBDC1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86300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Коммутируемый </a:t>
            </a:r>
            <a:r>
              <a:rPr lang="af-ZA" b="1" dirty="0"/>
              <a:t>Ethernet</a:t>
            </a:r>
            <a:br>
              <a:rPr lang="af-ZA" b="1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866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Введение в коммутацию </a:t>
            </a:r>
            <a:r>
              <a:rPr lang="af-ZA" b="1" dirty="0"/>
              <a:t>Ethernet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Hub</a:t>
            </a:r>
            <a:r>
              <a:rPr lang="ru-RU" b="1" dirty="0"/>
              <a:t> (L1):</a:t>
            </a:r>
            <a:r>
              <a:rPr lang="ru-RU" dirty="0"/>
              <a:t> Ретранслирует электрический сигнал; единый домен коллизий для всех портов.</a:t>
            </a:r>
          </a:p>
          <a:p>
            <a:r>
              <a:rPr lang="ru-RU" b="1" dirty="0" err="1"/>
              <a:t>Switch</a:t>
            </a:r>
            <a:r>
              <a:rPr lang="ru-RU" b="1" dirty="0"/>
              <a:t> / </a:t>
            </a:r>
            <a:r>
              <a:rPr lang="ru-RU" b="1" dirty="0" err="1"/>
              <a:t>Bridge</a:t>
            </a:r>
            <a:r>
              <a:rPr lang="ru-RU" b="1" dirty="0"/>
              <a:t> (L2):</a:t>
            </a:r>
            <a:r>
              <a:rPr lang="ru-RU" dirty="0"/>
              <a:t> Принимает кадр целиком, проверяет контрольную сумму (FCS), принимает решение о пересылке по MAC-адресу.</a:t>
            </a:r>
          </a:p>
          <a:p>
            <a:r>
              <a:rPr lang="ru-RU" b="1" dirty="0"/>
              <a:t>Преимущество:</a:t>
            </a:r>
            <a:r>
              <a:rPr lang="ru-RU" dirty="0"/>
              <a:t> Разделение одного большого домена коллизий на независимые сегменты.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75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798756"/>
            <a:ext cx="9905999" cy="5575667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Коммутатор (</a:t>
            </a:r>
            <a:r>
              <a:rPr lang="ru-RU" b="1" dirty="0" err="1"/>
              <a:t>Switch</a:t>
            </a:r>
            <a:r>
              <a:rPr lang="ru-RU" b="1" dirty="0"/>
              <a:t> / </a:t>
            </a:r>
            <a:r>
              <a:rPr lang="ru-RU" b="1" dirty="0" err="1"/>
              <a:t>Bridge</a:t>
            </a:r>
            <a:r>
              <a:rPr lang="ru-RU" b="1" dirty="0"/>
              <a:t>):</a:t>
            </a:r>
            <a:r>
              <a:rPr lang="ru-RU" dirty="0"/>
              <a:t> Устройство уровня L2 OSI. В отличие от концентратора (</a:t>
            </a:r>
            <a:r>
              <a:rPr lang="ru-RU" dirty="0" err="1"/>
              <a:t>Hub</a:t>
            </a:r>
            <a:r>
              <a:rPr lang="ru-RU" dirty="0"/>
              <a:t>, L1), коммутатор анализирует кадры, изолирует коллизии и направляет трафик адресно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b="1" dirty="0"/>
              <a:t>Домен коллизий (</a:t>
            </a:r>
            <a:r>
              <a:rPr lang="ru-RU" b="1" dirty="0" err="1"/>
              <a:t>Collision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):</a:t>
            </a:r>
            <a:r>
              <a:rPr lang="ru-RU" dirty="0"/>
              <a:t> Логическая или физическая часть сети, где кадры могут сталкиваться при одновременной передаче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/>
              <a:t>Концентратор (</a:t>
            </a:r>
            <a:r>
              <a:rPr lang="ru-RU" dirty="0" err="1"/>
              <a:t>Hub</a:t>
            </a:r>
            <a:r>
              <a:rPr lang="ru-RU" dirty="0"/>
              <a:t>) объединяет устройства в один домен коллизий.</a:t>
            </a:r>
          </a:p>
          <a:p>
            <a:pPr lvl="1"/>
            <a:r>
              <a:rPr lang="ru-RU" dirty="0"/>
              <a:t>Коммутатор (</a:t>
            </a:r>
            <a:r>
              <a:rPr lang="ru-RU" dirty="0" err="1"/>
              <a:t>Switch</a:t>
            </a:r>
            <a:r>
              <a:rPr lang="ru-RU" dirty="0"/>
              <a:t>) делит сеть на отдельные домены коллизий (каждый порт = отдельный домен).</a:t>
            </a:r>
            <a:endParaRPr lang="en-US" dirty="0" smtClean="0"/>
          </a:p>
          <a:p>
            <a:r>
              <a:rPr lang="ru-RU" b="1" dirty="0"/>
              <a:t>Широковещательный домен (</a:t>
            </a:r>
            <a:r>
              <a:rPr lang="ru-RU" b="1" dirty="0" err="1"/>
              <a:t>Broadcast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):</a:t>
            </a:r>
            <a:r>
              <a:rPr lang="ru-RU" dirty="0"/>
              <a:t> Область сети, в пределах которой широковещательный </a:t>
            </a:r>
            <a:r>
              <a:rPr lang="ru-RU" dirty="0" smtClean="0"/>
              <a:t>кадр</a:t>
            </a:r>
            <a:r>
              <a:rPr lang="en-US" dirty="0" smtClean="0"/>
              <a:t> </a:t>
            </a:r>
            <a:r>
              <a:rPr lang="ru-RU" dirty="0"/>
              <a:t>(</a:t>
            </a:r>
            <a:r>
              <a:rPr lang="ru-RU" dirty="0" err="1"/>
              <a:t>Dst</a:t>
            </a:r>
            <a:r>
              <a:rPr lang="ru-RU" dirty="0"/>
              <a:t> MAC: FF:FF:FF:FF:FF:FF) доставляется всем узлам</a:t>
            </a:r>
            <a:r>
              <a:rPr lang="ru-RU" dirty="0" smtClean="0"/>
              <a:t>.</a:t>
            </a:r>
            <a:endParaRPr lang="en-US" dirty="0" smtClean="0"/>
          </a:p>
          <a:p>
            <a:pPr lvl="1"/>
            <a:r>
              <a:rPr lang="ru-RU" dirty="0"/>
              <a:t>Коммутаторы L2 не разделяют широковещательные домены (пересылают </a:t>
            </a:r>
            <a:r>
              <a:rPr lang="ru-RU" dirty="0" err="1"/>
              <a:t>Broadcast</a:t>
            </a:r>
            <a:r>
              <a:rPr lang="ru-RU" dirty="0"/>
              <a:t> во все порты, кроме порта-источника).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563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Алгоритм работы коммутатора (</a:t>
            </a:r>
            <a:r>
              <a:rPr lang="ru-RU" b="1" dirty="0" err="1"/>
              <a:t>Learning</a:t>
            </a:r>
            <a:r>
              <a:rPr lang="ru-RU" b="1" dirty="0"/>
              <a:t> </a:t>
            </a:r>
            <a:r>
              <a:rPr lang="ru-RU" b="1" dirty="0" err="1"/>
              <a:t>Process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47" y="2705894"/>
            <a:ext cx="4444093" cy="2628900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5011615" y="1600200"/>
            <a:ext cx="6840416" cy="4985238"/>
          </a:xfrm>
        </p:spPr>
        <p:txBody>
          <a:bodyPr>
            <a:normAutofit fontScale="85000" lnSpcReduction="10000"/>
          </a:bodyPr>
          <a:lstStyle/>
          <a:p>
            <a:r>
              <a:rPr lang="ru-RU" b="1" dirty="0"/>
              <a:t>Анализ </a:t>
            </a:r>
            <a:r>
              <a:rPr lang="ru-RU" b="1" dirty="0" err="1"/>
              <a:t>Source</a:t>
            </a:r>
            <a:r>
              <a:rPr lang="ru-RU" b="1" dirty="0"/>
              <a:t> MAC:</a:t>
            </a:r>
            <a:r>
              <a:rPr lang="ru-RU" dirty="0"/>
              <a:t> При получении кадра коммутатор считывает адрес источника и сопоставляет его с входящим портом в таблице MAC-адресов (CAM-таблице).</a:t>
            </a:r>
          </a:p>
          <a:p>
            <a:r>
              <a:rPr lang="ru-RU" b="1" dirty="0"/>
              <a:t>Принятие решения по </a:t>
            </a:r>
            <a:r>
              <a:rPr lang="ru-RU" b="1" dirty="0" err="1"/>
              <a:t>Destination</a:t>
            </a:r>
            <a:r>
              <a:rPr lang="ru-RU" b="1" dirty="0"/>
              <a:t> MAC:</a:t>
            </a:r>
            <a:endParaRPr lang="ru-RU" dirty="0"/>
          </a:p>
          <a:p>
            <a:pPr lvl="1"/>
            <a:r>
              <a:rPr lang="ru-RU" i="1" dirty="0"/>
              <a:t>MAC известен и находится на том же порту:</a:t>
            </a:r>
            <a:r>
              <a:rPr lang="ru-RU" dirty="0"/>
              <a:t> кадр фильтруется (сбрасывается).</a:t>
            </a:r>
          </a:p>
          <a:p>
            <a:pPr lvl="1"/>
            <a:r>
              <a:rPr lang="ru-RU" i="1" dirty="0"/>
              <a:t>MAC известен и находится на другом порту:</a:t>
            </a:r>
            <a:r>
              <a:rPr lang="ru-RU" dirty="0"/>
              <a:t> кадр отправляется строго в этот порт (</a:t>
            </a:r>
            <a:r>
              <a:rPr lang="ru-RU" dirty="0" err="1"/>
              <a:t>Forwarding</a:t>
            </a:r>
            <a:r>
              <a:rPr lang="ru-RU" dirty="0"/>
              <a:t>).</a:t>
            </a:r>
          </a:p>
          <a:p>
            <a:pPr lvl="1"/>
            <a:r>
              <a:rPr lang="ru-RU" i="1" dirty="0"/>
              <a:t>MAC неизвестен (</a:t>
            </a:r>
            <a:r>
              <a:rPr lang="ru-RU" i="1" dirty="0" err="1"/>
              <a:t>Unknown</a:t>
            </a:r>
            <a:r>
              <a:rPr lang="ru-RU" i="1" dirty="0"/>
              <a:t> </a:t>
            </a:r>
            <a:r>
              <a:rPr lang="ru-RU" i="1" dirty="0" err="1"/>
              <a:t>Unicast</a:t>
            </a:r>
            <a:r>
              <a:rPr lang="ru-RU" i="1" dirty="0"/>
              <a:t>) или </a:t>
            </a:r>
            <a:r>
              <a:rPr lang="ru-RU" i="1" dirty="0" err="1"/>
              <a:t>Broadcast</a:t>
            </a:r>
            <a:r>
              <a:rPr lang="ru-RU" i="1" dirty="0"/>
              <a:t>:</a:t>
            </a:r>
            <a:r>
              <a:rPr lang="ru-RU" dirty="0"/>
              <a:t> кадр рассылается во все порты, кроме входящего (</a:t>
            </a:r>
            <a:r>
              <a:rPr lang="ru-RU" dirty="0" err="1"/>
              <a:t>Flooding</a:t>
            </a:r>
            <a:r>
              <a:rPr lang="ru-RU" dirty="0"/>
              <a:t>).</a:t>
            </a:r>
          </a:p>
          <a:p>
            <a:r>
              <a:rPr lang="ru-RU" b="1" dirty="0"/>
              <a:t>Старение записей (</a:t>
            </a:r>
            <a:r>
              <a:rPr lang="ru-RU" b="1" dirty="0" err="1"/>
              <a:t>Aging</a:t>
            </a:r>
            <a:r>
              <a:rPr lang="ru-RU" b="1" dirty="0"/>
              <a:t> </a:t>
            </a:r>
            <a:r>
              <a:rPr lang="ru-RU" b="1" dirty="0" err="1"/>
              <a:t>Time</a:t>
            </a:r>
            <a:r>
              <a:rPr lang="ru-RU" b="1" dirty="0"/>
              <a:t>):</a:t>
            </a:r>
            <a:r>
              <a:rPr lang="ru-RU" dirty="0"/>
              <a:t> Каждая запись в таблице снабжена таймером; при отсутствии трафика от узла запись удаляется для корректной обработки миграции устройств.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5425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Домены коллизий и широковещательные </a:t>
            </a:r>
            <a:r>
              <a:rPr lang="ru-RU" b="1" dirty="0" smtClean="0"/>
              <a:t>домены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187644"/>
            <a:ext cx="6732587" cy="4302056"/>
          </a:xfrm>
        </p:spPr>
        <p:txBody>
          <a:bodyPr>
            <a:normAutofit fontScale="92500"/>
          </a:bodyPr>
          <a:lstStyle/>
          <a:p>
            <a:r>
              <a:rPr lang="ru-RU" b="1" dirty="0" err="1"/>
              <a:t>Collision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 (Домен коллизий):</a:t>
            </a:r>
            <a:endParaRPr lang="ru-RU" dirty="0"/>
          </a:p>
          <a:p>
            <a:pPr lvl="1"/>
            <a:r>
              <a:rPr lang="ru-RU" dirty="0"/>
              <a:t>Область конкуренции за среду.</a:t>
            </a:r>
          </a:p>
          <a:p>
            <a:pPr lvl="1"/>
            <a:r>
              <a:rPr lang="ru-RU" dirty="0"/>
              <a:t>Коммутатор </a:t>
            </a:r>
            <a:r>
              <a:rPr lang="ru-RU" b="1" dirty="0"/>
              <a:t>делит</a:t>
            </a:r>
            <a:r>
              <a:rPr lang="ru-RU" dirty="0"/>
              <a:t> домены коллизий (1 порт = 1 домен).</a:t>
            </a:r>
          </a:p>
          <a:p>
            <a:r>
              <a:rPr lang="ru-RU" b="1" dirty="0" err="1"/>
              <a:t>Broadcast</a:t>
            </a:r>
            <a:r>
              <a:rPr lang="ru-RU" b="1" dirty="0"/>
              <a:t> </a:t>
            </a:r>
            <a:r>
              <a:rPr lang="ru-RU" b="1" dirty="0" err="1"/>
              <a:t>Domain</a:t>
            </a:r>
            <a:r>
              <a:rPr lang="ru-RU" b="1" dirty="0"/>
              <a:t> (Широковещательный домен):</a:t>
            </a:r>
            <a:endParaRPr lang="ru-RU" dirty="0"/>
          </a:p>
          <a:p>
            <a:pPr lvl="1"/>
            <a:r>
              <a:rPr lang="ru-RU" dirty="0"/>
              <a:t>Область распространения широковещательных кадров (L2 </a:t>
            </a:r>
            <a:r>
              <a:rPr lang="ru-RU" dirty="0" err="1"/>
              <a:t>Broadcast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Коммутаторы L2 </a:t>
            </a:r>
            <a:r>
              <a:rPr lang="ru-RU" b="1" dirty="0"/>
              <a:t>объединяют</a:t>
            </a:r>
            <a:r>
              <a:rPr lang="ru-RU" dirty="0"/>
              <a:t> порты в один широковещательный домен (разделяется только маршрутизаторами / VLAN).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1" y="1456610"/>
            <a:ext cx="3467466" cy="5033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3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Режимы дуплекса: </a:t>
            </a:r>
            <a:r>
              <a:rPr lang="af-ZA" b="1" dirty="0"/>
              <a:t>Half-Duplex vs </a:t>
            </a:r>
            <a:r>
              <a:rPr lang="af-ZA" b="1" dirty="0" smtClean="0"/>
              <a:t>Full-Duplex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f-ZA" b="1" dirty="0"/>
              <a:t>Half-Duplex (</a:t>
            </a:r>
            <a:r>
              <a:rPr lang="ru-RU" b="1" dirty="0"/>
              <a:t>Полудуплекс):</a:t>
            </a:r>
            <a:endParaRPr lang="ru-RU" dirty="0"/>
          </a:p>
          <a:p>
            <a:pPr lvl="1"/>
            <a:r>
              <a:rPr lang="ru-RU" dirty="0"/>
              <a:t>Среда общая (разделяемая).</a:t>
            </a:r>
          </a:p>
          <a:p>
            <a:pPr lvl="1"/>
            <a:r>
              <a:rPr lang="ru-RU" dirty="0"/>
              <a:t>Требуется алгоритм </a:t>
            </a:r>
            <a:r>
              <a:rPr lang="af-ZA" b="1" dirty="0"/>
              <a:t>CSMA/CD</a:t>
            </a:r>
            <a:r>
              <a:rPr lang="af-ZA" dirty="0"/>
              <a:t> (</a:t>
            </a:r>
            <a:r>
              <a:rPr lang="ru-RU" dirty="0"/>
              <a:t>обнаружение коллизий).</a:t>
            </a:r>
          </a:p>
          <a:p>
            <a:r>
              <a:rPr lang="af-ZA" b="1" dirty="0"/>
              <a:t>Full-Duplex (</a:t>
            </a:r>
            <a:r>
              <a:rPr lang="ru-RU" b="1" dirty="0"/>
              <a:t>Полный дуплекс):</a:t>
            </a:r>
            <a:endParaRPr lang="ru-RU" dirty="0"/>
          </a:p>
          <a:p>
            <a:pPr lvl="1"/>
            <a:r>
              <a:rPr lang="ru-RU" dirty="0"/>
              <a:t>Канал «точка — точка» (раздельные линии </a:t>
            </a:r>
            <a:r>
              <a:rPr lang="af-ZA" dirty="0"/>
              <a:t>Rx/Tx).</a:t>
            </a:r>
          </a:p>
          <a:p>
            <a:pPr lvl="1"/>
            <a:r>
              <a:rPr lang="ru-RU" dirty="0"/>
              <a:t>Алгоритм </a:t>
            </a:r>
            <a:r>
              <a:rPr lang="af-ZA" dirty="0"/>
              <a:t>CSMA/CD </a:t>
            </a:r>
            <a:r>
              <a:rPr lang="ru-RU" b="1" dirty="0"/>
              <a:t>отключён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Стандарты от 10 </a:t>
            </a:r>
            <a:r>
              <a:rPr lang="af-ZA" dirty="0"/>
              <a:t>GbE </a:t>
            </a:r>
            <a:r>
              <a:rPr lang="ru-RU" dirty="0"/>
              <a:t>и выше работают </a:t>
            </a:r>
            <a:r>
              <a:rPr lang="ru-RU" b="1" dirty="0"/>
              <a:t>исключительно</a:t>
            </a:r>
            <a:r>
              <a:rPr lang="ru-RU" dirty="0"/>
              <a:t> в </a:t>
            </a:r>
            <a:r>
              <a:rPr lang="af-ZA" dirty="0"/>
              <a:t>Full-Duplex.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534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Схемы разводки и </a:t>
            </a:r>
            <a:r>
              <a:rPr lang="ru-RU" b="1" dirty="0" err="1"/>
              <a:t>Auto</a:t>
            </a:r>
            <a:r>
              <a:rPr lang="ru-RU" b="1" dirty="0"/>
              <a:t> </a:t>
            </a:r>
            <a:r>
              <a:rPr lang="ru-RU" b="1" dirty="0" smtClean="0"/>
              <a:t>MDI-X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2112" y="1741486"/>
            <a:ext cx="6669087" cy="4684713"/>
          </a:xfrm>
        </p:spPr>
        <p:txBody>
          <a:bodyPr>
            <a:normAutofit fontScale="92500" lnSpcReduction="20000"/>
          </a:bodyPr>
          <a:lstStyle/>
          <a:p>
            <a:r>
              <a:rPr lang="af-ZA" b="1" dirty="0"/>
              <a:t>MDI (Medium Dependent Interface):</a:t>
            </a:r>
            <a:r>
              <a:rPr lang="af-ZA" dirty="0"/>
              <a:t> </a:t>
            </a:r>
            <a:r>
              <a:rPr lang="ru-RU" dirty="0"/>
              <a:t>Сетевые карты (</a:t>
            </a:r>
            <a:r>
              <a:rPr lang="af-ZA" dirty="0"/>
              <a:t>NIC), </a:t>
            </a:r>
            <a:r>
              <a:rPr lang="ru-RU" dirty="0"/>
              <a:t>маршрутизаторы (передача на </a:t>
            </a:r>
            <a:r>
              <a:rPr lang="ru-RU" dirty="0" err="1"/>
              <a:t>пинах</a:t>
            </a:r>
            <a:r>
              <a:rPr lang="ru-RU" dirty="0"/>
              <a:t> 1-2, приём на 3-6).</a:t>
            </a:r>
          </a:p>
          <a:p>
            <a:r>
              <a:rPr lang="af-ZA" b="1" dirty="0"/>
              <a:t>MDI-X (MDI Crossover):</a:t>
            </a:r>
            <a:r>
              <a:rPr lang="af-ZA" dirty="0"/>
              <a:t> </a:t>
            </a:r>
            <a:r>
              <a:rPr lang="ru-RU" dirty="0"/>
              <a:t>Коммутаторы, концентраторы (приём на 1-2, передача на 3-6).</a:t>
            </a:r>
          </a:p>
          <a:p>
            <a:r>
              <a:rPr lang="ru-RU" b="1" dirty="0"/>
              <a:t>Прямой кабель (</a:t>
            </a:r>
            <a:r>
              <a:rPr lang="af-ZA" b="1" dirty="0"/>
              <a:t>Straight-through):</a:t>
            </a:r>
            <a:r>
              <a:rPr lang="af-ZA" dirty="0"/>
              <a:t> MDI </a:t>
            </a:r>
            <a:r>
              <a:rPr lang="af-ZA" dirty="0" smtClean="0"/>
              <a:t>↔</a:t>
            </a:r>
            <a:r>
              <a:rPr lang="af-ZA" dirty="0"/>
              <a:t> MDI-X (</a:t>
            </a:r>
            <a:r>
              <a:rPr lang="ru-RU" dirty="0"/>
              <a:t>ПК ↔↔ </a:t>
            </a:r>
            <a:r>
              <a:rPr lang="af-ZA" dirty="0"/>
              <a:t>Switch).</a:t>
            </a:r>
          </a:p>
          <a:p>
            <a:r>
              <a:rPr lang="ru-RU" b="1" dirty="0"/>
              <a:t>Кроссовый кабель (</a:t>
            </a:r>
            <a:r>
              <a:rPr lang="af-ZA" b="1" dirty="0"/>
              <a:t>Crossover):</a:t>
            </a:r>
            <a:r>
              <a:rPr lang="af-ZA" dirty="0"/>
              <a:t> MDI </a:t>
            </a:r>
            <a:r>
              <a:rPr lang="af-ZA" dirty="0" smtClean="0"/>
              <a:t>↔</a:t>
            </a:r>
            <a:r>
              <a:rPr lang="af-ZA" dirty="0"/>
              <a:t> MDI </a:t>
            </a:r>
            <a:r>
              <a:rPr lang="ru-RU" dirty="0"/>
              <a:t>или </a:t>
            </a:r>
            <a:r>
              <a:rPr lang="af-ZA" dirty="0"/>
              <a:t>MDI-X </a:t>
            </a:r>
            <a:r>
              <a:rPr lang="af-ZA" dirty="0" smtClean="0"/>
              <a:t>↔</a:t>
            </a:r>
            <a:r>
              <a:rPr lang="af-ZA" dirty="0"/>
              <a:t> MDI-X (Switch </a:t>
            </a:r>
            <a:r>
              <a:rPr lang="af-ZA" dirty="0" smtClean="0"/>
              <a:t>↔</a:t>
            </a:r>
            <a:r>
              <a:rPr lang="af-ZA" dirty="0"/>
              <a:t> Switch, </a:t>
            </a:r>
            <a:r>
              <a:rPr lang="ru-RU" dirty="0"/>
              <a:t>ПК </a:t>
            </a:r>
            <a:r>
              <a:rPr lang="ru-RU" dirty="0" smtClean="0"/>
              <a:t>↔</a:t>
            </a:r>
            <a:r>
              <a:rPr lang="ru-RU" dirty="0"/>
              <a:t> ПК).</a:t>
            </a:r>
          </a:p>
          <a:p>
            <a:r>
              <a:rPr lang="af-ZA" b="1" dirty="0"/>
              <a:t>Auto MDI-X:</a:t>
            </a:r>
            <a:r>
              <a:rPr lang="af-ZA" dirty="0"/>
              <a:t> </a:t>
            </a:r>
            <a:r>
              <a:rPr lang="ru-RU" dirty="0"/>
              <a:t>Технология автоматического переключения полярности приёмопередатчика. Стандартизирована в 1000</a:t>
            </a:r>
            <a:r>
              <a:rPr lang="af-ZA" dirty="0"/>
              <a:t>BASE-T.</a:t>
            </a: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116" y="2347910"/>
            <a:ext cx="4029946" cy="347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24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Основные </a:t>
            </a:r>
            <a:r>
              <a:rPr lang="ru-RU" b="1" dirty="0" smtClean="0"/>
              <a:t>стандарты </a:t>
            </a:r>
            <a:r>
              <a:rPr lang="af-ZA" b="1" dirty="0" smtClean="0"/>
              <a:t>Ethernet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1407098"/>
              </p:ext>
            </p:extLst>
          </p:nvPr>
        </p:nvGraphicFramePr>
        <p:xfrm>
          <a:off x="1141413" y="1752602"/>
          <a:ext cx="9906000" cy="4670865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90248425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8161321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1143664455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745985834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797758726"/>
                    </a:ext>
                  </a:extLst>
                </a:gridCol>
              </a:tblGrid>
              <a:tr h="480300"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Стандарт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Среда / Категория кабеля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Частота / Модуляция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Макс. дальность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Примечание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213534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 dirty="0">
                          <a:effectLst/>
                        </a:rPr>
                        <a:t>10BASE-T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3 UTP (2 </a:t>
                      </a:r>
                      <a:r>
                        <a:rPr lang="ru-RU" sz="1400" b="1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 МГц, </a:t>
                      </a:r>
                      <a:r>
                        <a:rPr lang="af-ZA" sz="1400" b="1">
                          <a:effectLst/>
                        </a:rPr>
                        <a:t>Manchester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Появились импульсы NLP (Link Test)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4188451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100BASE-TX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 dirty="0">
                          <a:effectLst/>
                        </a:rPr>
                        <a:t>Cat. 5/5e UTP (2 </a:t>
                      </a:r>
                      <a:r>
                        <a:rPr lang="ru-RU" sz="1400" b="1" dirty="0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31.25 МГц, 4</a:t>
                      </a:r>
                      <a:r>
                        <a:rPr lang="af-ZA" sz="1400" b="1" dirty="0">
                          <a:effectLst/>
                        </a:rPr>
                        <a:t>B/5B + MLT-3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Введено автосогласование (</a:t>
                      </a:r>
                      <a:r>
                        <a:rPr lang="af-ZA" sz="1400" b="1">
                          <a:effectLst/>
                        </a:rPr>
                        <a:t>FLP)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5680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5e/6 UTP (4 </a:t>
                      </a:r>
                      <a:r>
                        <a:rPr lang="ru-RU" sz="1400" b="1">
                          <a:effectLst/>
                        </a:rPr>
                        <a:t>пары)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125 МГц (бод), 4</a:t>
                      </a:r>
                      <a:r>
                        <a:rPr lang="af-ZA" sz="1400" b="1" dirty="0">
                          <a:effectLst/>
                        </a:rPr>
                        <a:t>D-PAM5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250 Мбит/с на пару, дуплекс по всем 4 парам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630464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1000BASE-SX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</a:t>
                      </a:r>
                      <a:r>
                        <a:rPr lang="af-ZA" sz="1400" b="1">
                          <a:effectLst/>
                        </a:rPr>
                        <a:t>MMF (850 </a:t>
                      </a:r>
                      <a:r>
                        <a:rPr lang="ru-RU" sz="1400" b="1">
                          <a:effectLst/>
                        </a:rPr>
                        <a:t>нм)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NRZ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220–550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Коротковолновый лазер, для ЦОД/зданий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222372"/>
                  </a:ext>
                </a:extLst>
              </a:tr>
              <a:tr h="480300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1000BASE-LX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</a:t>
                      </a:r>
                      <a:r>
                        <a:rPr lang="af-ZA" sz="1400" b="1">
                          <a:effectLst/>
                        </a:rPr>
                        <a:t>SMF/MMF (1310 </a:t>
                      </a:r>
                      <a:r>
                        <a:rPr lang="ru-RU" sz="1400" b="1">
                          <a:effectLst/>
                        </a:rPr>
                        <a:t>нм)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NRZ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до 5 км (</a:t>
                      </a:r>
                      <a:r>
                        <a:rPr lang="af-ZA" sz="1400" b="1" dirty="0">
                          <a:effectLst/>
                        </a:rPr>
                        <a:t>SMF)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Длинноволновый лазер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7194988"/>
                  </a:ext>
                </a:extLst>
              </a:tr>
              <a:tr h="27567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10GBASE-T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Cat. 6a/7 UTP/STP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DSQ128 + PAM16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100 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Только </a:t>
                      </a:r>
                      <a:r>
                        <a:rPr lang="af-ZA" sz="1400" b="1" dirty="0">
                          <a:effectLst/>
                        </a:rPr>
                        <a:t>Full-Duplex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9219"/>
                  </a:ext>
                </a:extLst>
              </a:tr>
              <a:tr h="684925"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10GBASE-SR/LR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>
                          <a:effectLst/>
                        </a:rPr>
                        <a:t>Оптика (</a:t>
                      </a:r>
                      <a:r>
                        <a:rPr lang="af-ZA" sz="1400" b="1">
                          <a:effectLst/>
                        </a:rPr>
                        <a:t>SR - MMF, LR - SMF)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64B/66B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400" b="1">
                          <a:effectLst/>
                        </a:rPr>
                        <a:t>SR: 300 </a:t>
                      </a:r>
                      <a:r>
                        <a:rPr lang="ru-RU" sz="1400" b="1">
                          <a:effectLst/>
                        </a:rPr>
                        <a:t>м, </a:t>
                      </a:r>
                      <a:r>
                        <a:rPr lang="af-ZA" sz="1400" b="1">
                          <a:effectLst/>
                        </a:rPr>
                        <a:t>LR: 10 </a:t>
                      </a:r>
                      <a:r>
                        <a:rPr lang="ru-RU" sz="1400" b="1">
                          <a:effectLst/>
                        </a:rPr>
                        <a:t>км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dirty="0">
                          <a:effectLst/>
                        </a:rPr>
                        <a:t>Базовые стандарты 10 </a:t>
                      </a:r>
                      <a:r>
                        <a:rPr lang="af-ZA" sz="1400" b="1" dirty="0">
                          <a:effectLst/>
                        </a:rPr>
                        <a:t>GbE</a:t>
                      </a:r>
                    </a:p>
                  </a:txBody>
                  <a:tcPr marL="53990" marR="53990" marT="26995" marB="26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12902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3718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Процедура </a:t>
            </a:r>
            <a:r>
              <a:rPr lang="ru-RU" b="1" dirty="0" err="1"/>
              <a:t>автосогласования</a:t>
            </a:r>
            <a:r>
              <a:rPr lang="ru-RU" b="1" dirty="0"/>
              <a:t> (</a:t>
            </a:r>
            <a:r>
              <a:rPr lang="af-ZA" b="1" dirty="0"/>
              <a:t>Autonegotiation</a:t>
            </a:r>
            <a:r>
              <a:rPr lang="af-ZA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NLP (</a:t>
            </a:r>
            <a:r>
              <a:rPr lang="ru-RU" b="1" dirty="0" err="1"/>
              <a:t>Normal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): Одиночный импульс (100 </a:t>
            </a:r>
            <a:r>
              <a:rPr lang="ru-RU" b="1" dirty="0" err="1"/>
              <a:t>нс</a:t>
            </a:r>
            <a:r>
              <a:rPr lang="ru-RU" b="1" dirty="0"/>
              <a:t>, период 16 </a:t>
            </a:r>
            <a:r>
              <a:rPr lang="ru-RU" b="1" dirty="0" err="1"/>
              <a:t>мс</a:t>
            </a:r>
            <a:r>
              <a:rPr lang="ru-RU" b="1" dirty="0"/>
              <a:t>) — проверка соединения в 10BASE-T.</a:t>
            </a:r>
          </a:p>
          <a:p>
            <a:r>
              <a:rPr lang="ru-RU" b="1" dirty="0"/>
              <a:t>FLP (</a:t>
            </a:r>
            <a:r>
              <a:rPr lang="ru-RU" b="1" dirty="0" err="1"/>
              <a:t>Fast</a:t>
            </a:r>
            <a:r>
              <a:rPr lang="ru-RU" b="1" dirty="0"/>
              <a:t> 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Pulse</a:t>
            </a:r>
            <a:r>
              <a:rPr lang="ru-RU" b="1" dirty="0"/>
              <a:t>): Пачка из 33 импульсов, замещающая NLP.</a:t>
            </a:r>
          </a:p>
          <a:p>
            <a:r>
              <a:rPr lang="ru-RU" b="1" dirty="0"/>
              <a:t>Структура FLP:</a:t>
            </a:r>
          </a:p>
          <a:p>
            <a:pPr lvl="1"/>
            <a:r>
              <a:rPr lang="ru-RU" b="1" dirty="0"/>
              <a:t>17 тактовых импульсов (шаг 125 </a:t>
            </a:r>
            <a:r>
              <a:rPr lang="ru-RU" b="1" dirty="0" err="1"/>
              <a:t>мкс</a:t>
            </a:r>
            <a:r>
              <a:rPr lang="ru-RU" b="1" dirty="0"/>
              <a:t>).</a:t>
            </a:r>
          </a:p>
          <a:p>
            <a:pPr lvl="1"/>
            <a:r>
              <a:rPr lang="ru-RU" b="1" dirty="0"/>
              <a:t>16 позиций для данных (смещение 62.5 </a:t>
            </a:r>
            <a:r>
              <a:rPr lang="ru-RU" b="1" dirty="0" err="1"/>
              <a:t>мкс</a:t>
            </a:r>
            <a:r>
              <a:rPr lang="ru-RU" b="1" dirty="0"/>
              <a:t>): наличие импульса = 1, отсутствие = 0.</a:t>
            </a:r>
          </a:p>
          <a:p>
            <a:r>
              <a:rPr lang="ru-RU" b="1" dirty="0"/>
              <a:t>LCW (</a:t>
            </a:r>
            <a:r>
              <a:rPr lang="ru-RU" b="1" dirty="0" err="1"/>
              <a:t>Link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 </a:t>
            </a:r>
            <a:r>
              <a:rPr lang="ru-RU" b="1" dirty="0" err="1"/>
              <a:t>Word</a:t>
            </a:r>
            <a:r>
              <a:rPr lang="ru-RU" b="1" dirty="0"/>
              <a:t>): 16-битное слово, содержащее поддерживаемые скорости и режимы дуплекса.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3602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5167" y="952500"/>
            <a:ext cx="9476897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580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1420" y="863600"/>
            <a:ext cx="9364378" cy="523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793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18</TotalTime>
  <Words>314</Words>
  <Application>Microsoft Office PowerPoint</Application>
  <PresentationFormat>Широкоэкранный</PresentationFormat>
  <Paragraphs>87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Tw Cen MT</vt:lpstr>
      <vt:lpstr>Контур</vt:lpstr>
      <vt:lpstr>Коммутируемый Ethernet </vt:lpstr>
      <vt:lpstr>Введение в коммутацию Ethernet</vt:lpstr>
      <vt:lpstr>Презентация PowerPoint</vt:lpstr>
      <vt:lpstr>Алгоритм работы коммутатора (Learning Process)</vt:lpstr>
      <vt:lpstr>Домены коллизий и широковещательные домены</vt:lpstr>
      <vt:lpstr>Режимы дуплекса: Half-Duplex vs Full-Duplex</vt:lpstr>
      <vt:lpstr>Схемы разводки и Auto MDI-X</vt:lpstr>
      <vt:lpstr>Основные стандарты Ethernet</vt:lpstr>
      <vt:lpstr>Процедура автосогласования (Autonegotiation)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Коммутируемый Ethernet </dc:title>
  <dc:creator>Тимур А. Нахтигаль</dc:creator>
  <cp:lastModifiedBy>Тимур А. Нахтигаль</cp:lastModifiedBy>
  <cp:revision>6</cp:revision>
  <dcterms:created xsi:type="dcterms:W3CDTF">2026-08-27T12:15:05Z</dcterms:created>
  <dcterms:modified xsi:type="dcterms:W3CDTF">2026-08-27T12:33:34Z</dcterms:modified>
</cp:coreProperties>
</file>