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9" d="100"/>
          <a:sy n="10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2A3FA0C-5CD8-4683-A8F2-458893B3FD08}" type="datetimeFigureOut">
              <a:rPr lang="ru-RU" smtClean="0"/>
              <a:t>31.08.2026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7C31E40B-B81C-4918-875C-1A5E3FBDC1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6656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3FA0C-5CD8-4683-A8F2-458893B3FD08}" type="datetimeFigureOut">
              <a:rPr lang="ru-RU" smtClean="0"/>
              <a:t>31.08.2026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1E40B-B81C-4918-875C-1A5E3FBDC1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4708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3FA0C-5CD8-4683-A8F2-458893B3FD08}" type="datetimeFigureOut">
              <a:rPr lang="ru-RU" smtClean="0"/>
              <a:t>31.08.2026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1E40B-B81C-4918-875C-1A5E3FBDC1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7774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3FA0C-5CD8-4683-A8F2-458893B3FD08}" type="datetimeFigureOut">
              <a:rPr lang="ru-RU" smtClean="0"/>
              <a:t>31.08.2026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1E40B-B81C-4918-875C-1A5E3FBDC1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7170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3FA0C-5CD8-4683-A8F2-458893B3FD08}" type="datetimeFigureOut">
              <a:rPr lang="ru-RU" smtClean="0"/>
              <a:t>31.08.2026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1E40B-B81C-4918-875C-1A5E3FBDC1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1469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3FA0C-5CD8-4683-A8F2-458893B3FD08}" type="datetimeFigureOut">
              <a:rPr lang="ru-RU" smtClean="0"/>
              <a:t>31.08.2026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1E40B-B81C-4918-875C-1A5E3FBDC1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5032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3FA0C-5CD8-4683-A8F2-458893B3FD08}" type="datetimeFigureOut">
              <a:rPr lang="ru-RU" smtClean="0"/>
              <a:t>31.08.2026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1E40B-B81C-4918-875C-1A5E3FBDC1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5143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3FA0C-5CD8-4683-A8F2-458893B3FD08}" type="datetimeFigureOut">
              <a:rPr lang="ru-RU" smtClean="0"/>
              <a:t>31.08.2026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1E40B-B81C-4918-875C-1A5E3FBDC1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0158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3FA0C-5CD8-4683-A8F2-458893B3FD08}" type="datetimeFigureOut">
              <a:rPr lang="ru-RU" smtClean="0"/>
              <a:t>31.08.2026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1E40B-B81C-4918-875C-1A5E3FBDC1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96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3FA0C-5CD8-4683-A8F2-458893B3FD08}" type="datetimeFigureOut">
              <a:rPr lang="ru-RU" smtClean="0"/>
              <a:t>31.08.2026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1E40B-B81C-4918-875C-1A5E3FBDC1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0532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3FA0C-5CD8-4683-A8F2-458893B3FD08}" type="datetimeFigureOut">
              <a:rPr lang="ru-RU" smtClean="0"/>
              <a:t>31.08.2026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1E40B-B81C-4918-875C-1A5E3FBDC1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54685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3FA0C-5CD8-4683-A8F2-458893B3FD08}" type="datetimeFigureOut">
              <a:rPr lang="ru-RU" smtClean="0"/>
              <a:t>31.08.2026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1E40B-B81C-4918-875C-1A5E3FBDC1E6}" type="slidenum">
              <a:rPr lang="ru-RU" smtClean="0"/>
              <a:t>‹#›</a:t>
            </a:fld>
            <a:endParaRPr lang="ru-RU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315755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3FA0C-5CD8-4683-A8F2-458893B3FD08}" type="datetimeFigureOut">
              <a:rPr lang="ru-RU" smtClean="0"/>
              <a:t>31.08.2026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1E40B-B81C-4918-875C-1A5E3FBDC1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93134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3FA0C-5CD8-4683-A8F2-458893B3FD08}" type="datetimeFigureOut">
              <a:rPr lang="ru-RU" smtClean="0"/>
              <a:t>31.08.2026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1E40B-B81C-4918-875C-1A5E3FBDC1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16745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3FA0C-5CD8-4683-A8F2-458893B3FD08}" type="datetimeFigureOut">
              <a:rPr lang="ru-RU" smtClean="0"/>
              <a:t>31.08.2026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1E40B-B81C-4918-875C-1A5E3FBDC1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3074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3FA0C-5CD8-4683-A8F2-458893B3FD08}" type="datetimeFigureOut">
              <a:rPr lang="ru-RU" smtClean="0"/>
              <a:t>31.08.2026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1E40B-B81C-4918-875C-1A5E3FBDC1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40913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3FA0C-5CD8-4683-A8F2-458893B3FD08}" type="datetimeFigureOut">
              <a:rPr lang="ru-RU" smtClean="0"/>
              <a:t>31.08.2026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1E40B-B81C-4918-875C-1A5E3FBDC1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1309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A3FA0C-5CD8-4683-A8F2-458893B3FD08}" type="datetimeFigureOut">
              <a:rPr lang="ru-RU" smtClean="0"/>
              <a:t>31.08.2026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31E40B-B81C-4918-875C-1A5E3FBDC1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86300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/>
              <a:t>Коммутируемый </a:t>
            </a:r>
            <a:r>
              <a:rPr lang="af-ZA" b="1" dirty="0"/>
              <a:t>Ethernet</a:t>
            </a:r>
            <a:br>
              <a:rPr lang="af-ZA" b="1" dirty="0"/>
            </a:b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0866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Введение в коммутацию </a:t>
            </a:r>
            <a:r>
              <a:rPr lang="af-ZA" b="1" dirty="0"/>
              <a:t>Ethernet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 err="1"/>
              <a:t>Hub</a:t>
            </a:r>
            <a:r>
              <a:rPr lang="ru-RU" b="1" dirty="0"/>
              <a:t> (L1):</a:t>
            </a:r>
            <a:r>
              <a:rPr lang="ru-RU" dirty="0"/>
              <a:t> Ретранслирует электрический сигнал; единый домен коллизий для всех портов.</a:t>
            </a:r>
          </a:p>
          <a:p>
            <a:r>
              <a:rPr lang="ru-RU" b="1" dirty="0" err="1"/>
              <a:t>Switch</a:t>
            </a:r>
            <a:r>
              <a:rPr lang="ru-RU" b="1" dirty="0"/>
              <a:t> / </a:t>
            </a:r>
            <a:r>
              <a:rPr lang="ru-RU" b="1" dirty="0" err="1"/>
              <a:t>Bridge</a:t>
            </a:r>
            <a:r>
              <a:rPr lang="ru-RU" b="1" dirty="0"/>
              <a:t> (L2):</a:t>
            </a:r>
            <a:r>
              <a:rPr lang="ru-RU" dirty="0"/>
              <a:t> Принимает кадр целиком, проверяет контрольную сумму (FCS), принимает решение о пересылке по MAC-адресу.</a:t>
            </a:r>
          </a:p>
          <a:p>
            <a:r>
              <a:rPr lang="ru-RU" b="1" dirty="0"/>
              <a:t>Преимущество:</a:t>
            </a:r>
            <a:r>
              <a:rPr lang="ru-RU" dirty="0"/>
              <a:t> Разделение одного большого домена коллизий на независимые сегменты.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97569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1412" y="798756"/>
            <a:ext cx="9905999" cy="5575667"/>
          </a:xfrm>
        </p:spPr>
        <p:txBody>
          <a:bodyPr>
            <a:normAutofit lnSpcReduction="10000"/>
          </a:bodyPr>
          <a:lstStyle/>
          <a:p>
            <a:r>
              <a:rPr lang="ru-RU" b="1" dirty="0"/>
              <a:t>Коммутатор (</a:t>
            </a:r>
            <a:r>
              <a:rPr lang="ru-RU" b="1" dirty="0" err="1"/>
              <a:t>Switch</a:t>
            </a:r>
            <a:r>
              <a:rPr lang="ru-RU" b="1" dirty="0"/>
              <a:t> / </a:t>
            </a:r>
            <a:r>
              <a:rPr lang="ru-RU" b="1" dirty="0" err="1"/>
              <a:t>Bridge</a:t>
            </a:r>
            <a:r>
              <a:rPr lang="ru-RU" b="1" dirty="0"/>
              <a:t>):</a:t>
            </a:r>
            <a:r>
              <a:rPr lang="ru-RU" dirty="0"/>
              <a:t> Устройство уровня L2 OSI. В отличие от концентратора (</a:t>
            </a:r>
            <a:r>
              <a:rPr lang="ru-RU" dirty="0" err="1"/>
              <a:t>Hub</a:t>
            </a:r>
            <a:r>
              <a:rPr lang="ru-RU" dirty="0"/>
              <a:t>, L1), коммутатор анализирует кадры, изолирует коллизии и направляет трафик адресно</a:t>
            </a:r>
            <a:r>
              <a:rPr lang="ru-RU" dirty="0" smtClean="0"/>
              <a:t>.</a:t>
            </a:r>
            <a:endParaRPr lang="en-US" dirty="0" smtClean="0"/>
          </a:p>
          <a:p>
            <a:r>
              <a:rPr lang="ru-RU" b="1" dirty="0"/>
              <a:t>Домен коллизий (</a:t>
            </a:r>
            <a:r>
              <a:rPr lang="ru-RU" b="1" dirty="0" err="1"/>
              <a:t>Collision</a:t>
            </a:r>
            <a:r>
              <a:rPr lang="ru-RU" b="1" dirty="0"/>
              <a:t> </a:t>
            </a:r>
            <a:r>
              <a:rPr lang="ru-RU" b="1" dirty="0" err="1"/>
              <a:t>Domain</a:t>
            </a:r>
            <a:r>
              <a:rPr lang="ru-RU" b="1" dirty="0"/>
              <a:t>):</a:t>
            </a:r>
            <a:r>
              <a:rPr lang="ru-RU" dirty="0"/>
              <a:t> Логическая или физическая часть сети, где кадры могут сталкиваться при одновременной передаче</a:t>
            </a:r>
            <a:r>
              <a:rPr lang="ru-RU" dirty="0" smtClean="0"/>
              <a:t>.</a:t>
            </a:r>
            <a:endParaRPr lang="en-US" dirty="0" smtClean="0"/>
          </a:p>
          <a:p>
            <a:pPr lvl="1"/>
            <a:r>
              <a:rPr lang="ru-RU" dirty="0"/>
              <a:t>Концентратор (</a:t>
            </a:r>
            <a:r>
              <a:rPr lang="ru-RU" dirty="0" err="1"/>
              <a:t>Hub</a:t>
            </a:r>
            <a:r>
              <a:rPr lang="ru-RU" dirty="0"/>
              <a:t>) объединяет устройства в один домен коллизий.</a:t>
            </a:r>
          </a:p>
          <a:p>
            <a:pPr lvl="1"/>
            <a:r>
              <a:rPr lang="ru-RU" dirty="0"/>
              <a:t>Коммутатор (</a:t>
            </a:r>
            <a:r>
              <a:rPr lang="ru-RU" dirty="0" err="1"/>
              <a:t>Switch</a:t>
            </a:r>
            <a:r>
              <a:rPr lang="ru-RU" dirty="0"/>
              <a:t>) делит сеть на отдельные домены коллизий (каждый порт = отдельный домен).</a:t>
            </a:r>
            <a:endParaRPr lang="en-US" dirty="0" smtClean="0"/>
          </a:p>
          <a:p>
            <a:r>
              <a:rPr lang="ru-RU" b="1" dirty="0"/>
              <a:t>Широковещательный домен (</a:t>
            </a:r>
            <a:r>
              <a:rPr lang="ru-RU" b="1" dirty="0" err="1"/>
              <a:t>Broadcast</a:t>
            </a:r>
            <a:r>
              <a:rPr lang="ru-RU" b="1" dirty="0"/>
              <a:t> </a:t>
            </a:r>
            <a:r>
              <a:rPr lang="ru-RU" b="1" dirty="0" err="1"/>
              <a:t>Domain</a:t>
            </a:r>
            <a:r>
              <a:rPr lang="ru-RU" b="1" dirty="0"/>
              <a:t>):</a:t>
            </a:r>
            <a:r>
              <a:rPr lang="ru-RU" dirty="0"/>
              <a:t> Область сети, в пределах которой широковещательный </a:t>
            </a:r>
            <a:r>
              <a:rPr lang="ru-RU" dirty="0" smtClean="0"/>
              <a:t>кадр</a:t>
            </a:r>
            <a:r>
              <a:rPr lang="en-US" dirty="0" smtClean="0"/>
              <a:t> </a:t>
            </a:r>
            <a:r>
              <a:rPr lang="ru-RU" dirty="0"/>
              <a:t>(</a:t>
            </a:r>
            <a:r>
              <a:rPr lang="ru-RU" dirty="0" err="1"/>
              <a:t>Dst</a:t>
            </a:r>
            <a:r>
              <a:rPr lang="ru-RU" dirty="0"/>
              <a:t> MAC: FF:FF:FF:FF:FF:FF) доставляется всем узлам</a:t>
            </a:r>
            <a:r>
              <a:rPr lang="ru-RU" dirty="0" smtClean="0"/>
              <a:t>.</a:t>
            </a:r>
            <a:endParaRPr lang="en-US" dirty="0" smtClean="0"/>
          </a:p>
          <a:p>
            <a:pPr lvl="1"/>
            <a:r>
              <a:rPr lang="ru-RU" dirty="0"/>
              <a:t>Коммутаторы L2 не разделяют широковещательные домены (пересылают </a:t>
            </a:r>
            <a:r>
              <a:rPr lang="ru-RU" dirty="0" err="1"/>
              <a:t>Broadcast</a:t>
            </a:r>
            <a:r>
              <a:rPr lang="ru-RU" dirty="0"/>
              <a:t> во все порты, кроме порта-источника).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563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Алгоритм работы коммутатора (</a:t>
            </a:r>
            <a:r>
              <a:rPr lang="ru-RU" b="1" dirty="0" err="1"/>
              <a:t>Learning</a:t>
            </a:r>
            <a:r>
              <a:rPr lang="ru-RU" b="1" dirty="0"/>
              <a:t> </a:t>
            </a:r>
            <a:r>
              <a:rPr lang="ru-RU" b="1" dirty="0" err="1"/>
              <a:t>Process</a:t>
            </a:r>
            <a:r>
              <a:rPr lang="ru-RU" b="1" dirty="0" smtClean="0"/>
              <a:t>)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47" y="2705894"/>
            <a:ext cx="4444093" cy="2628900"/>
          </a:xfrm>
          <a:prstGeom prst="rect">
            <a:avLst/>
          </a:prstGeom>
        </p:spPr>
      </p:pic>
      <p:sp>
        <p:nvSpPr>
          <p:cNvPr id="6" name="Объект 5"/>
          <p:cNvSpPr>
            <a:spLocks noGrp="1"/>
          </p:cNvSpPr>
          <p:nvPr>
            <p:ph idx="1"/>
          </p:nvPr>
        </p:nvSpPr>
        <p:spPr>
          <a:xfrm>
            <a:off x="5011615" y="1600200"/>
            <a:ext cx="6840416" cy="4985238"/>
          </a:xfrm>
        </p:spPr>
        <p:txBody>
          <a:bodyPr>
            <a:normAutofit fontScale="85000" lnSpcReduction="10000"/>
          </a:bodyPr>
          <a:lstStyle/>
          <a:p>
            <a:r>
              <a:rPr lang="ru-RU" b="1" dirty="0"/>
              <a:t>Анализ </a:t>
            </a:r>
            <a:r>
              <a:rPr lang="ru-RU" b="1" dirty="0" err="1"/>
              <a:t>Source</a:t>
            </a:r>
            <a:r>
              <a:rPr lang="ru-RU" b="1" dirty="0"/>
              <a:t> MAC:</a:t>
            </a:r>
            <a:r>
              <a:rPr lang="ru-RU" dirty="0"/>
              <a:t> При получении кадра коммутатор считывает адрес источника и сопоставляет его с входящим портом в таблице MAC-адресов (CAM-таблице).</a:t>
            </a:r>
          </a:p>
          <a:p>
            <a:r>
              <a:rPr lang="ru-RU" b="1" dirty="0"/>
              <a:t>Принятие решения по </a:t>
            </a:r>
            <a:r>
              <a:rPr lang="ru-RU" b="1" dirty="0" err="1"/>
              <a:t>Destination</a:t>
            </a:r>
            <a:r>
              <a:rPr lang="ru-RU" b="1" dirty="0"/>
              <a:t> MAC:</a:t>
            </a:r>
            <a:endParaRPr lang="ru-RU" dirty="0"/>
          </a:p>
          <a:p>
            <a:pPr lvl="1"/>
            <a:r>
              <a:rPr lang="ru-RU" i="1" dirty="0"/>
              <a:t>MAC известен и находится на том же порту:</a:t>
            </a:r>
            <a:r>
              <a:rPr lang="ru-RU" dirty="0"/>
              <a:t> кадр фильтруется (сбрасывается).</a:t>
            </a:r>
          </a:p>
          <a:p>
            <a:pPr lvl="1"/>
            <a:r>
              <a:rPr lang="ru-RU" i="1" dirty="0"/>
              <a:t>MAC известен и находится на другом порту:</a:t>
            </a:r>
            <a:r>
              <a:rPr lang="ru-RU" dirty="0"/>
              <a:t> кадр отправляется строго в этот порт (</a:t>
            </a:r>
            <a:r>
              <a:rPr lang="ru-RU" dirty="0" err="1"/>
              <a:t>Forwarding</a:t>
            </a:r>
            <a:r>
              <a:rPr lang="ru-RU" dirty="0"/>
              <a:t>).</a:t>
            </a:r>
          </a:p>
          <a:p>
            <a:pPr lvl="1"/>
            <a:r>
              <a:rPr lang="ru-RU" i="1" dirty="0"/>
              <a:t>MAC неизвестен (</a:t>
            </a:r>
            <a:r>
              <a:rPr lang="ru-RU" i="1" dirty="0" err="1"/>
              <a:t>Unknown</a:t>
            </a:r>
            <a:r>
              <a:rPr lang="ru-RU" i="1" dirty="0"/>
              <a:t> </a:t>
            </a:r>
            <a:r>
              <a:rPr lang="ru-RU" i="1" dirty="0" err="1"/>
              <a:t>Unicast</a:t>
            </a:r>
            <a:r>
              <a:rPr lang="ru-RU" i="1" dirty="0"/>
              <a:t>) или </a:t>
            </a:r>
            <a:r>
              <a:rPr lang="ru-RU" i="1" dirty="0" err="1"/>
              <a:t>Broadcast</a:t>
            </a:r>
            <a:r>
              <a:rPr lang="ru-RU" i="1" dirty="0"/>
              <a:t>:</a:t>
            </a:r>
            <a:r>
              <a:rPr lang="ru-RU" dirty="0"/>
              <a:t> кадр рассылается во все порты, кроме входящего (</a:t>
            </a:r>
            <a:r>
              <a:rPr lang="ru-RU" dirty="0" err="1"/>
              <a:t>Flooding</a:t>
            </a:r>
            <a:r>
              <a:rPr lang="ru-RU" dirty="0"/>
              <a:t>).</a:t>
            </a:r>
          </a:p>
          <a:p>
            <a:r>
              <a:rPr lang="ru-RU" b="1" dirty="0"/>
              <a:t>Старение записей (</a:t>
            </a:r>
            <a:r>
              <a:rPr lang="ru-RU" b="1" dirty="0" err="1"/>
              <a:t>Aging</a:t>
            </a:r>
            <a:r>
              <a:rPr lang="ru-RU" b="1" dirty="0"/>
              <a:t> </a:t>
            </a:r>
            <a:r>
              <a:rPr lang="ru-RU" b="1" dirty="0" err="1"/>
              <a:t>Time</a:t>
            </a:r>
            <a:r>
              <a:rPr lang="ru-RU" b="1" dirty="0"/>
              <a:t>):</a:t>
            </a:r>
            <a:r>
              <a:rPr lang="ru-RU" dirty="0"/>
              <a:t> Каждая запись в таблице снабжена таймером; при отсутствии трафика от узла запись удаляется для корректной обработки миграции устройств.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45425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Домены коллизий и широковещательные </a:t>
            </a:r>
            <a:r>
              <a:rPr lang="ru-RU" b="1" dirty="0" smtClean="0"/>
              <a:t>домены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1412" y="2187644"/>
            <a:ext cx="6732587" cy="4302056"/>
          </a:xfrm>
        </p:spPr>
        <p:txBody>
          <a:bodyPr>
            <a:normAutofit fontScale="92500"/>
          </a:bodyPr>
          <a:lstStyle/>
          <a:p>
            <a:r>
              <a:rPr lang="ru-RU" b="1" dirty="0" err="1"/>
              <a:t>Collision</a:t>
            </a:r>
            <a:r>
              <a:rPr lang="ru-RU" b="1" dirty="0"/>
              <a:t> </a:t>
            </a:r>
            <a:r>
              <a:rPr lang="ru-RU" b="1" dirty="0" err="1"/>
              <a:t>Domain</a:t>
            </a:r>
            <a:r>
              <a:rPr lang="ru-RU" b="1" dirty="0"/>
              <a:t> (Домен коллизий):</a:t>
            </a:r>
            <a:endParaRPr lang="ru-RU" dirty="0"/>
          </a:p>
          <a:p>
            <a:pPr lvl="1"/>
            <a:r>
              <a:rPr lang="ru-RU" dirty="0"/>
              <a:t>Область конкуренции за среду.</a:t>
            </a:r>
          </a:p>
          <a:p>
            <a:pPr lvl="1"/>
            <a:r>
              <a:rPr lang="ru-RU" dirty="0"/>
              <a:t>Коммутатор </a:t>
            </a:r>
            <a:r>
              <a:rPr lang="ru-RU" b="1" dirty="0"/>
              <a:t>делит</a:t>
            </a:r>
            <a:r>
              <a:rPr lang="ru-RU" dirty="0"/>
              <a:t> домены коллизий (1 порт = 1 домен).</a:t>
            </a:r>
          </a:p>
          <a:p>
            <a:r>
              <a:rPr lang="ru-RU" b="1" dirty="0" err="1"/>
              <a:t>Broadcast</a:t>
            </a:r>
            <a:r>
              <a:rPr lang="ru-RU" b="1" dirty="0"/>
              <a:t> </a:t>
            </a:r>
            <a:r>
              <a:rPr lang="ru-RU" b="1" dirty="0" err="1"/>
              <a:t>Domain</a:t>
            </a:r>
            <a:r>
              <a:rPr lang="ru-RU" b="1" dirty="0"/>
              <a:t> (Широковещательный домен):</a:t>
            </a:r>
            <a:endParaRPr lang="ru-RU" dirty="0"/>
          </a:p>
          <a:p>
            <a:pPr lvl="1"/>
            <a:r>
              <a:rPr lang="ru-RU" dirty="0"/>
              <a:t>Область распространения широковещательных кадров (L2 </a:t>
            </a:r>
            <a:r>
              <a:rPr lang="ru-RU" dirty="0" err="1"/>
              <a:t>Broadcast</a:t>
            </a:r>
            <a:r>
              <a:rPr lang="ru-RU" dirty="0"/>
              <a:t>).</a:t>
            </a:r>
          </a:p>
          <a:p>
            <a:pPr lvl="1"/>
            <a:r>
              <a:rPr lang="ru-RU" dirty="0"/>
              <a:t>Коммутаторы L2 </a:t>
            </a:r>
            <a:r>
              <a:rPr lang="ru-RU" b="1" dirty="0"/>
              <a:t>объединяют</a:t>
            </a:r>
            <a:r>
              <a:rPr lang="ru-RU" dirty="0"/>
              <a:t> порты в один широковещательный домен (разделяется только маршрутизаторами / VLAN).</a:t>
            </a:r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5001" y="1456610"/>
            <a:ext cx="3467466" cy="5033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63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Режимы дуплекса: </a:t>
            </a:r>
            <a:r>
              <a:rPr lang="af-ZA" b="1" dirty="0"/>
              <a:t>Half-Duplex vs </a:t>
            </a:r>
            <a:r>
              <a:rPr lang="af-ZA" b="1" dirty="0" smtClean="0"/>
              <a:t>Full-Duplex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af-ZA" b="1" dirty="0"/>
              <a:t>Half-Duplex (</a:t>
            </a:r>
            <a:r>
              <a:rPr lang="ru-RU" b="1" dirty="0"/>
              <a:t>Полудуплекс):</a:t>
            </a:r>
            <a:endParaRPr lang="ru-RU" dirty="0"/>
          </a:p>
          <a:p>
            <a:pPr lvl="1"/>
            <a:r>
              <a:rPr lang="ru-RU" dirty="0"/>
              <a:t>Среда общая (разделяемая).</a:t>
            </a:r>
          </a:p>
          <a:p>
            <a:pPr lvl="1"/>
            <a:r>
              <a:rPr lang="ru-RU" dirty="0"/>
              <a:t>Требуется алгоритм </a:t>
            </a:r>
            <a:r>
              <a:rPr lang="af-ZA" b="1" dirty="0"/>
              <a:t>CSMA/CD</a:t>
            </a:r>
            <a:r>
              <a:rPr lang="af-ZA" dirty="0"/>
              <a:t> (</a:t>
            </a:r>
            <a:r>
              <a:rPr lang="ru-RU" dirty="0"/>
              <a:t>обнаружение коллизий).</a:t>
            </a:r>
          </a:p>
          <a:p>
            <a:r>
              <a:rPr lang="af-ZA" b="1" dirty="0"/>
              <a:t>Full-Duplex (</a:t>
            </a:r>
            <a:r>
              <a:rPr lang="ru-RU" b="1" dirty="0"/>
              <a:t>Полный дуплекс):</a:t>
            </a:r>
            <a:endParaRPr lang="ru-RU" dirty="0"/>
          </a:p>
          <a:p>
            <a:pPr lvl="1"/>
            <a:r>
              <a:rPr lang="ru-RU" dirty="0"/>
              <a:t>Канал «точка — точка» (раздельные линии </a:t>
            </a:r>
            <a:r>
              <a:rPr lang="af-ZA" dirty="0"/>
              <a:t>Rx/Tx).</a:t>
            </a:r>
          </a:p>
          <a:p>
            <a:pPr lvl="1"/>
            <a:r>
              <a:rPr lang="ru-RU" dirty="0"/>
              <a:t>Алгоритм </a:t>
            </a:r>
            <a:r>
              <a:rPr lang="af-ZA" dirty="0"/>
              <a:t>CSMA/CD </a:t>
            </a:r>
            <a:r>
              <a:rPr lang="ru-RU" b="1" dirty="0"/>
              <a:t>отключён</a:t>
            </a:r>
            <a:r>
              <a:rPr lang="ru-RU" dirty="0"/>
              <a:t>.</a:t>
            </a:r>
          </a:p>
          <a:p>
            <a:pPr lvl="1"/>
            <a:r>
              <a:rPr lang="ru-RU" dirty="0"/>
              <a:t>Стандарты от 10 </a:t>
            </a:r>
            <a:r>
              <a:rPr lang="af-ZA" dirty="0"/>
              <a:t>GbE </a:t>
            </a:r>
            <a:r>
              <a:rPr lang="ru-RU" dirty="0"/>
              <a:t>и выше работают </a:t>
            </a:r>
            <a:r>
              <a:rPr lang="ru-RU" b="1" dirty="0"/>
              <a:t>исключительно</a:t>
            </a:r>
            <a:r>
              <a:rPr lang="ru-RU" dirty="0"/>
              <a:t> в </a:t>
            </a:r>
            <a:r>
              <a:rPr lang="af-ZA" dirty="0"/>
              <a:t>Full-Duplex.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35340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Схемы разводки и </a:t>
            </a:r>
            <a:r>
              <a:rPr lang="ru-RU" b="1" dirty="0" err="1"/>
              <a:t>Auto</a:t>
            </a:r>
            <a:r>
              <a:rPr lang="ru-RU" b="1" dirty="0"/>
              <a:t> </a:t>
            </a:r>
            <a:r>
              <a:rPr lang="ru-RU" b="1" dirty="0" smtClean="0"/>
              <a:t>MDI-X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2112" y="1741486"/>
            <a:ext cx="6669087" cy="4684713"/>
          </a:xfrm>
        </p:spPr>
        <p:txBody>
          <a:bodyPr>
            <a:normAutofit fontScale="92500" lnSpcReduction="20000"/>
          </a:bodyPr>
          <a:lstStyle/>
          <a:p>
            <a:r>
              <a:rPr lang="af-ZA" b="1" dirty="0"/>
              <a:t>MDI (Medium Dependent Interface):</a:t>
            </a:r>
            <a:r>
              <a:rPr lang="af-ZA" dirty="0"/>
              <a:t> </a:t>
            </a:r>
            <a:r>
              <a:rPr lang="ru-RU" dirty="0"/>
              <a:t>Сетевые карты (</a:t>
            </a:r>
            <a:r>
              <a:rPr lang="af-ZA" dirty="0"/>
              <a:t>NIC), </a:t>
            </a:r>
            <a:r>
              <a:rPr lang="ru-RU" dirty="0"/>
              <a:t>маршрутизаторы (передача на </a:t>
            </a:r>
            <a:r>
              <a:rPr lang="ru-RU" dirty="0" err="1"/>
              <a:t>пинах</a:t>
            </a:r>
            <a:r>
              <a:rPr lang="ru-RU" dirty="0"/>
              <a:t> 1-2, приём на 3-6).</a:t>
            </a:r>
          </a:p>
          <a:p>
            <a:r>
              <a:rPr lang="af-ZA" b="1" dirty="0"/>
              <a:t>MDI-X (MDI Crossover):</a:t>
            </a:r>
            <a:r>
              <a:rPr lang="af-ZA" dirty="0"/>
              <a:t> </a:t>
            </a:r>
            <a:r>
              <a:rPr lang="ru-RU" dirty="0"/>
              <a:t>Коммутаторы, концентраторы (приём на 1-2, передача на 3-6).</a:t>
            </a:r>
          </a:p>
          <a:p>
            <a:r>
              <a:rPr lang="ru-RU" b="1" dirty="0"/>
              <a:t>Прямой кабель (</a:t>
            </a:r>
            <a:r>
              <a:rPr lang="af-ZA" b="1" dirty="0"/>
              <a:t>Straight-through):</a:t>
            </a:r>
            <a:r>
              <a:rPr lang="af-ZA" dirty="0"/>
              <a:t> MDI </a:t>
            </a:r>
            <a:r>
              <a:rPr lang="af-ZA" dirty="0" smtClean="0"/>
              <a:t>↔</a:t>
            </a:r>
            <a:r>
              <a:rPr lang="af-ZA" dirty="0"/>
              <a:t> MDI-X (</a:t>
            </a:r>
            <a:r>
              <a:rPr lang="ru-RU" dirty="0"/>
              <a:t>ПК ↔↔ </a:t>
            </a:r>
            <a:r>
              <a:rPr lang="af-ZA" dirty="0"/>
              <a:t>Switch).</a:t>
            </a:r>
          </a:p>
          <a:p>
            <a:r>
              <a:rPr lang="ru-RU" b="1" dirty="0"/>
              <a:t>Кроссовый кабель (</a:t>
            </a:r>
            <a:r>
              <a:rPr lang="af-ZA" b="1" dirty="0"/>
              <a:t>Crossover):</a:t>
            </a:r>
            <a:r>
              <a:rPr lang="af-ZA" dirty="0"/>
              <a:t> MDI </a:t>
            </a:r>
            <a:r>
              <a:rPr lang="af-ZA" dirty="0" smtClean="0"/>
              <a:t>↔</a:t>
            </a:r>
            <a:r>
              <a:rPr lang="af-ZA" dirty="0"/>
              <a:t> MDI </a:t>
            </a:r>
            <a:r>
              <a:rPr lang="ru-RU" dirty="0"/>
              <a:t>или </a:t>
            </a:r>
            <a:r>
              <a:rPr lang="af-ZA" dirty="0"/>
              <a:t>MDI-X </a:t>
            </a:r>
            <a:r>
              <a:rPr lang="af-ZA" dirty="0" smtClean="0"/>
              <a:t>↔</a:t>
            </a:r>
            <a:r>
              <a:rPr lang="af-ZA" dirty="0"/>
              <a:t> MDI-X (Switch </a:t>
            </a:r>
            <a:r>
              <a:rPr lang="af-ZA" dirty="0" smtClean="0"/>
              <a:t>↔</a:t>
            </a:r>
            <a:r>
              <a:rPr lang="af-ZA" dirty="0"/>
              <a:t> Switch, </a:t>
            </a:r>
            <a:r>
              <a:rPr lang="ru-RU" dirty="0"/>
              <a:t>ПК </a:t>
            </a:r>
            <a:r>
              <a:rPr lang="ru-RU" dirty="0" smtClean="0"/>
              <a:t>↔</a:t>
            </a:r>
            <a:r>
              <a:rPr lang="ru-RU" dirty="0"/>
              <a:t> ПК).</a:t>
            </a:r>
          </a:p>
          <a:p>
            <a:r>
              <a:rPr lang="af-ZA" b="1" dirty="0"/>
              <a:t>Auto MDI-X:</a:t>
            </a:r>
            <a:r>
              <a:rPr lang="af-ZA" dirty="0"/>
              <a:t> </a:t>
            </a:r>
            <a:r>
              <a:rPr lang="ru-RU" dirty="0"/>
              <a:t>Технология автоматического переключения полярности приёмопередатчика. Стандартизирована в 1000</a:t>
            </a:r>
            <a:r>
              <a:rPr lang="af-ZA" dirty="0"/>
              <a:t>BASE-T.</a:t>
            </a:r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9116" y="2347910"/>
            <a:ext cx="4029946" cy="3471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824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Основные </a:t>
            </a:r>
            <a:r>
              <a:rPr lang="ru-RU" b="1" dirty="0" smtClean="0"/>
              <a:t>стандарты </a:t>
            </a:r>
            <a:r>
              <a:rPr lang="af-ZA" b="1" dirty="0" smtClean="0"/>
              <a:t>Ethernet</a:t>
            </a:r>
            <a:endParaRPr lang="ru-RU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1407098"/>
              </p:ext>
            </p:extLst>
          </p:nvPr>
        </p:nvGraphicFramePr>
        <p:xfrm>
          <a:off x="1141413" y="1752602"/>
          <a:ext cx="9906000" cy="4670865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902484252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816132107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1143664455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745985834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797758726"/>
                    </a:ext>
                  </a:extLst>
                </a:gridCol>
              </a:tblGrid>
              <a:tr h="480300">
                <a:tc>
                  <a:txBody>
                    <a:bodyPr/>
                    <a:lstStyle/>
                    <a:p>
                      <a:pPr algn="l"/>
                      <a:r>
                        <a:rPr lang="ru-RU" sz="1400" b="1" dirty="0">
                          <a:effectLst/>
                        </a:rPr>
                        <a:t>Стандарт</a:t>
                      </a:r>
                    </a:p>
                  </a:txBody>
                  <a:tcPr marL="53990" marR="53990" marT="26995" marB="26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1">
                          <a:effectLst/>
                        </a:rPr>
                        <a:t>Среда / Категория кабеля</a:t>
                      </a:r>
                    </a:p>
                  </a:txBody>
                  <a:tcPr marL="53990" marR="53990" marT="26995" marB="26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1">
                          <a:effectLst/>
                        </a:rPr>
                        <a:t>Частота / Модуляция</a:t>
                      </a:r>
                    </a:p>
                  </a:txBody>
                  <a:tcPr marL="53990" marR="53990" marT="26995" marB="26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1">
                          <a:effectLst/>
                        </a:rPr>
                        <a:t>Макс. дальность</a:t>
                      </a:r>
                    </a:p>
                  </a:txBody>
                  <a:tcPr marL="53990" marR="53990" marT="26995" marB="26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1">
                          <a:effectLst/>
                        </a:rPr>
                        <a:t>Примечание</a:t>
                      </a:r>
                    </a:p>
                  </a:txBody>
                  <a:tcPr marL="53990" marR="53990" marT="26995" marB="26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2213534"/>
                  </a:ext>
                </a:extLst>
              </a:tr>
              <a:tr h="684925">
                <a:tc>
                  <a:txBody>
                    <a:bodyPr/>
                    <a:lstStyle/>
                    <a:p>
                      <a:pPr algn="l"/>
                      <a:r>
                        <a:rPr lang="af-ZA" sz="1400" b="1" dirty="0">
                          <a:effectLst/>
                        </a:rPr>
                        <a:t>10BASE-T</a:t>
                      </a:r>
                    </a:p>
                  </a:txBody>
                  <a:tcPr marL="53990" marR="53990" marT="26995" marB="26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af-ZA" sz="1400" b="1">
                          <a:effectLst/>
                        </a:rPr>
                        <a:t>Cat. 3 UTP (2 </a:t>
                      </a:r>
                      <a:r>
                        <a:rPr lang="ru-RU" sz="1400" b="1">
                          <a:effectLst/>
                        </a:rPr>
                        <a:t>пары)</a:t>
                      </a:r>
                    </a:p>
                  </a:txBody>
                  <a:tcPr marL="53990" marR="53990" marT="26995" marB="26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1">
                          <a:effectLst/>
                        </a:rPr>
                        <a:t>10 МГц, </a:t>
                      </a:r>
                      <a:r>
                        <a:rPr lang="af-ZA" sz="1400" b="1">
                          <a:effectLst/>
                        </a:rPr>
                        <a:t>Manchester</a:t>
                      </a:r>
                    </a:p>
                  </a:txBody>
                  <a:tcPr marL="53990" marR="53990" marT="26995" marB="26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1">
                          <a:effectLst/>
                        </a:rPr>
                        <a:t>100 м</a:t>
                      </a:r>
                    </a:p>
                  </a:txBody>
                  <a:tcPr marL="53990" marR="53990" marT="26995" marB="26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1">
                          <a:effectLst/>
                        </a:rPr>
                        <a:t>Появились импульсы NLP (Link Test)</a:t>
                      </a:r>
                    </a:p>
                  </a:txBody>
                  <a:tcPr marL="53990" marR="53990" marT="26995" marB="26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4188451"/>
                  </a:ext>
                </a:extLst>
              </a:tr>
              <a:tr h="684925">
                <a:tc>
                  <a:txBody>
                    <a:bodyPr/>
                    <a:lstStyle/>
                    <a:p>
                      <a:pPr algn="l"/>
                      <a:r>
                        <a:rPr lang="af-ZA" sz="1400" b="1">
                          <a:effectLst/>
                        </a:rPr>
                        <a:t>100BASE-TX</a:t>
                      </a:r>
                    </a:p>
                  </a:txBody>
                  <a:tcPr marL="53990" marR="53990" marT="26995" marB="26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af-ZA" sz="1400" b="1" dirty="0">
                          <a:effectLst/>
                        </a:rPr>
                        <a:t>Cat. 5/5e UTP (2 </a:t>
                      </a:r>
                      <a:r>
                        <a:rPr lang="ru-RU" sz="1400" b="1" dirty="0">
                          <a:effectLst/>
                        </a:rPr>
                        <a:t>пары)</a:t>
                      </a:r>
                    </a:p>
                  </a:txBody>
                  <a:tcPr marL="53990" marR="53990" marT="26995" marB="26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1" dirty="0">
                          <a:effectLst/>
                        </a:rPr>
                        <a:t>31.25 МГц, 4</a:t>
                      </a:r>
                      <a:r>
                        <a:rPr lang="af-ZA" sz="1400" b="1" dirty="0">
                          <a:effectLst/>
                        </a:rPr>
                        <a:t>B/5B + MLT-3</a:t>
                      </a:r>
                    </a:p>
                  </a:txBody>
                  <a:tcPr marL="53990" marR="53990" marT="26995" marB="26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1">
                          <a:effectLst/>
                        </a:rPr>
                        <a:t>100 м</a:t>
                      </a:r>
                    </a:p>
                  </a:txBody>
                  <a:tcPr marL="53990" marR="53990" marT="26995" marB="26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1">
                          <a:effectLst/>
                        </a:rPr>
                        <a:t>Введено автосогласование (</a:t>
                      </a:r>
                      <a:r>
                        <a:rPr lang="af-ZA" sz="1400" b="1">
                          <a:effectLst/>
                        </a:rPr>
                        <a:t>FLP)</a:t>
                      </a:r>
                    </a:p>
                  </a:txBody>
                  <a:tcPr marL="53990" marR="53990" marT="26995" marB="26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3775680"/>
                  </a:ext>
                </a:extLst>
              </a:tr>
              <a:tr h="684925">
                <a:tc>
                  <a:txBody>
                    <a:bodyPr/>
                    <a:lstStyle/>
                    <a:p>
                      <a:pPr algn="l"/>
                      <a:r>
                        <a:rPr lang="af-ZA" sz="1400" b="1">
                          <a:effectLst/>
                        </a:rPr>
                        <a:t>1000BASE-T</a:t>
                      </a:r>
                    </a:p>
                  </a:txBody>
                  <a:tcPr marL="53990" marR="53990" marT="26995" marB="26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af-ZA" sz="1400" b="1">
                          <a:effectLst/>
                        </a:rPr>
                        <a:t>Cat. 5e/6 UTP (4 </a:t>
                      </a:r>
                      <a:r>
                        <a:rPr lang="ru-RU" sz="1400" b="1">
                          <a:effectLst/>
                        </a:rPr>
                        <a:t>пары)</a:t>
                      </a:r>
                    </a:p>
                  </a:txBody>
                  <a:tcPr marL="53990" marR="53990" marT="26995" marB="26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1" dirty="0">
                          <a:effectLst/>
                        </a:rPr>
                        <a:t>125 МГц (бод), 4</a:t>
                      </a:r>
                      <a:r>
                        <a:rPr lang="af-ZA" sz="1400" b="1" dirty="0">
                          <a:effectLst/>
                        </a:rPr>
                        <a:t>D-PAM5</a:t>
                      </a:r>
                    </a:p>
                  </a:txBody>
                  <a:tcPr marL="53990" marR="53990" marT="26995" marB="26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1">
                          <a:effectLst/>
                        </a:rPr>
                        <a:t>100 м</a:t>
                      </a:r>
                    </a:p>
                  </a:txBody>
                  <a:tcPr marL="53990" marR="53990" marT="26995" marB="26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1">
                          <a:effectLst/>
                        </a:rPr>
                        <a:t>250 Мбит/с на пару, дуплекс по всем 4 парам</a:t>
                      </a:r>
                    </a:p>
                  </a:txBody>
                  <a:tcPr marL="53990" marR="53990" marT="26995" marB="26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2630464"/>
                  </a:ext>
                </a:extLst>
              </a:tr>
              <a:tr h="684925">
                <a:tc>
                  <a:txBody>
                    <a:bodyPr/>
                    <a:lstStyle/>
                    <a:p>
                      <a:pPr algn="l"/>
                      <a:r>
                        <a:rPr lang="af-ZA" sz="1400" b="1">
                          <a:effectLst/>
                        </a:rPr>
                        <a:t>1000BASE-SX</a:t>
                      </a:r>
                    </a:p>
                  </a:txBody>
                  <a:tcPr marL="53990" marR="53990" marT="26995" marB="26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1">
                          <a:effectLst/>
                        </a:rPr>
                        <a:t>Оптика </a:t>
                      </a:r>
                      <a:r>
                        <a:rPr lang="af-ZA" sz="1400" b="1">
                          <a:effectLst/>
                        </a:rPr>
                        <a:t>MMF (850 </a:t>
                      </a:r>
                      <a:r>
                        <a:rPr lang="ru-RU" sz="1400" b="1">
                          <a:effectLst/>
                        </a:rPr>
                        <a:t>нм)</a:t>
                      </a:r>
                    </a:p>
                  </a:txBody>
                  <a:tcPr marL="53990" marR="53990" marT="26995" marB="26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af-ZA" sz="1400" b="1">
                          <a:effectLst/>
                        </a:rPr>
                        <a:t>NRZ</a:t>
                      </a:r>
                    </a:p>
                  </a:txBody>
                  <a:tcPr marL="53990" marR="53990" marT="26995" marB="26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1" dirty="0">
                          <a:effectLst/>
                        </a:rPr>
                        <a:t>220–550 м</a:t>
                      </a:r>
                    </a:p>
                  </a:txBody>
                  <a:tcPr marL="53990" marR="53990" marT="26995" marB="26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1">
                          <a:effectLst/>
                        </a:rPr>
                        <a:t>Коротковолновый лазер, для ЦОД/зданий</a:t>
                      </a:r>
                    </a:p>
                  </a:txBody>
                  <a:tcPr marL="53990" marR="53990" marT="26995" marB="26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8222372"/>
                  </a:ext>
                </a:extLst>
              </a:tr>
              <a:tr h="480300">
                <a:tc>
                  <a:txBody>
                    <a:bodyPr/>
                    <a:lstStyle/>
                    <a:p>
                      <a:pPr algn="l"/>
                      <a:r>
                        <a:rPr lang="af-ZA" sz="1400" b="1">
                          <a:effectLst/>
                        </a:rPr>
                        <a:t>1000BASE-LX</a:t>
                      </a:r>
                    </a:p>
                  </a:txBody>
                  <a:tcPr marL="53990" marR="53990" marT="26995" marB="26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1">
                          <a:effectLst/>
                        </a:rPr>
                        <a:t>Оптика </a:t>
                      </a:r>
                      <a:r>
                        <a:rPr lang="af-ZA" sz="1400" b="1">
                          <a:effectLst/>
                        </a:rPr>
                        <a:t>SMF/MMF (1310 </a:t>
                      </a:r>
                      <a:r>
                        <a:rPr lang="ru-RU" sz="1400" b="1">
                          <a:effectLst/>
                        </a:rPr>
                        <a:t>нм)</a:t>
                      </a:r>
                    </a:p>
                  </a:txBody>
                  <a:tcPr marL="53990" marR="53990" marT="26995" marB="26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af-ZA" sz="1400" b="1">
                          <a:effectLst/>
                        </a:rPr>
                        <a:t>NRZ</a:t>
                      </a:r>
                    </a:p>
                  </a:txBody>
                  <a:tcPr marL="53990" marR="53990" marT="26995" marB="26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1" dirty="0">
                          <a:effectLst/>
                        </a:rPr>
                        <a:t>до 5 км (</a:t>
                      </a:r>
                      <a:r>
                        <a:rPr lang="af-ZA" sz="1400" b="1" dirty="0">
                          <a:effectLst/>
                        </a:rPr>
                        <a:t>SMF)</a:t>
                      </a:r>
                    </a:p>
                  </a:txBody>
                  <a:tcPr marL="53990" marR="53990" marT="26995" marB="26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1" dirty="0">
                          <a:effectLst/>
                        </a:rPr>
                        <a:t>Длинноволновый лазер</a:t>
                      </a:r>
                    </a:p>
                  </a:txBody>
                  <a:tcPr marL="53990" marR="53990" marT="26995" marB="26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7194988"/>
                  </a:ext>
                </a:extLst>
              </a:tr>
              <a:tr h="275675">
                <a:tc>
                  <a:txBody>
                    <a:bodyPr/>
                    <a:lstStyle/>
                    <a:p>
                      <a:pPr algn="l"/>
                      <a:r>
                        <a:rPr lang="af-ZA" sz="1400" b="1">
                          <a:effectLst/>
                        </a:rPr>
                        <a:t>10GBASE-T</a:t>
                      </a:r>
                    </a:p>
                  </a:txBody>
                  <a:tcPr marL="53990" marR="53990" marT="26995" marB="26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af-ZA" sz="1400" b="1">
                          <a:effectLst/>
                        </a:rPr>
                        <a:t>Cat. 6a/7 UTP/STP</a:t>
                      </a:r>
                    </a:p>
                  </a:txBody>
                  <a:tcPr marL="53990" marR="53990" marT="26995" marB="26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af-ZA" sz="1400" b="1">
                          <a:effectLst/>
                        </a:rPr>
                        <a:t>DSQ128 + PAM16</a:t>
                      </a:r>
                    </a:p>
                  </a:txBody>
                  <a:tcPr marL="53990" marR="53990" marT="26995" marB="26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1">
                          <a:effectLst/>
                        </a:rPr>
                        <a:t>100 м</a:t>
                      </a:r>
                    </a:p>
                  </a:txBody>
                  <a:tcPr marL="53990" marR="53990" marT="26995" marB="26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1" dirty="0">
                          <a:effectLst/>
                        </a:rPr>
                        <a:t>Только </a:t>
                      </a:r>
                      <a:r>
                        <a:rPr lang="af-ZA" sz="1400" b="1" dirty="0">
                          <a:effectLst/>
                        </a:rPr>
                        <a:t>Full-Duplex</a:t>
                      </a:r>
                    </a:p>
                  </a:txBody>
                  <a:tcPr marL="53990" marR="53990" marT="26995" marB="26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19219"/>
                  </a:ext>
                </a:extLst>
              </a:tr>
              <a:tr h="684925">
                <a:tc>
                  <a:txBody>
                    <a:bodyPr/>
                    <a:lstStyle/>
                    <a:p>
                      <a:pPr algn="l"/>
                      <a:r>
                        <a:rPr lang="af-ZA" sz="1400" b="1">
                          <a:effectLst/>
                        </a:rPr>
                        <a:t>10GBASE-SR/LR</a:t>
                      </a:r>
                    </a:p>
                  </a:txBody>
                  <a:tcPr marL="53990" marR="53990" marT="26995" marB="26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1">
                          <a:effectLst/>
                        </a:rPr>
                        <a:t>Оптика (</a:t>
                      </a:r>
                      <a:r>
                        <a:rPr lang="af-ZA" sz="1400" b="1">
                          <a:effectLst/>
                        </a:rPr>
                        <a:t>SR - MMF, LR - SMF)</a:t>
                      </a:r>
                    </a:p>
                  </a:txBody>
                  <a:tcPr marL="53990" marR="53990" marT="26995" marB="26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af-ZA" sz="1400" b="1">
                          <a:effectLst/>
                        </a:rPr>
                        <a:t>64B/66B</a:t>
                      </a:r>
                    </a:p>
                  </a:txBody>
                  <a:tcPr marL="53990" marR="53990" marT="26995" marB="26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af-ZA" sz="1400" b="1">
                          <a:effectLst/>
                        </a:rPr>
                        <a:t>SR: 300 </a:t>
                      </a:r>
                      <a:r>
                        <a:rPr lang="ru-RU" sz="1400" b="1">
                          <a:effectLst/>
                        </a:rPr>
                        <a:t>м, </a:t>
                      </a:r>
                      <a:r>
                        <a:rPr lang="af-ZA" sz="1400" b="1">
                          <a:effectLst/>
                        </a:rPr>
                        <a:t>LR: 10 </a:t>
                      </a:r>
                      <a:r>
                        <a:rPr lang="ru-RU" sz="1400" b="1">
                          <a:effectLst/>
                        </a:rPr>
                        <a:t>км</a:t>
                      </a:r>
                    </a:p>
                  </a:txBody>
                  <a:tcPr marL="53990" marR="53990" marT="26995" marB="26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1" dirty="0">
                          <a:effectLst/>
                        </a:rPr>
                        <a:t>Базовые стандарты 10 </a:t>
                      </a:r>
                      <a:r>
                        <a:rPr lang="af-ZA" sz="1400" b="1" dirty="0">
                          <a:effectLst/>
                        </a:rPr>
                        <a:t>GbE</a:t>
                      </a:r>
                    </a:p>
                  </a:txBody>
                  <a:tcPr marL="53990" marR="53990" marT="26995" marB="26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12902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3718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Процедура </a:t>
            </a:r>
            <a:r>
              <a:rPr lang="ru-RU" b="1" dirty="0" err="1"/>
              <a:t>автосогласования</a:t>
            </a:r>
            <a:r>
              <a:rPr lang="ru-RU" b="1" dirty="0"/>
              <a:t> (</a:t>
            </a:r>
            <a:r>
              <a:rPr lang="af-ZA" b="1" dirty="0"/>
              <a:t>Autonegotiation</a:t>
            </a:r>
            <a:r>
              <a:rPr lang="af-ZA" b="1" dirty="0" smtClean="0"/>
              <a:t>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b="1" dirty="0"/>
              <a:t>NLP (</a:t>
            </a:r>
            <a:r>
              <a:rPr lang="ru-RU" b="1" dirty="0" err="1"/>
              <a:t>Normal</a:t>
            </a:r>
            <a:r>
              <a:rPr lang="ru-RU" b="1" dirty="0"/>
              <a:t> </a:t>
            </a:r>
            <a:r>
              <a:rPr lang="ru-RU" b="1" dirty="0" err="1"/>
              <a:t>Link</a:t>
            </a:r>
            <a:r>
              <a:rPr lang="ru-RU" b="1" dirty="0"/>
              <a:t> </a:t>
            </a:r>
            <a:r>
              <a:rPr lang="ru-RU" b="1" dirty="0" err="1"/>
              <a:t>Pulse</a:t>
            </a:r>
            <a:r>
              <a:rPr lang="ru-RU" b="1" dirty="0"/>
              <a:t>): Одиночный импульс (100 </a:t>
            </a:r>
            <a:r>
              <a:rPr lang="ru-RU" b="1" dirty="0" err="1"/>
              <a:t>нс</a:t>
            </a:r>
            <a:r>
              <a:rPr lang="ru-RU" b="1" dirty="0"/>
              <a:t>, период 16 </a:t>
            </a:r>
            <a:r>
              <a:rPr lang="ru-RU" b="1" dirty="0" err="1"/>
              <a:t>мс</a:t>
            </a:r>
            <a:r>
              <a:rPr lang="ru-RU" b="1" dirty="0"/>
              <a:t>) — проверка соединения в 10BASE-T.</a:t>
            </a:r>
          </a:p>
          <a:p>
            <a:r>
              <a:rPr lang="ru-RU" b="1" dirty="0"/>
              <a:t>FLP (</a:t>
            </a:r>
            <a:r>
              <a:rPr lang="ru-RU" b="1" dirty="0" err="1"/>
              <a:t>Fast</a:t>
            </a:r>
            <a:r>
              <a:rPr lang="ru-RU" b="1" dirty="0"/>
              <a:t> </a:t>
            </a:r>
            <a:r>
              <a:rPr lang="ru-RU" b="1" dirty="0" err="1"/>
              <a:t>Link</a:t>
            </a:r>
            <a:r>
              <a:rPr lang="ru-RU" b="1" dirty="0"/>
              <a:t> </a:t>
            </a:r>
            <a:r>
              <a:rPr lang="ru-RU" b="1" dirty="0" err="1"/>
              <a:t>Pulse</a:t>
            </a:r>
            <a:r>
              <a:rPr lang="ru-RU" b="1" dirty="0"/>
              <a:t>): Пачка из 33 импульсов, замещающая NLP.</a:t>
            </a:r>
          </a:p>
          <a:p>
            <a:r>
              <a:rPr lang="ru-RU" b="1" dirty="0"/>
              <a:t>Структура FLP:</a:t>
            </a:r>
          </a:p>
          <a:p>
            <a:pPr lvl="1"/>
            <a:r>
              <a:rPr lang="ru-RU" b="1" dirty="0"/>
              <a:t>17 тактовых импульсов (шаг 125 </a:t>
            </a:r>
            <a:r>
              <a:rPr lang="ru-RU" b="1" dirty="0" err="1"/>
              <a:t>мкс</a:t>
            </a:r>
            <a:r>
              <a:rPr lang="ru-RU" b="1" dirty="0"/>
              <a:t>).</a:t>
            </a:r>
          </a:p>
          <a:p>
            <a:pPr lvl="1"/>
            <a:r>
              <a:rPr lang="ru-RU" b="1" dirty="0"/>
              <a:t>16 позиций для данных (смещение 62.5 </a:t>
            </a:r>
            <a:r>
              <a:rPr lang="ru-RU" b="1" dirty="0" err="1"/>
              <a:t>мкс</a:t>
            </a:r>
            <a:r>
              <a:rPr lang="ru-RU" b="1" dirty="0"/>
              <a:t>): наличие импульса = 1, отсутствие = 0.</a:t>
            </a:r>
          </a:p>
          <a:p>
            <a:r>
              <a:rPr lang="ru-RU" b="1" dirty="0"/>
              <a:t>LCW (</a:t>
            </a:r>
            <a:r>
              <a:rPr lang="ru-RU" b="1" dirty="0" err="1"/>
              <a:t>Link</a:t>
            </a:r>
            <a:r>
              <a:rPr lang="ru-RU" b="1" dirty="0"/>
              <a:t> </a:t>
            </a:r>
            <a:r>
              <a:rPr lang="ru-RU" b="1" dirty="0" err="1"/>
              <a:t>Code</a:t>
            </a:r>
            <a:r>
              <a:rPr lang="ru-RU" b="1" dirty="0"/>
              <a:t> </a:t>
            </a:r>
            <a:r>
              <a:rPr lang="ru-RU" b="1" dirty="0" err="1"/>
              <a:t>Word</a:t>
            </a:r>
            <a:r>
              <a:rPr lang="ru-RU" b="1" dirty="0"/>
              <a:t>): 16-битное слово, содержащее поддерживаемые скорости и режимы дуплекса.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73602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5167" y="952500"/>
            <a:ext cx="9476897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580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1420" y="863600"/>
            <a:ext cx="9364378" cy="523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793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97450" y="914400"/>
            <a:ext cx="9905999" cy="54922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b="1" dirty="0"/>
              <a:t>Контекст:</a:t>
            </a:r>
            <a:r>
              <a:rPr lang="ru-RU" sz="1800" dirty="0"/>
              <a:t> Коммутатор с 4 портами только что включили (таблица MAC-адресов </a:t>
            </a:r>
            <a:r>
              <a:rPr lang="ru-RU" sz="1800" b="1" dirty="0"/>
              <a:t>пуста</a:t>
            </a:r>
            <a:r>
              <a:rPr lang="ru-RU" sz="1800" dirty="0"/>
              <a:t>).</a:t>
            </a:r>
          </a:p>
          <a:p>
            <a:r>
              <a:rPr lang="ru-RU" sz="1800" dirty="0"/>
              <a:t>К порту 1 подключен узел </a:t>
            </a:r>
            <a:r>
              <a:rPr lang="ru-RU" sz="1800" b="1" dirty="0"/>
              <a:t>A</a:t>
            </a:r>
            <a:endParaRPr lang="ru-RU" sz="1800" dirty="0"/>
          </a:p>
          <a:p>
            <a:r>
              <a:rPr lang="ru-RU" sz="1800" dirty="0"/>
              <a:t>К порту 2 подключен узел </a:t>
            </a:r>
            <a:r>
              <a:rPr lang="ru-RU" sz="1800" b="1" dirty="0"/>
              <a:t>B</a:t>
            </a:r>
            <a:endParaRPr lang="ru-RU" sz="1800" dirty="0"/>
          </a:p>
          <a:p>
            <a:r>
              <a:rPr lang="ru-RU" sz="1800" dirty="0"/>
              <a:t>К порту 3 подключен узел </a:t>
            </a:r>
            <a:r>
              <a:rPr lang="ru-RU" sz="1800" b="1" dirty="0"/>
              <a:t>C</a:t>
            </a:r>
            <a:endParaRPr lang="ru-RU" sz="1800" dirty="0"/>
          </a:p>
          <a:p>
            <a:r>
              <a:rPr lang="ru-RU" sz="1800" dirty="0"/>
              <a:t>Порт 4 свободен</a:t>
            </a:r>
            <a:r>
              <a:rPr lang="ru-RU" sz="1800" dirty="0" smtClean="0"/>
              <a:t>.</a:t>
            </a:r>
            <a:endParaRPr lang="en-US" sz="1800" dirty="0" smtClean="0"/>
          </a:p>
          <a:p>
            <a:pPr marL="0" indent="0">
              <a:buNone/>
            </a:pPr>
            <a:r>
              <a:rPr lang="ru-RU" sz="1800" b="1" dirty="0"/>
              <a:t>События:</a:t>
            </a:r>
          </a:p>
          <a:p>
            <a:r>
              <a:rPr lang="ru-RU" sz="1800" dirty="0"/>
              <a:t>Узел A отправляет кадр узлу B.</a:t>
            </a:r>
          </a:p>
          <a:p>
            <a:r>
              <a:rPr lang="ru-RU" sz="1800" dirty="0"/>
              <a:t>Узел B сразу отправляет ответный кадр узлу A</a:t>
            </a:r>
            <a:r>
              <a:rPr lang="ru-RU" sz="1800" dirty="0" smtClean="0"/>
              <a:t>.</a:t>
            </a:r>
            <a:endParaRPr lang="en-US" sz="1800" dirty="0" smtClean="0"/>
          </a:p>
          <a:p>
            <a:pPr marL="0" indent="0">
              <a:buNone/>
            </a:pPr>
            <a:r>
              <a:rPr lang="ru-RU" sz="1800" b="1" dirty="0"/>
              <a:t>Вопросы:</a:t>
            </a:r>
          </a:p>
          <a:p>
            <a:r>
              <a:rPr lang="ru-RU" sz="1800" dirty="0"/>
              <a:t>Куда коммутатор перешлет первый кадр (от A к B) и какую запись сделает в таблице?</a:t>
            </a:r>
          </a:p>
          <a:p>
            <a:r>
              <a:rPr lang="ru-RU" sz="1800" dirty="0"/>
              <a:t>Куда коммутатор перешлет второй кадр (от B к A) и какую запись добавит?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ru-RU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ru-RU" sz="1800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203178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Сопоставьте технологию/стандарт (1–4) с её ключевой особенностью (А–Г):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7115935"/>
              </p:ext>
            </p:extLst>
          </p:nvPr>
        </p:nvGraphicFramePr>
        <p:xfrm>
          <a:off x="1141413" y="2547779"/>
          <a:ext cx="9906000" cy="2945130"/>
        </p:xfrm>
        <a:graphic>
          <a:graphicData uri="http://schemas.openxmlformats.org/drawingml/2006/table">
            <a:tbl>
              <a:tblPr/>
              <a:tblGrid>
                <a:gridCol w="4953000">
                  <a:extLst>
                    <a:ext uri="{9D8B030D-6E8A-4147-A177-3AD203B41FA5}">
                      <a16:colId xmlns:a16="http://schemas.microsoft.com/office/drawing/2014/main" val="2975253219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1796040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effectLst/>
                        </a:rPr>
                        <a:t>Технология / Стандарт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Особенность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3502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af-ZA" b="1" dirty="0">
                          <a:effectLst/>
                        </a:rPr>
                        <a:t>1. 10BASE-T</a:t>
                      </a:r>
                      <a:endParaRPr lang="af-ZA" dirty="0">
                        <a:effectLst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>
                          <a:effectLst/>
                        </a:rPr>
                        <a:t>А.</a:t>
                      </a:r>
                      <a:r>
                        <a:rPr lang="ru-RU">
                          <a:effectLst/>
                        </a:rPr>
                        <a:t> Полный отказ от Half-Duplex и CSMA/CD на уровне стандарта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06967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af-ZA" b="1" dirty="0">
                          <a:effectLst/>
                        </a:rPr>
                        <a:t>2. 1000BASE-T</a:t>
                      </a:r>
                      <a:endParaRPr lang="af-ZA" dirty="0">
                        <a:effectLst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 dirty="0">
                          <a:effectLst/>
                        </a:rPr>
                        <a:t>Б.</a:t>
                      </a:r>
                      <a:r>
                        <a:rPr lang="ru-RU" dirty="0">
                          <a:effectLst/>
                        </a:rPr>
                        <a:t> Оптика на длине волны ~1310 </a:t>
                      </a:r>
                      <a:r>
                        <a:rPr lang="ru-RU" dirty="0" err="1">
                          <a:effectLst/>
                        </a:rPr>
                        <a:t>нм</a:t>
                      </a:r>
                      <a:r>
                        <a:rPr lang="ru-RU" dirty="0">
                          <a:effectLst/>
                        </a:rPr>
                        <a:t>, дальность до 5 км по </a:t>
                      </a:r>
                      <a:r>
                        <a:rPr lang="ru-RU" dirty="0" err="1">
                          <a:effectLst/>
                        </a:rPr>
                        <a:t>одномоду</a:t>
                      </a:r>
                      <a:endParaRPr lang="ru-RU" dirty="0">
                        <a:effectLst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2945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af-ZA" b="1">
                          <a:effectLst/>
                        </a:rPr>
                        <a:t>3. 1000BASE-LX</a:t>
                      </a:r>
                      <a:endParaRPr lang="af-ZA">
                        <a:effectLst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 dirty="0">
                          <a:effectLst/>
                        </a:rPr>
                        <a:t>В.</a:t>
                      </a:r>
                      <a:r>
                        <a:rPr lang="ru-RU" dirty="0">
                          <a:effectLst/>
                        </a:rPr>
                        <a:t> Передача 1 Гбит/с по 4 витым парам (по 250 Мбит/с на пару)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73581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af-ZA" b="1">
                          <a:effectLst/>
                        </a:rPr>
                        <a:t>4. 10GBASE</a:t>
                      </a:r>
                      <a:endParaRPr lang="af-ZA">
                        <a:effectLst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 dirty="0">
                          <a:effectLst/>
                        </a:rPr>
                        <a:t>Г.</a:t>
                      </a:r>
                      <a:r>
                        <a:rPr lang="ru-RU" dirty="0">
                          <a:effectLst/>
                        </a:rPr>
                        <a:t> Первое появление импульсов NLP для проверки линии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06743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9615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Определите, верны ли следующие утверждения (если нет — объясните, в чём ошибка):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b="1" dirty="0"/>
              <a:t>Коммутатор делит сеть на несколько широковещательных доменов (по одному на каждый порт).</a:t>
            </a:r>
            <a:r>
              <a:rPr lang="ru-RU" dirty="0"/>
              <a:t> </a:t>
            </a:r>
            <a:r>
              <a:rPr lang="ru-RU" i="1" dirty="0"/>
              <a:t>(Правда / Ложь)</a:t>
            </a:r>
            <a:endParaRPr lang="ru-RU" dirty="0"/>
          </a:p>
          <a:p>
            <a:r>
              <a:rPr lang="ru-RU" b="1" dirty="0"/>
              <a:t>Чтобы включить </a:t>
            </a:r>
            <a:r>
              <a:rPr lang="ru-RU" b="1" dirty="0" err="1"/>
              <a:t>Full</a:t>
            </a:r>
            <a:r>
              <a:rPr lang="ru-RU" b="1" dirty="0"/>
              <a:t> </a:t>
            </a:r>
            <a:r>
              <a:rPr lang="ru-RU" b="1" dirty="0" err="1"/>
              <a:t>Duplex</a:t>
            </a:r>
            <a:r>
              <a:rPr lang="ru-RU" b="1" dirty="0"/>
              <a:t> на </a:t>
            </a:r>
            <a:r>
              <a:rPr lang="ru-RU" b="1" dirty="0" err="1"/>
              <a:t>линке</a:t>
            </a:r>
            <a:r>
              <a:rPr lang="ru-RU" b="1" dirty="0"/>
              <a:t> «точка-точка», нужно отключить алгоритм CSMA/CD.</a:t>
            </a:r>
            <a:r>
              <a:rPr lang="ru-RU" dirty="0"/>
              <a:t> </a:t>
            </a:r>
            <a:r>
              <a:rPr lang="ru-RU" i="1" dirty="0"/>
              <a:t>(Правда / Ложь)</a:t>
            </a:r>
            <a:endParaRPr lang="ru-RU" dirty="0"/>
          </a:p>
          <a:p>
            <a:r>
              <a:rPr lang="ru-RU" b="1" dirty="0"/>
              <a:t>Для соединения двух коммутаторов без поддержки </a:t>
            </a:r>
            <a:r>
              <a:rPr lang="ru-RU" b="1" dirty="0" err="1"/>
              <a:t>Auto</a:t>
            </a:r>
            <a:r>
              <a:rPr lang="ru-RU" b="1" dirty="0"/>
              <a:t> MDI-X нужен прямой </a:t>
            </a:r>
            <a:r>
              <a:rPr lang="ru-RU" b="1" dirty="0" err="1"/>
              <a:t>патч</a:t>
            </a:r>
            <a:r>
              <a:rPr lang="ru-RU" b="1" dirty="0"/>
              <a:t>-корд.</a:t>
            </a:r>
            <a:r>
              <a:rPr lang="ru-RU" dirty="0"/>
              <a:t> </a:t>
            </a:r>
            <a:r>
              <a:rPr lang="ru-RU" i="1" dirty="0"/>
              <a:t>(Правда / Ложь)</a:t>
            </a:r>
            <a:endParaRPr lang="ru-RU" dirty="0"/>
          </a:p>
          <a:p>
            <a:r>
              <a:rPr lang="ru-RU" b="1" dirty="0"/>
              <a:t>Один пакет FLP (</a:t>
            </a:r>
            <a:r>
              <a:rPr lang="ru-RU" b="1" dirty="0" err="1"/>
              <a:t>Fast</a:t>
            </a:r>
            <a:r>
              <a:rPr lang="ru-RU" b="1" dirty="0"/>
              <a:t> </a:t>
            </a:r>
            <a:r>
              <a:rPr lang="ru-RU" b="1" dirty="0" err="1"/>
              <a:t>Link</a:t>
            </a:r>
            <a:r>
              <a:rPr lang="ru-RU" b="1" dirty="0"/>
              <a:t> </a:t>
            </a:r>
            <a:r>
              <a:rPr lang="ru-RU" b="1" dirty="0" err="1"/>
              <a:t>Pulse</a:t>
            </a:r>
            <a:r>
              <a:rPr lang="ru-RU" b="1" dirty="0"/>
              <a:t>) передает ровно 16 бит информации (</a:t>
            </a:r>
            <a:r>
              <a:rPr lang="ru-RU" b="1" dirty="0" err="1"/>
              <a:t>Link</a:t>
            </a:r>
            <a:r>
              <a:rPr lang="ru-RU" b="1" dirty="0"/>
              <a:t> </a:t>
            </a:r>
            <a:r>
              <a:rPr lang="ru-RU" b="1" dirty="0" err="1"/>
              <a:t>Code</a:t>
            </a:r>
            <a:r>
              <a:rPr lang="ru-RU" b="1" dirty="0"/>
              <a:t> </a:t>
            </a:r>
            <a:r>
              <a:rPr lang="ru-RU" b="1" dirty="0" err="1"/>
              <a:t>Word</a:t>
            </a:r>
            <a:r>
              <a:rPr lang="ru-RU" b="1" dirty="0"/>
              <a:t>).</a:t>
            </a:r>
            <a:r>
              <a:rPr lang="ru-RU" dirty="0"/>
              <a:t> </a:t>
            </a:r>
            <a:r>
              <a:rPr lang="ru-RU" i="1" dirty="0"/>
              <a:t>(Правда / Ложь)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418542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Заполните пропуски нужными словами или числами: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 </a:t>
            </a:r>
            <a:r>
              <a:rPr lang="ru-RU" dirty="0" err="1"/>
              <a:t>автосогласовании</a:t>
            </a:r>
            <a:r>
              <a:rPr lang="ru-RU" dirty="0"/>
              <a:t> серия FLP состоит из </a:t>
            </a:r>
            <a:r>
              <a:rPr lang="ru-RU" b="1" dirty="0"/>
              <a:t>[ ? ]</a:t>
            </a:r>
            <a:r>
              <a:rPr lang="ru-RU" dirty="0"/>
              <a:t> импульсов: нечётные импульсы являются тактовыми, а чётные — </a:t>
            </a:r>
            <a:r>
              <a:rPr lang="ru-RU" b="1" dirty="0"/>
              <a:t>[ ? ]</a:t>
            </a:r>
            <a:r>
              <a:rPr lang="ru-RU" dirty="0"/>
              <a:t>.</a:t>
            </a:r>
          </a:p>
          <a:p>
            <a:r>
              <a:rPr lang="ru-RU" dirty="0"/>
              <a:t>В режиме </a:t>
            </a:r>
            <a:r>
              <a:rPr lang="ru-RU" dirty="0" err="1"/>
              <a:t>Full</a:t>
            </a:r>
            <a:r>
              <a:rPr lang="ru-RU" dirty="0"/>
              <a:t> </a:t>
            </a:r>
            <a:r>
              <a:rPr lang="ru-RU" dirty="0" err="1"/>
              <a:t>Duplex</a:t>
            </a:r>
            <a:r>
              <a:rPr lang="ru-RU" dirty="0"/>
              <a:t> коллизии не возникают на физическом уровне, однако если перевести адаптеры в </a:t>
            </a:r>
            <a:r>
              <a:rPr lang="ru-RU" dirty="0" err="1"/>
              <a:t>Full</a:t>
            </a:r>
            <a:r>
              <a:rPr lang="ru-RU" dirty="0"/>
              <a:t> </a:t>
            </a:r>
            <a:r>
              <a:rPr lang="ru-RU" dirty="0" err="1"/>
              <a:t>Duplex</a:t>
            </a:r>
            <a:r>
              <a:rPr lang="ru-RU" dirty="0"/>
              <a:t> при подключении к </a:t>
            </a:r>
            <a:r>
              <a:rPr lang="ru-RU" b="1" dirty="0"/>
              <a:t>[ ? ]</a:t>
            </a:r>
            <a:r>
              <a:rPr lang="ru-RU" dirty="0"/>
              <a:t>, сеть начнет терять данные из-за неучтённых коллизий.</a:t>
            </a:r>
          </a:p>
          <a:p>
            <a:r>
              <a:rPr lang="ru-RU" dirty="0"/>
              <a:t>Технология, которая автоматически меняет местами </a:t>
            </a:r>
            <a:r>
              <a:rPr lang="ru-RU" dirty="0" err="1"/>
              <a:t>Tx</a:t>
            </a:r>
            <a:r>
              <a:rPr lang="ru-RU" dirty="0"/>
              <a:t> и </a:t>
            </a:r>
            <a:r>
              <a:rPr lang="ru-RU" dirty="0" err="1"/>
              <a:t>Rx</a:t>
            </a:r>
            <a:r>
              <a:rPr lang="ru-RU" dirty="0"/>
              <a:t> при неправильном типе кабеля, называется </a:t>
            </a:r>
            <a:r>
              <a:rPr lang="ru-RU" b="1" dirty="0"/>
              <a:t>[ ? ]</a:t>
            </a:r>
            <a:r>
              <a:rPr lang="ru-RU" dirty="0"/>
              <a:t>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666049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Ответьте на вопросы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963535" y="2249488"/>
            <a:ext cx="3234142" cy="3541712"/>
          </a:xfrm>
          <a:prstGeom prst="rect">
            <a:avLst/>
          </a:prstGeom>
        </p:spPr>
      </p:pic>
      <p:sp>
        <p:nvSpPr>
          <p:cNvPr id="11" name="Объект 10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/>
              <a:t>Сколько </a:t>
            </a:r>
            <a:r>
              <a:rPr lang="ru-RU" b="1" dirty="0"/>
              <a:t>доменов коллизий</a:t>
            </a:r>
            <a:r>
              <a:rPr lang="ru-RU" dirty="0"/>
              <a:t> в этой сети?</a:t>
            </a:r>
          </a:p>
          <a:p>
            <a:r>
              <a:rPr lang="ru-RU" dirty="0"/>
              <a:t>Сколько </a:t>
            </a:r>
            <a:r>
              <a:rPr lang="ru-RU" b="1" dirty="0"/>
              <a:t>широковещательных доменов</a:t>
            </a:r>
            <a:r>
              <a:rPr lang="ru-RU" dirty="0"/>
              <a:t> в этой сети?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812472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Изучите утверждения об импульсах </a:t>
            </a:r>
            <a:r>
              <a:rPr lang="ru-RU" dirty="0" err="1"/>
              <a:t>автосогласования</a:t>
            </a:r>
            <a:r>
              <a:rPr lang="ru-RU" dirty="0"/>
              <a:t> и отметьте </a:t>
            </a:r>
            <a:r>
              <a:rPr lang="ru-RU" b="1" dirty="0"/>
              <a:t>верные</a:t>
            </a:r>
            <a:r>
              <a:rPr lang="ru-RU" dirty="0"/>
              <a:t>: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Серия FLP длится 2 </a:t>
            </a:r>
            <a:r>
              <a:rPr lang="ru-RU" dirty="0" err="1"/>
              <a:t>мс</a:t>
            </a:r>
            <a:r>
              <a:rPr lang="ru-RU" dirty="0"/>
              <a:t> и повторяется каждые 16 </a:t>
            </a:r>
            <a:r>
              <a:rPr lang="ru-RU" dirty="0" err="1"/>
              <a:t>мс</a:t>
            </a:r>
            <a:r>
              <a:rPr lang="ru-RU" dirty="0"/>
              <a:t>.</a:t>
            </a:r>
          </a:p>
          <a:p>
            <a:r>
              <a:rPr lang="ru-RU" dirty="0"/>
              <a:t>В серии FLP передается ровно 33 импульса.</a:t>
            </a:r>
          </a:p>
          <a:p>
            <a:r>
              <a:rPr lang="ru-RU" dirty="0"/>
              <a:t>Нечётные импульсы несут информационные биты (0 или 1), а чётные задают тактовую частоту.</a:t>
            </a:r>
          </a:p>
          <a:p>
            <a:r>
              <a:rPr lang="ru-RU" dirty="0"/>
              <a:t>Полезная нагрузка пакета FLP называется LCW (</a:t>
            </a:r>
            <a:r>
              <a:rPr lang="ru-RU" dirty="0" err="1"/>
              <a:t>Link</a:t>
            </a:r>
            <a:r>
              <a:rPr lang="ru-RU" dirty="0"/>
              <a:t> </a:t>
            </a:r>
            <a:r>
              <a:rPr lang="ru-RU" dirty="0" err="1"/>
              <a:t>Code</a:t>
            </a:r>
            <a:r>
              <a:rPr lang="ru-RU" dirty="0"/>
              <a:t> </a:t>
            </a:r>
            <a:r>
              <a:rPr lang="ru-RU" dirty="0" err="1"/>
              <a:t>Word</a:t>
            </a:r>
            <a:r>
              <a:rPr lang="ru-RU" dirty="0"/>
              <a:t>) и имеет размер 16 бит (2 байта).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0829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Контур">
  <a:themeElements>
    <a:clrScheme name="Контур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Контур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Контур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Контур</Template>
  <TotalTime>25</TotalTime>
  <Words>461</Words>
  <Application>Microsoft Office PowerPoint</Application>
  <PresentationFormat>Широкоэкранный</PresentationFormat>
  <Paragraphs>129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1" baseType="lpstr">
      <vt:lpstr>Arial</vt:lpstr>
      <vt:lpstr>Trebuchet MS</vt:lpstr>
      <vt:lpstr>Tw Cen MT</vt:lpstr>
      <vt:lpstr>Контур</vt:lpstr>
      <vt:lpstr>Коммутируемый Ethernet </vt:lpstr>
      <vt:lpstr>Введение в коммутацию Ethernet</vt:lpstr>
      <vt:lpstr>Презентация PowerPoint</vt:lpstr>
      <vt:lpstr>Алгоритм работы коммутатора (Learning Process)</vt:lpstr>
      <vt:lpstr>Домены коллизий и широковещательные домены</vt:lpstr>
      <vt:lpstr>Режимы дуплекса: Half-Duplex vs Full-Duplex</vt:lpstr>
      <vt:lpstr>Схемы разводки и Auto MDI-X</vt:lpstr>
      <vt:lpstr>Основные стандарты Ethernet</vt:lpstr>
      <vt:lpstr>Процедура автосогласования (Autonegotiation)</vt:lpstr>
      <vt:lpstr>Презентация PowerPoint</vt:lpstr>
      <vt:lpstr>Презентация PowerPoint</vt:lpstr>
      <vt:lpstr>Презентация PowerPoint</vt:lpstr>
      <vt:lpstr>Сопоставьте технологию/стандарт (1–4) с её ключевой особенностью (А–Г):</vt:lpstr>
      <vt:lpstr>Определите, верны ли следующие утверждения (если нет — объясните, в чём ошибка):</vt:lpstr>
      <vt:lpstr>Заполните пропуски нужными словами или числами:</vt:lpstr>
      <vt:lpstr>Ответьте на вопросы</vt:lpstr>
      <vt:lpstr>Изучите утверждения об импульсах автосогласования и отметьте верные: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Коммутируемый Ethernet </dc:title>
  <dc:creator>Тимур А. Нахтигаль</dc:creator>
  <cp:lastModifiedBy>Тимур А. Нахтигаль</cp:lastModifiedBy>
  <cp:revision>12</cp:revision>
  <dcterms:created xsi:type="dcterms:W3CDTF">2026-08-27T12:15:05Z</dcterms:created>
  <dcterms:modified xsi:type="dcterms:W3CDTF">2026-08-31T11:06:28Z</dcterms:modified>
</cp:coreProperties>
</file>